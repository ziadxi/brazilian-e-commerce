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12192000"/>
  <p:embeddedFontLs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07CB38-5233-4F2D-9DB7-004F80A6FE57}">
  <a:tblStyle styleId="{BD07CB38-5233-4F2D-9DB7-004F80A6FE5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We're presenting our TechTrek Data Science project: predicting delivery delays for a Brazilian e-commerce platform. Quick intro of the 5 of us and what we'll cover today.</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problem: late deliveries hurt customer trust and cost logistics teams money and time. Explain that today most delay detection is reactive — you find out after the fact. We wanted to see if we could predict it in advance using data already available before the order ships.</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 the objective plainly: this is a binary classification problem — will this order be late or not. Define the target briefly and connect it back to the business purpose: catching risk early enough to act on it.</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dataset: Brazilian e-commerce (Olist) data covering orders, customers, products, couriers, and delivery outcomes. Mention the final modeling size — about 113K orders — and the 80/20 stratified train/test split, which keeps the same proportion of late orders in both sets.</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8 features used and explain they're all things known before delivery happens — no peeking at the outcome. Point out the two excluded columns and explain briefly why they'd leak the answer if included.</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workflow diagram and narrate it left to right: raw data goes through preprocessing and feature engineering, gets split, feeds into multiple models, gets evaluated, and finally turns into business insights. This is the throughline for the rest of the talk.</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Hand off to preprocessing. Briefly explain the audit (checking missing values and duplicates), cleaning (standardizing names and types), and then the encoding/scaling approach — one-hot for low-cardinality categories, target encoding for high-cardinality ones like area and category, and scaling for numeric features. Mention the stratified split again briefly.</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722a90a76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722a90a76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f722a90a76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722a90a76_7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722a90a76_7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f722a90a76_7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722a90a76_29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722a90a76_29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f722a90a76_29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722a90a76_2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722a90a76_2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f722a90a76_2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722a90a76_29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722a90a76_29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f722a90a76_29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line chart tracks monthly order volume over time, growing steadily and peaking around November 2017. Flag that this growth pattern is part of why order_month later turns out to matter to the model.</a:t>
            </a:r>
            <a:endParaRPr/>
          </a:p>
        </p:txBody>
      </p:sp>
      <p:sp>
        <p:nvSpPr>
          <p:cNvPr id="250" name="Google Shape;2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722a90a76_29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722a90a76_29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f722a90a76_29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722a90a76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722a90a76_6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f722a90a76_6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chart shows total net revenue by age group. The 55+ segment stands out well above the others, while under-18 customers contribute the least. Useful context for who the platform's core customers are.</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heatmap shows correlations between numeric features. Point out that is_late correlates with delivery_delay (expected, since it's derived from it) and negatively with rating, but has almost no correlation with price/revenue fields — which is part of why we relied on operational and categorical features instead.</a:t>
            </a:r>
            <a:endParaRPr/>
          </a:p>
        </p:txBody>
      </p:sp>
      <p:sp>
        <p:nvSpPr>
          <p:cNvPr id="290" name="Google Shape;29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722a90a76_8_33: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f722a90a76_8_33: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303" name="Google Shape;303;g3f722a90a76_8_33: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f722a90a76_8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f722a90a76_8_33: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f722a90a76_8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7 models grouped into a baseline, tree-based, distance/linear, and kernel/neural approaches. Briefly mention how class imbalance was handled differently per model family — balanced class weights for trees, SMOTE for the rest — and that Random Forest was later tuned with RandomizedSearchCV.</a:t>
            </a:r>
            <a:endParaRPr/>
          </a:p>
        </p:txBody>
      </p:sp>
      <p:sp>
        <p:nvSpPr>
          <p:cNvPr id="332" name="Google Shape;3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 the model comparison table from 5-fold cross-validation. Walk through the numbers briefly and explain Random Forest was selected for having the highest ROC-AUC among all seven models, even though a couple of models had higher recall or F1 individually. Note this table reflects the untuned CV comparison used for model selection.</a:t>
            </a:r>
            <a:endParaRPr/>
          </a:p>
        </p:txBody>
      </p:sp>
      <p:sp>
        <p:nvSpPr>
          <p:cNvPr id="363" name="Google Shape;36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Quickly define the 5 metrics used — Accuracy, Precision, Recall, F1, ROC-AUC — in plain language, and explain why accuracy alone is misleading here given how imbalanced the target is.</a:t>
            </a:r>
            <a:endParaRPr/>
          </a:p>
        </p:txBody>
      </p:sp>
      <p:sp>
        <p:nvSpPr>
          <p:cNvPr id="377" name="Google Shape;37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722a90a76_8_11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f722a90a76_8_11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407" name="Google Shape;407;g3f722a90a76_8_11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f722a90a76_8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f722a90a76_8_11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f722a90a76_8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confusion matrix for the final tuned Random Forest on the untouched test set. Walk through True Negatives, False Positives, False Negatives, and True Positives in plain terms, and stress that the 751 False Negatives are the late orders the model still misses — the main area for future improvement.</a:t>
            </a:r>
            <a:endParaRPr/>
          </a:p>
        </p:txBody>
      </p:sp>
      <p:sp>
        <p:nvSpPr>
          <p:cNvPr id="458" name="Google Shape;45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ROC curve and call out the AUC of 0.750, well above the random-classifier baseline. Explain in one sentence what the curve shape says about the model's ability to separate late from on-time orders.</a:t>
            </a:r>
            <a:endParaRPr/>
          </a:p>
        </p:txBody>
      </p:sp>
      <p:sp>
        <p:nvSpPr>
          <p:cNvPr id="487" name="Google Shape;48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top 5 features by importance — expected_days, order_month, area, category, and order_hour dominate, while courier, weather, and season contribute smaller, more even amounts. This sets up the business insights slide.</a:t>
            </a:r>
            <a:endParaRPr/>
          </a:p>
        </p:txBody>
      </p:sp>
      <p:sp>
        <p:nvSpPr>
          <p:cNvPr id="503" name="Google Shape;50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722a90a76_2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g3f722a90a76_27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set of insight-and-recommendation cards: the model flags likely-late orders early; Expected Days is the top predictor at 20.8% importance; Order Month is nearly as important at 20.5%. Each insight is paired with a concrete action the business can take.</a:t>
            </a:r>
            <a:endParaRPr/>
          </a:p>
        </p:txBody>
      </p:sp>
      <p:sp>
        <p:nvSpPr>
          <p:cNvPr id="528" name="Google Shape;528;g3f722a90a76_27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722a90a76_27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f722a90a76_27_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Second set of cards: Area is a strong geographic predictor at 19.1% importance, Weather is included but currently has limited importance so it's worth revisiting with richer data, and the selected Random Forest model reached an ROC-AUC of 0.750 — meaning it reliably ranks late orders above on-time ones. Position it as a decision-support tool, not a fully automated one.</a:t>
            </a:r>
            <a:endParaRPr/>
          </a:p>
        </p:txBody>
      </p:sp>
      <p:sp>
        <p:nvSpPr>
          <p:cNvPr id="569" name="Google Shape;569;g3f722a90a76_27_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f722a90a76_27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f722a90a76_27_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summary: what was built, that 7 models were compared across Accuracy/Precision/Recall/F1/ROC-AUC, that Random Forest was selected as the final model with ROC-AUC 0.750, and the concrete list of project deliverables. Thank the audience and open for questions.</a:t>
            </a:r>
            <a:endParaRPr/>
          </a:p>
        </p:txBody>
      </p:sp>
      <p:sp>
        <p:nvSpPr>
          <p:cNvPr id="610" name="Google Shape;610;g3f722a90a76_27_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722a90a76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f722a90a76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 up: summarize what was built, what it achieved (ROC-AUC 0.750), and why it's useful. End on the takeaway line — prediction here is about surfacing risk early, not achieving perfect accuracy. Thank the audience and open for questions.</a:t>
            </a:r>
            <a:endParaRPr/>
          </a:p>
        </p:txBody>
      </p:sp>
      <p:sp>
        <p:nvSpPr>
          <p:cNvPr id="652" name="Google Shape;652;g3f722a90a76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722a90a76_15_0)">
  <p:cSld name="Generated (g3f722a90a76_15_0)">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A5E"/>
        </a:solidFill>
      </p:bgPr>
    </p:bg>
    <p:spTree>
      <p:nvGrpSpPr>
        <p:cNvPr id="16" name="Shape 16"/>
        <p:cNvGrpSpPr/>
        <p:nvPr/>
      </p:nvGrpSpPr>
      <p:grpSpPr>
        <a:xfrm>
          <a:off x="0" y="0"/>
          <a:ext cx="0" cy="0"/>
          <a:chOff x="0" y="0"/>
          <a:chExt cx="0" cy="0"/>
        </a:xfrm>
      </p:grpSpPr>
      <p:sp>
        <p:nvSpPr>
          <p:cNvPr id="17" name="Google Shape;17;p4"/>
          <p:cNvSpPr/>
          <p:nvPr/>
        </p:nvSpPr>
        <p:spPr>
          <a:xfrm>
            <a:off x="0" y="11317"/>
            <a:ext cx="12189000" cy="6858000"/>
          </a:xfrm>
          <a:prstGeom prst="rect">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9418320" y="-1463040"/>
            <a:ext cx="5029200" cy="5029200"/>
          </a:xfrm>
          <a:prstGeom prst="ellipse">
            <a:avLst/>
          </a:prstGeom>
          <a:solidFill>
            <a:srgbClr val="163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10607040" y="4206240"/>
            <a:ext cx="3291840" cy="3291840"/>
          </a:xfrm>
          <a:prstGeom prst="ellipse">
            <a:avLst/>
          </a:prstGeom>
          <a:solidFill>
            <a:srgbClr val="133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822960" y="141732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8DEF"/>
              </a:buClr>
              <a:buSzPts val="1300"/>
              <a:buFont typeface="Calibri"/>
              <a:buNone/>
            </a:pPr>
            <a:r>
              <a:rPr b="1" i="0" lang="en-US" sz="1300" u="none" cap="none" strike="noStrike">
                <a:solidFill>
                  <a:srgbClr val="5B8DEF"/>
                </a:solidFill>
                <a:latin typeface="Calibri"/>
                <a:ea typeface="Calibri"/>
                <a:cs typeface="Calibri"/>
                <a:sym typeface="Calibri"/>
              </a:rPr>
              <a:t>TECHTREK  ·  DATA SCIENCE &amp; AI  TRACK  TEAM 44</a:t>
            </a:r>
            <a:endParaRPr b="0" i="0" sz="1300" u="none" cap="none" strike="noStrike">
              <a:solidFill>
                <a:schemeClr val="dk1"/>
              </a:solidFill>
              <a:latin typeface="Calibri"/>
              <a:ea typeface="Calibri"/>
              <a:cs typeface="Calibri"/>
              <a:sym typeface="Calibri"/>
            </a:endParaRPr>
          </a:p>
        </p:txBody>
      </p:sp>
      <p:sp>
        <p:nvSpPr>
          <p:cNvPr id="21" name="Google Shape;21;p4"/>
          <p:cNvSpPr/>
          <p:nvPr/>
        </p:nvSpPr>
        <p:spPr>
          <a:xfrm>
            <a:off x="777240" y="1874520"/>
            <a:ext cx="96012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Delivery Delay Prediction</a:t>
            </a:r>
            <a:endParaRPr b="0" i="0" sz="4400" u="none" cap="none" strike="noStrike">
              <a:solidFill>
                <a:schemeClr val="dk1"/>
              </a:solidFill>
              <a:latin typeface="Calibri"/>
              <a:ea typeface="Calibri"/>
              <a:cs typeface="Calibri"/>
              <a:sym typeface="Calibri"/>
            </a:endParaRPr>
          </a:p>
        </p:txBody>
      </p:sp>
      <p:sp>
        <p:nvSpPr>
          <p:cNvPr id="22" name="Google Shape;22;p4"/>
          <p:cNvSpPr/>
          <p:nvPr/>
        </p:nvSpPr>
        <p:spPr>
          <a:xfrm>
            <a:off x="822960" y="2880360"/>
            <a:ext cx="8686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9F6"/>
              </a:buClr>
              <a:buSzPts val="1600"/>
              <a:buFont typeface="Calibri"/>
              <a:buNone/>
            </a:pPr>
            <a:r>
              <a:rPr b="0" i="1" lang="en-US" sz="1600" u="none" cap="none" strike="noStrike">
                <a:solidFill>
                  <a:srgbClr val="C9D9F6"/>
                </a:solidFill>
                <a:latin typeface="Calibri"/>
                <a:ea typeface="Calibri"/>
                <a:cs typeface="Calibri"/>
                <a:sym typeface="Calibri"/>
              </a:rPr>
              <a:t>A Machine Learning approach to flagging late deliveries before they happen</a:t>
            </a:r>
            <a:endParaRPr b="0" i="0" sz="1600" u="none" cap="none" strike="noStrike">
              <a:solidFill>
                <a:schemeClr val="dk1"/>
              </a:solidFill>
              <a:latin typeface="Calibri"/>
              <a:ea typeface="Calibri"/>
              <a:cs typeface="Calibri"/>
              <a:sym typeface="Calibri"/>
            </a:endParaRPr>
          </a:p>
        </p:txBody>
      </p:sp>
      <p:cxnSp>
        <p:nvCxnSpPr>
          <p:cNvPr id="23" name="Google Shape;23;p4"/>
          <p:cNvCxnSpPr/>
          <p:nvPr/>
        </p:nvCxnSpPr>
        <p:spPr>
          <a:xfrm>
            <a:off x="822960" y="3703320"/>
            <a:ext cx="3840480" cy="0"/>
          </a:xfrm>
          <a:prstGeom prst="straightConnector1">
            <a:avLst/>
          </a:prstGeom>
          <a:noFill/>
          <a:ln cap="flat" cmpd="sng" w="19050">
            <a:solidFill>
              <a:srgbClr val="5B8DEF"/>
            </a:solidFill>
            <a:prstDash val="solid"/>
            <a:round/>
            <a:headEnd len="sm" w="sm" type="none"/>
            <a:tailEnd len="sm" w="sm" type="none"/>
          </a:ln>
        </p:spPr>
      </p:cxnSp>
      <p:sp>
        <p:nvSpPr>
          <p:cNvPr id="24" name="Google Shape;24;p4"/>
          <p:cNvSpPr/>
          <p:nvPr/>
        </p:nvSpPr>
        <p:spPr>
          <a:xfrm>
            <a:off x="822960" y="4023360"/>
            <a:ext cx="502920" cy="50292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822960" y="4023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6" name="Google Shape;26;p4"/>
          <p:cNvSpPr/>
          <p:nvPr/>
        </p:nvSpPr>
        <p:spPr>
          <a:xfrm>
            <a:off x="502920" y="4572000"/>
            <a:ext cx="1737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CE7FB"/>
              </a:buClr>
              <a:buSzPts val="1050"/>
              <a:buFont typeface="Calibri"/>
              <a:buNone/>
            </a:pPr>
            <a:r>
              <a:rPr lang="en-US" sz="1050">
                <a:solidFill>
                  <a:srgbClr val="DCE7FB"/>
                </a:solidFill>
                <a:latin typeface="Calibri"/>
                <a:ea typeface="Calibri"/>
                <a:cs typeface="Calibri"/>
                <a:sym typeface="Calibri"/>
              </a:rPr>
              <a:t>                Ziad Adel</a:t>
            </a:r>
            <a:endParaRPr sz="1050">
              <a:solidFill>
                <a:srgbClr val="DCE7FB"/>
              </a:solidFill>
              <a:latin typeface="Calibri"/>
              <a:ea typeface="Calibri"/>
              <a:cs typeface="Calibri"/>
              <a:sym typeface="Calibri"/>
            </a:endParaRPr>
          </a:p>
        </p:txBody>
      </p:sp>
      <p:sp>
        <p:nvSpPr>
          <p:cNvPr id="27" name="Google Shape;27;p4"/>
          <p:cNvSpPr/>
          <p:nvPr/>
        </p:nvSpPr>
        <p:spPr>
          <a:xfrm>
            <a:off x="2971800" y="4023360"/>
            <a:ext cx="502920" cy="50292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2971800" y="4023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9" name="Google Shape;29;p4"/>
          <p:cNvSpPr/>
          <p:nvPr/>
        </p:nvSpPr>
        <p:spPr>
          <a:xfrm>
            <a:off x="2971800" y="4480500"/>
            <a:ext cx="1458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CE7FB"/>
              </a:buClr>
              <a:buSzPts val="1050"/>
              <a:buFont typeface="Calibri"/>
              <a:buNone/>
            </a:pPr>
            <a:r>
              <a:rPr b="0" i="0" lang="en-US" sz="1050" u="none" cap="none" strike="noStrike">
                <a:solidFill>
                  <a:srgbClr val="DCE7FB"/>
                </a:solidFill>
                <a:latin typeface="Calibri"/>
                <a:ea typeface="Calibri"/>
                <a:cs typeface="Calibri"/>
                <a:sym typeface="Calibri"/>
              </a:rPr>
              <a:t> </a:t>
            </a:r>
            <a:r>
              <a:rPr lang="en-US" sz="1050">
                <a:solidFill>
                  <a:srgbClr val="DCE7FB"/>
                </a:solidFill>
                <a:latin typeface="Calibri"/>
                <a:ea typeface="Calibri"/>
                <a:cs typeface="Calibri"/>
                <a:sym typeface="Calibri"/>
              </a:rPr>
              <a:t>Rana  Mohammed</a:t>
            </a:r>
            <a:endParaRPr b="0" i="0" sz="1050" u="none" cap="none" strike="noStrike">
              <a:solidFill>
                <a:schemeClr val="dk1"/>
              </a:solidFill>
              <a:latin typeface="Calibri"/>
              <a:ea typeface="Calibri"/>
              <a:cs typeface="Calibri"/>
              <a:sym typeface="Calibri"/>
            </a:endParaRPr>
          </a:p>
        </p:txBody>
      </p:sp>
      <p:sp>
        <p:nvSpPr>
          <p:cNvPr id="30" name="Google Shape;30;p4"/>
          <p:cNvSpPr/>
          <p:nvPr/>
        </p:nvSpPr>
        <p:spPr>
          <a:xfrm>
            <a:off x="5120640" y="4023360"/>
            <a:ext cx="502920" cy="50292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5120640" y="4023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32" name="Google Shape;32;p4"/>
          <p:cNvSpPr/>
          <p:nvPr/>
        </p:nvSpPr>
        <p:spPr>
          <a:xfrm>
            <a:off x="4800600" y="4572000"/>
            <a:ext cx="1737300" cy="274200"/>
          </a:xfrm>
          <a:prstGeom prst="rect">
            <a:avLst/>
          </a:prstGeom>
          <a:noFill/>
          <a:ln>
            <a:noFill/>
          </a:ln>
        </p:spPr>
        <p:txBody>
          <a:bodyPr anchorCtr="0" anchor="ctr" bIns="45700" lIns="91425" spcFirstLastPara="1" rIns="91425" wrap="square" tIns="45700">
            <a:noAutofit/>
          </a:bodyPr>
          <a:lstStyle/>
          <a:p>
            <a:pPr indent="0" lvl="0" marL="457200" marR="0" rtl="0" algn="l">
              <a:spcBef>
                <a:spcPts val="0"/>
              </a:spcBef>
              <a:spcAft>
                <a:spcPts val="0"/>
              </a:spcAft>
              <a:buClr>
                <a:srgbClr val="DCE7FB"/>
              </a:buClr>
              <a:buSzPts val="1050"/>
              <a:buFont typeface="Calibri"/>
              <a:buNone/>
            </a:pPr>
            <a:r>
              <a:rPr lang="en-US" sz="1050">
                <a:solidFill>
                  <a:srgbClr val="DCE7FB"/>
                </a:solidFill>
                <a:latin typeface="Calibri"/>
                <a:ea typeface="Calibri"/>
                <a:cs typeface="Calibri"/>
                <a:sym typeface="Calibri"/>
              </a:rPr>
              <a:t>Reem Naji</a:t>
            </a:r>
            <a:endParaRPr b="0" i="0" sz="1050" u="none" cap="none" strike="noStrike">
              <a:solidFill>
                <a:schemeClr val="dk1"/>
              </a:solidFill>
              <a:latin typeface="Calibri"/>
              <a:ea typeface="Calibri"/>
              <a:cs typeface="Calibri"/>
              <a:sym typeface="Calibri"/>
            </a:endParaRPr>
          </a:p>
        </p:txBody>
      </p:sp>
      <p:sp>
        <p:nvSpPr>
          <p:cNvPr id="33" name="Google Shape;33;p4"/>
          <p:cNvSpPr/>
          <p:nvPr/>
        </p:nvSpPr>
        <p:spPr>
          <a:xfrm>
            <a:off x="7269480" y="4023360"/>
            <a:ext cx="502920" cy="50292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7269480" y="4023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35" name="Google Shape;35;p4"/>
          <p:cNvSpPr/>
          <p:nvPr/>
        </p:nvSpPr>
        <p:spPr>
          <a:xfrm>
            <a:off x="6949440" y="4572000"/>
            <a:ext cx="17373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E7FB"/>
              </a:buClr>
              <a:buSzPts val="1050"/>
              <a:buFont typeface="Calibri"/>
              <a:buNone/>
            </a:pPr>
            <a:r>
              <a:rPr lang="en-US" sz="1050">
                <a:solidFill>
                  <a:srgbClr val="DCE7FB"/>
                </a:solidFill>
                <a:latin typeface="Calibri"/>
                <a:ea typeface="Calibri"/>
                <a:cs typeface="Calibri"/>
                <a:sym typeface="Calibri"/>
              </a:rPr>
              <a:t>Rowan Ali</a:t>
            </a:r>
            <a:endParaRPr b="0" i="0" sz="1050" u="none" cap="none" strike="noStrike">
              <a:solidFill>
                <a:schemeClr val="dk1"/>
              </a:solidFill>
              <a:latin typeface="Calibri"/>
              <a:ea typeface="Calibri"/>
              <a:cs typeface="Calibri"/>
              <a:sym typeface="Calibri"/>
            </a:endParaRPr>
          </a:p>
        </p:txBody>
      </p:sp>
      <p:sp>
        <p:nvSpPr>
          <p:cNvPr id="36" name="Google Shape;36;p4"/>
          <p:cNvSpPr/>
          <p:nvPr/>
        </p:nvSpPr>
        <p:spPr>
          <a:xfrm>
            <a:off x="9418320" y="4023360"/>
            <a:ext cx="502920" cy="50292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9418320" y="4023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38" name="Google Shape;38;p4"/>
          <p:cNvSpPr/>
          <p:nvPr/>
        </p:nvSpPr>
        <p:spPr>
          <a:xfrm>
            <a:off x="9098275" y="4571999"/>
            <a:ext cx="1737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E7FB"/>
              </a:buClr>
              <a:buSzPts val="1050"/>
              <a:buFont typeface="Calibri"/>
              <a:buNone/>
            </a:pPr>
            <a:r>
              <a:rPr lang="en-US" sz="1050">
                <a:solidFill>
                  <a:srgbClr val="DCE7FB"/>
                </a:solidFill>
                <a:latin typeface="Calibri"/>
                <a:ea typeface="Calibri"/>
                <a:cs typeface="Calibri"/>
                <a:sym typeface="Calibri"/>
              </a:rPr>
              <a:t>Rawan Alsir</a:t>
            </a:r>
            <a:endParaRPr sz="1050">
              <a:solidFill>
                <a:srgbClr val="DCE7FB"/>
              </a:solidFill>
              <a:latin typeface="Calibri"/>
              <a:ea typeface="Calibri"/>
              <a:cs typeface="Calibri"/>
              <a:sym typeface="Calibri"/>
            </a:endParaRPr>
          </a:p>
          <a:p>
            <a:pPr indent="0" lvl="0" marL="0" marR="0" rtl="0" algn="ctr">
              <a:spcBef>
                <a:spcPts val="0"/>
              </a:spcBef>
              <a:spcAft>
                <a:spcPts val="0"/>
              </a:spcAft>
              <a:buClr>
                <a:srgbClr val="DCE7FB"/>
              </a:buClr>
              <a:buSzPts val="1050"/>
              <a:buFont typeface="Calibri"/>
              <a:buNone/>
            </a:pPr>
            <a:r>
              <a:t/>
            </a:r>
            <a:endParaRPr sz="1050">
              <a:solidFill>
                <a:srgbClr val="DCE7FB"/>
              </a:solidFill>
              <a:latin typeface="Calibri"/>
              <a:ea typeface="Calibri"/>
              <a:cs typeface="Calibri"/>
              <a:sym typeface="Calibri"/>
            </a:endParaRPr>
          </a:p>
        </p:txBody>
      </p:sp>
      <p:sp>
        <p:nvSpPr>
          <p:cNvPr id="39" name="Google Shape;39;p4"/>
          <p:cNvSpPr/>
          <p:nvPr/>
        </p:nvSpPr>
        <p:spPr>
          <a:xfrm>
            <a:off x="777260" y="5926420"/>
            <a:ext cx="7315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B6E8"/>
              </a:buClr>
              <a:buSzPts val="1150"/>
              <a:buFont typeface="Calibri"/>
              <a:buNone/>
            </a:pPr>
            <a:r>
              <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5"/>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1</a:t>
            </a:r>
            <a:endParaRPr b="0" i="0" sz="1000" u="none" cap="none" strike="noStrike">
              <a:solidFill>
                <a:schemeClr val="dk1"/>
              </a:solidFill>
              <a:latin typeface="Calibri"/>
              <a:ea typeface="Calibri"/>
              <a:cs typeface="Calibri"/>
              <a:sym typeface="Calibri"/>
            </a:endParaRPr>
          </a:p>
        </p:txBody>
      </p:sp>
      <p:sp>
        <p:nvSpPr>
          <p:cNvPr id="47" name="Google Shape;47;p5"/>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THE CHALLENGE</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Problem &amp; Motivation</a:t>
            </a:r>
            <a:endParaRPr b="0" i="0" sz="3000" u="none" cap="none" strike="noStrike">
              <a:solidFill>
                <a:schemeClr val="dk1"/>
              </a:solidFill>
              <a:latin typeface="Calibri"/>
              <a:ea typeface="Calibri"/>
              <a:cs typeface="Calibri"/>
              <a:sym typeface="Calibri"/>
            </a:endParaRPr>
          </a:p>
        </p:txBody>
      </p:sp>
      <p:sp>
        <p:nvSpPr>
          <p:cNvPr id="49" name="Google Shape;49;p5"/>
          <p:cNvSpPr/>
          <p:nvPr/>
        </p:nvSpPr>
        <p:spPr>
          <a:xfrm>
            <a:off x="502920" y="1828800"/>
            <a:ext cx="6035040" cy="38404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E-commerce customers expect reliable delivery windows — late orders erode trust and drive complaints.</a:t>
            </a:r>
            <a:endParaRPr b="0" i="0" sz="150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Logistics teams typically find out about a delay only after it happens, when it's too late to act.</a:t>
            </a:r>
            <a:endParaRPr b="0" i="0" sz="150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Predicting delay risk in advance lets a business intervene early: re-route, re-communicate, or reprioritize.</a:t>
            </a:r>
            <a:endParaRPr b="0" i="0" sz="1500" u="none" cap="none" strike="noStrike">
              <a:solidFill>
                <a:schemeClr val="dk1"/>
              </a:solidFill>
              <a:latin typeface="Calibri"/>
              <a:ea typeface="Calibri"/>
              <a:cs typeface="Calibri"/>
              <a:sym typeface="Calibri"/>
            </a:endParaRPr>
          </a:p>
        </p:txBody>
      </p:sp>
      <p:sp>
        <p:nvSpPr>
          <p:cNvPr id="50" name="Google Shape;50;p5"/>
          <p:cNvSpPr/>
          <p:nvPr/>
        </p:nvSpPr>
        <p:spPr>
          <a:xfrm>
            <a:off x="6858000" y="1783080"/>
            <a:ext cx="4846320" cy="4023360"/>
          </a:xfrm>
          <a:prstGeom prst="roundRect">
            <a:avLst>
              <a:gd fmla="val 227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7178040" y="2011680"/>
            <a:ext cx="4206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600"/>
              <a:buFont typeface="Cambria"/>
              <a:buNone/>
            </a:pPr>
            <a:r>
              <a:rPr b="1" i="0" lang="en-US" sz="1600" u="none" cap="none" strike="noStrike">
                <a:solidFill>
                  <a:srgbClr val="0F2A5E"/>
                </a:solidFill>
                <a:latin typeface="Cambria"/>
                <a:ea typeface="Cambria"/>
                <a:cs typeface="Cambria"/>
                <a:sym typeface="Cambria"/>
              </a:rPr>
              <a:t>Why it matters</a:t>
            </a:r>
            <a:endParaRPr b="0" i="0" sz="1600" u="none" cap="none" strike="noStrike">
              <a:solidFill>
                <a:schemeClr val="dk1"/>
              </a:solidFill>
              <a:latin typeface="Calibri"/>
              <a:ea typeface="Calibri"/>
              <a:cs typeface="Calibri"/>
              <a:sym typeface="Calibri"/>
            </a:endParaRPr>
          </a:p>
        </p:txBody>
      </p:sp>
      <p:sp>
        <p:nvSpPr>
          <p:cNvPr id="52" name="Google Shape;52;p5"/>
          <p:cNvSpPr/>
          <p:nvPr/>
        </p:nvSpPr>
        <p:spPr>
          <a:xfrm>
            <a:off x="7178040" y="2514600"/>
            <a:ext cx="365760" cy="36576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7178040" y="251460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4" name="Google Shape;54;p5"/>
          <p:cNvSpPr/>
          <p:nvPr/>
        </p:nvSpPr>
        <p:spPr>
          <a:xfrm>
            <a:off x="7680960" y="2532888"/>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0" i="0" lang="en-US" sz="1400" u="none" cap="none" strike="noStrike">
                <a:solidFill>
                  <a:srgbClr val="1B2430"/>
                </a:solidFill>
                <a:latin typeface="Calibri"/>
                <a:ea typeface="Calibri"/>
                <a:cs typeface="Calibri"/>
                <a:sym typeface="Calibri"/>
              </a:rPr>
              <a:t>Customer satisfaction</a:t>
            </a:r>
            <a:endParaRPr b="0" i="0" sz="1400" u="none" cap="none" strike="noStrike">
              <a:solidFill>
                <a:schemeClr val="dk1"/>
              </a:solidFill>
              <a:latin typeface="Calibri"/>
              <a:ea typeface="Calibri"/>
              <a:cs typeface="Calibri"/>
              <a:sym typeface="Calibri"/>
            </a:endParaRPr>
          </a:p>
        </p:txBody>
      </p:sp>
      <p:sp>
        <p:nvSpPr>
          <p:cNvPr id="55" name="Google Shape;55;p5"/>
          <p:cNvSpPr/>
          <p:nvPr/>
        </p:nvSpPr>
        <p:spPr>
          <a:xfrm>
            <a:off x="7178040" y="3291840"/>
            <a:ext cx="365760" cy="36576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7178040" y="32918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7" name="Google Shape;57;p5"/>
          <p:cNvSpPr/>
          <p:nvPr/>
        </p:nvSpPr>
        <p:spPr>
          <a:xfrm>
            <a:off x="7680960" y="3310128"/>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0" i="0" lang="en-US" sz="1400" u="none" cap="none" strike="noStrike">
                <a:solidFill>
                  <a:srgbClr val="1B2430"/>
                </a:solidFill>
                <a:latin typeface="Calibri"/>
                <a:ea typeface="Calibri"/>
                <a:cs typeface="Calibri"/>
                <a:sym typeface="Calibri"/>
              </a:rPr>
              <a:t>Operational efficiency</a:t>
            </a:r>
            <a:endParaRPr b="0" i="0" sz="1400" u="none" cap="none" strike="noStrike">
              <a:solidFill>
                <a:schemeClr val="dk1"/>
              </a:solidFill>
              <a:latin typeface="Calibri"/>
              <a:ea typeface="Calibri"/>
              <a:cs typeface="Calibri"/>
              <a:sym typeface="Calibri"/>
            </a:endParaRPr>
          </a:p>
        </p:txBody>
      </p:sp>
      <p:sp>
        <p:nvSpPr>
          <p:cNvPr id="58" name="Google Shape;58;p5"/>
          <p:cNvSpPr/>
          <p:nvPr/>
        </p:nvSpPr>
        <p:spPr>
          <a:xfrm>
            <a:off x="7178040" y="4069080"/>
            <a:ext cx="365760" cy="36576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7178040" y="406908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7680960" y="4087368"/>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0" i="0" lang="en-US" sz="1400" u="none" cap="none" strike="noStrike">
                <a:solidFill>
                  <a:srgbClr val="1B2430"/>
                </a:solidFill>
                <a:latin typeface="Calibri"/>
                <a:ea typeface="Calibri"/>
                <a:cs typeface="Calibri"/>
                <a:sym typeface="Calibri"/>
              </a:rPr>
              <a:t>Courier performance visibility</a:t>
            </a:r>
            <a:endParaRPr b="0" i="0" sz="1400" u="none" cap="none" strike="noStrike">
              <a:solidFill>
                <a:schemeClr val="dk1"/>
              </a:solidFill>
              <a:latin typeface="Calibri"/>
              <a:ea typeface="Calibri"/>
              <a:cs typeface="Calibri"/>
              <a:sym typeface="Calibri"/>
            </a:endParaRPr>
          </a:p>
        </p:txBody>
      </p:sp>
      <p:sp>
        <p:nvSpPr>
          <p:cNvPr id="61" name="Google Shape;61;p5"/>
          <p:cNvSpPr/>
          <p:nvPr/>
        </p:nvSpPr>
        <p:spPr>
          <a:xfrm>
            <a:off x="7178040" y="4846320"/>
            <a:ext cx="365760" cy="36576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7178040" y="4846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63" name="Google Shape;63;p5"/>
          <p:cNvSpPr/>
          <p:nvPr/>
        </p:nvSpPr>
        <p:spPr>
          <a:xfrm>
            <a:off x="7680960" y="4864608"/>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400"/>
              <a:buFont typeface="Calibri"/>
              <a:buNone/>
            </a:pPr>
            <a:r>
              <a:rPr b="0" i="0" lang="en-US" sz="1400" u="none" cap="none" strike="noStrike">
                <a:solidFill>
                  <a:srgbClr val="1B2430"/>
                </a:solidFill>
                <a:latin typeface="Calibri"/>
                <a:ea typeface="Calibri"/>
                <a:cs typeface="Calibri"/>
                <a:sym typeface="Calibri"/>
              </a:rPr>
              <a:t>Data-driven planning</a:t>
            </a:r>
            <a:endParaRPr b="0" i="0" sz="1400" u="none" cap="none" strike="noStrike">
              <a:solidFill>
                <a:schemeClr val="dk1"/>
              </a:solidFill>
              <a:latin typeface="Calibri"/>
              <a:ea typeface="Calibri"/>
              <a:cs typeface="Calibri"/>
              <a:sym typeface="Calibri"/>
            </a:endParaRPr>
          </a:p>
        </p:txBody>
      </p:sp>
      <p:sp>
        <p:nvSpPr>
          <p:cNvPr id="64" name="Google Shape;64;p5"/>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Problem &amp; Motivation</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6"/>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1</a:t>
            </a:r>
            <a:endParaRPr b="0" i="0" sz="1000" u="none" cap="none" strike="noStrike">
              <a:solidFill>
                <a:schemeClr val="dk1"/>
              </a:solidFill>
              <a:latin typeface="Calibri"/>
              <a:ea typeface="Calibri"/>
              <a:cs typeface="Calibri"/>
              <a:sym typeface="Calibri"/>
            </a:endParaRPr>
          </a:p>
        </p:txBody>
      </p:sp>
      <p:sp>
        <p:nvSpPr>
          <p:cNvPr id="73" name="Google Shape;73;p6"/>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GOAL</a:t>
            </a:r>
            <a:endParaRPr b="0" i="0" sz="1200" u="none" cap="none" strike="noStrike">
              <a:solidFill>
                <a:schemeClr val="dk1"/>
              </a:solidFill>
              <a:latin typeface="Calibri"/>
              <a:ea typeface="Calibri"/>
              <a:cs typeface="Calibri"/>
              <a:sym typeface="Calibri"/>
            </a:endParaRPr>
          </a:p>
        </p:txBody>
      </p:sp>
      <p:sp>
        <p:nvSpPr>
          <p:cNvPr id="74" name="Google Shape;74;p6"/>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Project Objective</a:t>
            </a:r>
            <a:endParaRPr b="0" i="0" sz="3000" u="none" cap="none" strike="noStrike">
              <a:solidFill>
                <a:schemeClr val="dk1"/>
              </a:solidFill>
              <a:latin typeface="Calibri"/>
              <a:ea typeface="Calibri"/>
              <a:cs typeface="Calibri"/>
              <a:sym typeface="Calibri"/>
            </a:endParaRPr>
          </a:p>
        </p:txBody>
      </p:sp>
      <p:sp>
        <p:nvSpPr>
          <p:cNvPr id="75" name="Google Shape;75;p6"/>
          <p:cNvSpPr/>
          <p:nvPr/>
        </p:nvSpPr>
        <p:spPr>
          <a:xfrm>
            <a:off x="502920" y="1920240"/>
            <a:ext cx="11155680" cy="1371600"/>
          </a:xfrm>
          <a:prstGeom prst="roundRect">
            <a:avLst>
              <a:gd fmla="val 6667"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822960" y="1920240"/>
            <a:ext cx="10515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Predict whether an order will be delivered LATE — before it happens.</a:t>
            </a:r>
            <a:endParaRPr b="0" i="0" sz="2200" u="none" cap="none" strike="noStrike">
              <a:solidFill>
                <a:schemeClr val="dk1"/>
              </a:solidFill>
              <a:latin typeface="Calibri"/>
              <a:ea typeface="Calibri"/>
              <a:cs typeface="Calibri"/>
              <a:sym typeface="Calibri"/>
            </a:endParaRPr>
          </a:p>
        </p:txBody>
      </p:sp>
      <p:sp>
        <p:nvSpPr>
          <p:cNvPr id="77" name="Google Shape;77;p6"/>
          <p:cNvSpPr/>
          <p:nvPr/>
        </p:nvSpPr>
        <p:spPr>
          <a:xfrm>
            <a:off x="502920" y="3657600"/>
            <a:ext cx="3566160" cy="2103120"/>
          </a:xfrm>
          <a:prstGeom prst="roundRect">
            <a:avLst>
              <a:gd fmla="val 347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731520" y="38404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350"/>
              <a:buFont typeface="Calibri"/>
              <a:buNone/>
            </a:pPr>
            <a:r>
              <a:rPr b="1" i="0" lang="en-US" sz="1350" u="none" cap="none" strike="noStrike">
                <a:solidFill>
                  <a:srgbClr val="2461C0"/>
                </a:solidFill>
                <a:latin typeface="Calibri"/>
                <a:ea typeface="Calibri"/>
                <a:cs typeface="Calibri"/>
                <a:sym typeface="Calibri"/>
              </a:rPr>
              <a:t>Task Type</a:t>
            </a:r>
            <a:endParaRPr b="0" i="0" sz="1350" u="none" cap="none" strike="noStrike">
              <a:solidFill>
                <a:schemeClr val="dk1"/>
              </a:solidFill>
              <a:latin typeface="Calibri"/>
              <a:ea typeface="Calibri"/>
              <a:cs typeface="Calibri"/>
              <a:sym typeface="Calibri"/>
            </a:endParaRPr>
          </a:p>
        </p:txBody>
      </p:sp>
      <p:sp>
        <p:nvSpPr>
          <p:cNvPr id="79" name="Google Shape;79;p6"/>
          <p:cNvSpPr/>
          <p:nvPr/>
        </p:nvSpPr>
        <p:spPr>
          <a:xfrm>
            <a:off x="731520" y="4206240"/>
            <a:ext cx="3108960" cy="1417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Supervised binary classification (Late vs. On-Time)</a:t>
            </a:r>
            <a:endParaRPr b="0" i="0" sz="1250" u="none" cap="none" strike="noStrike">
              <a:solidFill>
                <a:schemeClr val="dk1"/>
              </a:solidFill>
              <a:latin typeface="Calibri"/>
              <a:ea typeface="Calibri"/>
              <a:cs typeface="Calibri"/>
              <a:sym typeface="Calibri"/>
            </a:endParaRPr>
          </a:p>
        </p:txBody>
      </p:sp>
      <p:sp>
        <p:nvSpPr>
          <p:cNvPr id="80" name="Google Shape;80;p6"/>
          <p:cNvSpPr/>
          <p:nvPr/>
        </p:nvSpPr>
        <p:spPr>
          <a:xfrm>
            <a:off x="4297680" y="3657600"/>
            <a:ext cx="3566160" cy="2103120"/>
          </a:xfrm>
          <a:prstGeom prst="roundRect">
            <a:avLst>
              <a:gd fmla="val 347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4526280" y="38404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350"/>
              <a:buFont typeface="Calibri"/>
              <a:buNone/>
            </a:pPr>
            <a:r>
              <a:rPr b="1" i="0" lang="en-US" sz="1350" u="none" cap="none" strike="noStrike">
                <a:solidFill>
                  <a:srgbClr val="2461C0"/>
                </a:solidFill>
                <a:latin typeface="Calibri"/>
                <a:ea typeface="Calibri"/>
                <a:cs typeface="Calibri"/>
                <a:sym typeface="Calibri"/>
              </a:rPr>
              <a:t>Target</a:t>
            </a:r>
            <a:endParaRPr b="0" i="0" sz="1350" u="none" cap="none" strike="noStrike">
              <a:solidFill>
                <a:schemeClr val="dk1"/>
              </a:solidFill>
              <a:latin typeface="Calibri"/>
              <a:ea typeface="Calibri"/>
              <a:cs typeface="Calibri"/>
              <a:sym typeface="Calibri"/>
            </a:endParaRPr>
          </a:p>
        </p:txBody>
      </p:sp>
      <p:sp>
        <p:nvSpPr>
          <p:cNvPr id="82" name="Google Shape;82;p6"/>
          <p:cNvSpPr/>
          <p:nvPr/>
        </p:nvSpPr>
        <p:spPr>
          <a:xfrm>
            <a:off x="4526280" y="4206240"/>
            <a:ext cx="3108960" cy="1417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is_late — 1 if actual delivery days exceed expected days, else 0</a:t>
            </a:r>
            <a:endParaRPr b="0" i="0" sz="1250" u="none" cap="none" strike="noStrike">
              <a:solidFill>
                <a:schemeClr val="dk1"/>
              </a:solidFill>
              <a:latin typeface="Calibri"/>
              <a:ea typeface="Calibri"/>
              <a:cs typeface="Calibri"/>
              <a:sym typeface="Calibri"/>
            </a:endParaRPr>
          </a:p>
        </p:txBody>
      </p:sp>
      <p:sp>
        <p:nvSpPr>
          <p:cNvPr id="83" name="Google Shape;83;p6"/>
          <p:cNvSpPr/>
          <p:nvPr/>
        </p:nvSpPr>
        <p:spPr>
          <a:xfrm>
            <a:off x="8092440" y="3657600"/>
            <a:ext cx="3566160" cy="2103120"/>
          </a:xfrm>
          <a:prstGeom prst="roundRect">
            <a:avLst>
              <a:gd fmla="val 347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8321040" y="384048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350"/>
              <a:buFont typeface="Calibri"/>
              <a:buNone/>
            </a:pPr>
            <a:r>
              <a:rPr b="1" i="0" lang="en-US" sz="1350" u="none" cap="none" strike="noStrike">
                <a:solidFill>
                  <a:srgbClr val="2461C0"/>
                </a:solidFill>
                <a:latin typeface="Calibri"/>
                <a:ea typeface="Calibri"/>
                <a:cs typeface="Calibri"/>
                <a:sym typeface="Calibri"/>
              </a:rPr>
              <a:t>Business Purpose</a:t>
            </a:r>
            <a:endParaRPr b="0" i="0" sz="1350" u="none" cap="none" strike="noStrike">
              <a:solidFill>
                <a:schemeClr val="dk1"/>
              </a:solidFill>
              <a:latin typeface="Calibri"/>
              <a:ea typeface="Calibri"/>
              <a:cs typeface="Calibri"/>
              <a:sym typeface="Calibri"/>
            </a:endParaRPr>
          </a:p>
        </p:txBody>
      </p:sp>
      <p:sp>
        <p:nvSpPr>
          <p:cNvPr id="85" name="Google Shape;85;p6"/>
          <p:cNvSpPr/>
          <p:nvPr/>
        </p:nvSpPr>
        <p:spPr>
          <a:xfrm>
            <a:off x="8321040" y="4206240"/>
            <a:ext cx="3108960" cy="1417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Flag high-risk orders early to support proactive logistics decisions</a:t>
            </a:r>
            <a:endParaRPr b="0" i="0" sz="1250" u="none" cap="none" strike="noStrike">
              <a:solidFill>
                <a:schemeClr val="dk1"/>
              </a:solidFill>
              <a:latin typeface="Calibri"/>
              <a:ea typeface="Calibri"/>
              <a:cs typeface="Calibri"/>
              <a:sym typeface="Calibri"/>
            </a:endParaRPr>
          </a:p>
        </p:txBody>
      </p:sp>
      <p:sp>
        <p:nvSpPr>
          <p:cNvPr id="86" name="Google Shape;86;p6"/>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Project Objective</a:t>
            </a:r>
            <a:endParaRPr b="0" i="0" sz="900" u="none" cap="none" strike="noStrike">
              <a:solidFill>
                <a:schemeClr val="dk1"/>
              </a:solidFill>
              <a:latin typeface="Calibri"/>
              <a:ea typeface="Calibri"/>
              <a:cs typeface="Calibri"/>
              <a:sym typeface="Calibri"/>
            </a:endParaRPr>
          </a:p>
        </p:txBody>
      </p:sp>
      <p:sp>
        <p:nvSpPr>
          <p:cNvPr id="87" name="Google Shape;87;p6"/>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7"/>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1</a:t>
            </a:r>
            <a:endParaRPr b="0" i="0" sz="1000" u="none" cap="none" strike="noStrike">
              <a:solidFill>
                <a:schemeClr val="dk1"/>
              </a:solidFill>
              <a:latin typeface="Calibri"/>
              <a:ea typeface="Calibri"/>
              <a:cs typeface="Calibri"/>
              <a:sym typeface="Calibri"/>
            </a:endParaRPr>
          </a:p>
        </p:txBody>
      </p:sp>
      <p:sp>
        <p:nvSpPr>
          <p:cNvPr id="95" name="Google Shape;95;p7"/>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FOUNDATION</a:t>
            </a:r>
            <a:endParaRPr b="0" i="0" sz="1200" u="none" cap="none" strike="noStrike">
              <a:solidFill>
                <a:schemeClr val="dk1"/>
              </a:solidFill>
              <a:latin typeface="Calibri"/>
              <a:ea typeface="Calibri"/>
              <a:cs typeface="Calibri"/>
              <a:sym typeface="Calibri"/>
            </a:endParaRPr>
          </a:p>
        </p:txBody>
      </p:sp>
      <p:sp>
        <p:nvSpPr>
          <p:cNvPr id="96" name="Google Shape;96;p7"/>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Dataset</a:t>
            </a:r>
            <a:endParaRPr b="0" i="0" sz="3000" u="none" cap="none" strike="noStrike">
              <a:solidFill>
                <a:schemeClr val="dk1"/>
              </a:solidFill>
              <a:latin typeface="Calibri"/>
              <a:ea typeface="Calibri"/>
              <a:cs typeface="Calibri"/>
              <a:sym typeface="Calibri"/>
            </a:endParaRPr>
          </a:p>
        </p:txBody>
      </p:sp>
      <p:sp>
        <p:nvSpPr>
          <p:cNvPr id="97" name="Google Shape;97;p7"/>
          <p:cNvSpPr/>
          <p:nvPr/>
        </p:nvSpPr>
        <p:spPr>
          <a:xfrm>
            <a:off x="502920" y="1828800"/>
            <a:ext cx="6035040" cy="393192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Source: Brazilian E-Commerce Public Dataset (Olist) — orders, customers, products, sellers, couriers, delivery, and revenue data merged into one table.</a:t>
            </a:r>
            <a:endParaRPr b="0" i="0" sz="150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Final modeling dataset: 113,314 orders after selecting leakage-safe columns and dropping missing values.</a:t>
            </a:r>
            <a:endParaRPr b="0" i="0" sz="150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Split 80/20 (stratified) into train and test sets to preserve the late/on-time ratio in both.</a:t>
            </a:r>
            <a:endParaRPr b="0" i="0" sz="1500" u="none" cap="none" strike="noStrike">
              <a:solidFill>
                <a:schemeClr val="dk1"/>
              </a:solidFill>
              <a:latin typeface="Calibri"/>
              <a:ea typeface="Calibri"/>
              <a:cs typeface="Calibri"/>
              <a:sym typeface="Calibri"/>
            </a:endParaRPr>
          </a:p>
        </p:txBody>
      </p:sp>
      <p:sp>
        <p:nvSpPr>
          <p:cNvPr id="98" name="Google Shape;98;p7"/>
          <p:cNvSpPr/>
          <p:nvPr/>
        </p:nvSpPr>
        <p:spPr>
          <a:xfrm>
            <a:off x="6858000" y="1920240"/>
            <a:ext cx="4846320" cy="1188720"/>
          </a:xfrm>
          <a:prstGeom prst="roundRect">
            <a:avLst>
              <a:gd fmla="val 6154"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7132320" y="2029968"/>
            <a:ext cx="20116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2600"/>
              <a:buFont typeface="Cambria"/>
              <a:buNone/>
            </a:pPr>
            <a:r>
              <a:rPr b="1" i="0" lang="en-US" sz="2600" u="none" cap="none" strike="noStrike">
                <a:solidFill>
                  <a:srgbClr val="0F2A5E"/>
                </a:solidFill>
                <a:latin typeface="Cambria"/>
                <a:ea typeface="Cambria"/>
                <a:cs typeface="Cambria"/>
                <a:sym typeface="Cambria"/>
              </a:rPr>
              <a:t>113,314</a:t>
            </a:r>
            <a:endParaRPr b="0" i="0" sz="2600" u="none" cap="none" strike="noStrike">
              <a:solidFill>
                <a:schemeClr val="dk1"/>
              </a:solidFill>
              <a:latin typeface="Calibri"/>
              <a:ea typeface="Calibri"/>
              <a:cs typeface="Calibri"/>
              <a:sym typeface="Calibri"/>
            </a:endParaRPr>
          </a:p>
        </p:txBody>
      </p:sp>
      <p:sp>
        <p:nvSpPr>
          <p:cNvPr id="100" name="Google Shape;100;p7"/>
          <p:cNvSpPr/>
          <p:nvPr/>
        </p:nvSpPr>
        <p:spPr>
          <a:xfrm>
            <a:off x="9144000" y="1920240"/>
            <a:ext cx="237744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300"/>
              <a:buFont typeface="Calibri"/>
              <a:buNone/>
            </a:pPr>
            <a:r>
              <a:rPr b="0" i="0" lang="en-US" sz="1300" u="none" cap="none" strike="noStrike">
                <a:solidFill>
                  <a:srgbClr val="5B6B82"/>
                </a:solidFill>
                <a:latin typeface="Calibri"/>
                <a:ea typeface="Calibri"/>
                <a:cs typeface="Calibri"/>
                <a:sym typeface="Calibri"/>
              </a:rPr>
              <a:t>Modeling rows</a:t>
            </a:r>
            <a:endParaRPr b="0" i="0" sz="1300" u="none" cap="none" strike="noStrike">
              <a:solidFill>
                <a:schemeClr val="dk1"/>
              </a:solidFill>
              <a:latin typeface="Calibri"/>
              <a:ea typeface="Calibri"/>
              <a:cs typeface="Calibri"/>
              <a:sym typeface="Calibri"/>
            </a:endParaRPr>
          </a:p>
        </p:txBody>
      </p:sp>
      <p:sp>
        <p:nvSpPr>
          <p:cNvPr id="101" name="Google Shape;101;p7"/>
          <p:cNvSpPr/>
          <p:nvPr/>
        </p:nvSpPr>
        <p:spPr>
          <a:xfrm>
            <a:off x="6858000" y="3337560"/>
            <a:ext cx="4846320" cy="1188720"/>
          </a:xfrm>
          <a:prstGeom prst="roundRect">
            <a:avLst>
              <a:gd fmla="val 6154"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7132320" y="3447288"/>
            <a:ext cx="20116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2600"/>
              <a:buFont typeface="Cambria"/>
              <a:buNone/>
            </a:pPr>
            <a:r>
              <a:rPr b="1" i="0" lang="en-US" sz="2600" u="none" cap="none" strike="noStrike">
                <a:solidFill>
                  <a:srgbClr val="0F2A5E"/>
                </a:solidFill>
                <a:latin typeface="Cambria"/>
                <a:ea typeface="Cambria"/>
                <a:cs typeface="Cambria"/>
                <a:sym typeface="Cambria"/>
              </a:rPr>
              <a:t>90,651</a:t>
            </a:r>
            <a:endParaRPr b="0" i="0" sz="2600" u="none" cap="none" strike="noStrike">
              <a:solidFill>
                <a:schemeClr val="dk1"/>
              </a:solidFill>
              <a:latin typeface="Calibri"/>
              <a:ea typeface="Calibri"/>
              <a:cs typeface="Calibri"/>
              <a:sym typeface="Calibri"/>
            </a:endParaRPr>
          </a:p>
        </p:txBody>
      </p:sp>
      <p:sp>
        <p:nvSpPr>
          <p:cNvPr id="103" name="Google Shape;103;p7"/>
          <p:cNvSpPr/>
          <p:nvPr/>
        </p:nvSpPr>
        <p:spPr>
          <a:xfrm>
            <a:off x="9144000" y="3337560"/>
            <a:ext cx="237744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300"/>
              <a:buFont typeface="Calibri"/>
              <a:buNone/>
            </a:pPr>
            <a:r>
              <a:rPr b="0" i="0" lang="en-US" sz="1300" u="none" cap="none" strike="noStrike">
                <a:solidFill>
                  <a:srgbClr val="5B6B82"/>
                </a:solidFill>
                <a:latin typeface="Calibri"/>
                <a:ea typeface="Calibri"/>
                <a:cs typeface="Calibri"/>
                <a:sym typeface="Calibri"/>
              </a:rPr>
              <a:t>Train rows</a:t>
            </a:r>
            <a:endParaRPr b="0" i="0" sz="1300" u="none" cap="none" strike="noStrike">
              <a:solidFill>
                <a:schemeClr val="dk1"/>
              </a:solidFill>
              <a:latin typeface="Calibri"/>
              <a:ea typeface="Calibri"/>
              <a:cs typeface="Calibri"/>
              <a:sym typeface="Calibri"/>
            </a:endParaRPr>
          </a:p>
        </p:txBody>
      </p:sp>
      <p:sp>
        <p:nvSpPr>
          <p:cNvPr id="104" name="Google Shape;104;p7"/>
          <p:cNvSpPr/>
          <p:nvPr/>
        </p:nvSpPr>
        <p:spPr>
          <a:xfrm>
            <a:off x="6858000" y="4754880"/>
            <a:ext cx="4846320" cy="1188720"/>
          </a:xfrm>
          <a:prstGeom prst="roundRect">
            <a:avLst>
              <a:gd fmla="val 6154"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7132320" y="4864608"/>
            <a:ext cx="20116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2600"/>
              <a:buFont typeface="Cambria"/>
              <a:buNone/>
            </a:pPr>
            <a:r>
              <a:rPr b="1" i="0" lang="en-US" sz="2600" u="none" cap="none" strike="noStrike">
                <a:solidFill>
                  <a:srgbClr val="0F2A5E"/>
                </a:solidFill>
                <a:latin typeface="Cambria"/>
                <a:ea typeface="Cambria"/>
                <a:cs typeface="Cambria"/>
                <a:sym typeface="Cambria"/>
              </a:rPr>
              <a:t>22,663</a:t>
            </a:r>
            <a:endParaRPr b="0" i="0" sz="2600" u="none" cap="none" strike="noStrike">
              <a:solidFill>
                <a:schemeClr val="dk1"/>
              </a:solidFill>
              <a:latin typeface="Calibri"/>
              <a:ea typeface="Calibri"/>
              <a:cs typeface="Calibri"/>
              <a:sym typeface="Calibri"/>
            </a:endParaRPr>
          </a:p>
        </p:txBody>
      </p:sp>
      <p:sp>
        <p:nvSpPr>
          <p:cNvPr id="106" name="Google Shape;106;p7"/>
          <p:cNvSpPr/>
          <p:nvPr/>
        </p:nvSpPr>
        <p:spPr>
          <a:xfrm>
            <a:off x="9144000" y="4754880"/>
            <a:ext cx="237744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300"/>
              <a:buFont typeface="Calibri"/>
              <a:buNone/>
            </a:pPr>
            <a:r>
              <a:rPr b="0" i="0" lang="en-US" sz="1300" u="none" cap="none" strike="noStrike">
                <a:solidFill>
                  <a:srgbClr val="5B6B82"/>
                </a:solidFill>
                <a:latin typeface="Calibri"/>
                <a:ea typeface="Calibri"/>
                <a:cs typeface="Calibri"/>
                <a:sym typeface="Calibri"/>
              </a:rPr>
              <a:t>Test rows</a:t>
            </a:r>
            <a:endParaRPr b="0" i="0" sz="1300" u="none" cap="none" strike="noStrike">
              <a:solidFill>
                <a:schemeClr val="dk1"/>
              </a:solidFill>
              <a:latin typeface="Calibri"/>
              <a:ea typeface="Calibri"/>
              <a:cs typeface="Calibri"/>
              <a:sym typeface="Calibri"/>
            </a:endParaRPr>
          </a:p>
        </p:txBody>
      </p:sp>
      <p:sp>
        <p:nvSpPr>
          <p:cNvPr id="107" name="Google Shape;107;p7"/>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Dataset</a:t>
            </a:r>
            <a:endParaRPr b="0" i="0" sz="900" u="none" cap="none" strike="noStrike">
              <a:solidFill>
                <a:schemeClr val="dk1"/>
              </a:solidFill>
              <a:latin typeface="Calibri"/>
              <a:ea typeface="Calibri"/>
              <a:cs typeface="Calibri"/>
              <a:sym typeface="Calibri"/>
            </a:endParaRPr>
          </a:p>
        </p:txBody>
      </p:sp>
      <p:sp>
        <p:nvSpPr>
          <p:cNvPr id="108" name="Google Shape;108;p7"/>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1</a:t>
            </a:r>
            <a:endParaRPr b="0" i="0" sz="1000" u="none" cap="none" strike="noStrike">
              <a:solidFill>
                <a:schemeClr val="dk1"/>
              </a:solidFill>
              <a:latin typeface="Calibri"/>
              <a:ea typeface="Calibri"/>
              <a:cs typeface="Calibri"/>
              <a:sym typeface="Calibri"/>
            </a:endParaRPr>
          </a:p>
        </p:txBody>
      </p:sp>
      <p:sp>
        <p:nvSpPr>
          <p:cNvPr id="116" name="Google Shape;116;p8"/>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INPUTS &amp; OUTPUT</a:t>
            </a:r>
            <a:endParaRPr b="0" i="0" sz="1200" u="none" cap="none" strike="noStrike">
              <a:solidFill>
                <a:schemeClr val="dk1"/>
              </a:solidFill>
              <a:latin typeface="Calibri"/>
              <a:ea typeface="Calibri"/>
              <a:cs typeface="Calibri"/>
              <a:sym typeface="Calibri"/>
            </a:endParaRPr>
          </a:p>
        </p:txBody>
      </p:sp>
      <p:sp>
        <p:nvSpPr>
          <p:cNvPr id="117" name="Google Shape;117;p8"/>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Features &amp; Target</a:t>
            </a:r>
            <a:endParaRPr b="0" i="0" sz="3000" u="none" cap="none" strike="noStrike">
              <a:solidFill>
                <a:schemeClr val="dk1"/>
              </a:solidFill>
              <a:latin typeface="Calibri"/>
              <a:ea typeface="Calibri"/>
              <a:cs typeface="Calibri"/>
              <a:sym typeface="Calibri"/>
            </a:endParaRPr>
          </a:p>
        </p:txBody>
      </p:sp>
      <p:sp>
        <p:nvSpPr>
          <p:cNvPr id="118" name="Google Shape;118;p8"/>
          <p:cNvSpPr/>
          <p:nvPr/>
        </p:nvSpPr>
        <p:spPr>
          <a:xfrm>
            <a:off x="502920" y="1783080"/>
            <a:ext cx="6766560" cy="4023360"/>
          </a:xfrm>
          <a:prstGeom prst="roundRect">
            <a:avLst>
              <a:gd fmla="val 2273"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777240" y="1965960"/>
            <a:ext cx="6309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500"/>
              <a:buFont typeface="Cambria"/>
              <a:buNone/>
            </a:pPr>
            <a:r>
              <a:rPr b="1" i="0" lang="en-US" sz="1500" u="none" cap="none" strike="noStrike">
                <a:solidFill>
                  <a:srgbClr val="0F2A5E"/>
                </a:solidFill>
                <a:latin typeface="Cambria"/>
                <a:ea typeface="Cambria"/>
                <a:cs typeface="Cambria"/>
                <a:sym typeface="Cambria"/>
              </a:rPr>
              <a:t>8 Input Features (pre-delivery only)</a:t>
            </a:r>
            <a:endParaRPr b="0" i="0" sz="1500" u="none" cap="none" strike="noStrike">
              <a:solidFill>
                <a:schemeClr val="dk1"/>
              </a:solidFill>
              <a:latin typeface="Calibri"/>
              <a:ea typeface="Calibri"/>
              <a:cs typeface="Calibri"/>
              <a:sym typeface="Calibri"/>
            </a:endParaRPr>
          </a:p>
        </p:txBody>
      </p:sp>
      <p:sp>
        <p:nvSpPr>
          <p:cNvPr id="120" name="Google Shape;120;p8"/>
          <p:cNvSpPr/>
          <p:nvPr/>
        </p:nvSpPr>
        <p:spPr>
          <a:xfrm>
            <a:off x="777240" y="246888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777240" y="246888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courier</a:t>
            </a:r>
            <a:endParaRPr b="0" i="0" sz="1300" u="none" cap="none" strike="noStrike">
              <a:solidFill>
                <a:schemeClr val="dk1"/>
              </a:solidFill>
              <a:latin typeface="Calibri"/>
              <a:ea typeface="Calibri"/>
              <a:cs typeface="Calibri"/>
              <a:sym typeface="Calibri"/>
            </a:endParaRPr>
          </a:p>
        </p:txBody>
      </p:sp>
      <p:sp>
        <p:nvSpPr>
          <p:cNvPr id="122" name="Google Shape;122;p8"/>
          <p:cNvSpPr/>
          <p:nvPr/>
        </p:nvSpPr>
        <p:spPr>
          <a:xfrm>
            <a:off x="4023360" y="246888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4023360" y="246888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expected_days</a:t>
            </a:r>
            <a:endParaRPr b="0" i="0" sz="1300" u="none" cap="none" strike="noStrike">
              <a:solidFill>
                <a:schemeClr val="dk1"/>
              </a:solidFill>
              <a:latin typeface="Calibri"/>
              <a:ea typeface="Calibri"/>
              <a:cs typeface="Calibri"/>
              <a:sym typeface="Calibri"/>
            </a:endParaRPr>
          </a:p>
        </p:txBody>
      </p:sp>
      <p:sp>
        <p:nvSpPr>
          <p:cNvPr id="124" name="Google Shape;124;p8"/>
          <p:cNvSpPr/>
          <p:nvPr/>
        </p:nvSpPr>
        <p:spPr>
          <a:xfrm>
            <a:off x="777240" y="324612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777240" y="324612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weather</a:t>
            </a:r>
            <a:endParaRPr b="0" i="0" sz="1300" u="none" cap="none" strike="noStrike">
              <a:solidFill>
                <a:schemeClr val="dk1"/>
              </a:solidFill>
              <a:latin typeface="Calibri"/>
              <a:ea typeface="Calibri"/>
              <a:cs typeface="Calibri"/>
              <a:sym typeface="Calibri"/>
            </a:endParaRPr>
          </a:p>
        </p:txBody>
      </p:sp>
      <p:sp>
        <p:nvSpPr>
          <p:cNvPr id="126" name="Google Shape;126;p8"/>
          <p:cNvSpPr/>
          <p:nvPr/>
        </p:nvSpPr>
        <p:spPr>
          <a:xfrm>
            <a:off x="4023360" y="324612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4023360" y="324612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season</a:t>
            </a:r>
            <a:endParaRPr b="0" i="0" sz="1300" u="none" cap="none" strike="noStrike">
              <a:solidFill>
                <a:schemeClr val="dk1"/>
              </a:solidFill>
              <a:latin typeface="Calibri"/>
              <a:ea typeface="Calibri"/>
              <a:cs typeface="Calibri"/>
              <a:sym typeface="Calibri"/>
            </a:endParaRPr>
          </a:p>
        </p:txBody>
      </p:sp>
      <p:sp>
        <p:nvSpPr>
          <p:cNvPr id="128" name="Google Shape;128;p8"/>
          <p:cNvSpPr/>
          <p:nvPr/>
        </p:nvSpPr>
        <p:spPr>
          <a:xfrm>
            <a:off x="777240" y="402336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777240" y="402336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area</a:t>
            </a:r>
            <a:endParaRPr b="0" i="0" sz="1300" u="none" cap="none" strike="noStrike">
              <a:solidFill>
                <a:schemeClr val="dk1"/>
              </a:solidFill>
              <a:latin typeface="Calibri"/>
              <a:ea typeface="Calibri"/>
              <a:cs typeface="Calibri"/>
              <a:sym typeface="Calibri"/>
            </a:endParaRPr>
          </a:p>
        </p:txBody>
      </p:sp>
      <p:sp>
        <p:nvSpPr>
          <p:cNvPr id="130" name="Google Shape;130;p8"/>
          <p:cNvSpPr/>
          <p:nvPr/>
        </p:nvSpPr>
        <p:spPr>
          <a:xfrm>
            <a:off x="4023360" y="402336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4023360" y="402336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category</a:t>
            </a:r>
            <a:endParaRPr b="0" i="0" sz="1300" u="none" cap="none" strike="noStrike">
              <a:solidFill>
                <a:schemeClr val="dk1"/>
              </a:solidFill>
              <a:latin typeface="Calibri"/>
              <a:ea typeface="Calibri"/>
              <a:cs typeface="Calibri"/>
              <a:sym typeface="Calibri"/>
            </a:endParaRPr>
          </a:p>
        </p:txBody>
      </p:sp>
      <p:sp>
        <p:nvSpPr>
          <p:cNvPr id="132" name="Google Shape;132;p8"/>
          <p:cNvSpPr/>
          <p:nvPr/>
        </p:nvSpPr>
        <p:spPr>
          <a:xfrm>
            <a:off x="777240" y="480060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777240" y="480060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order_month</a:t>
            </a:r>
            <a:endParaRPr b="0" i="0" sz="1300" u="none" cap="none" strike="noStrike">
              <a:solidFill>
                <a:schemeClr val="dk1"/>
              </a:solidFill>
              <a:latin typeface="Calibri"/>
              <a:ea typeface="Calibri"/>
              <a:cs typeface="Calibri"/>
              <a:sym typeface="Calibri"/>
            </a:endParaRPr>
          </a:p>
        </p:txBody>
      </p:sp>
      <p:sp>
        <p:nvSpPr>
          <p:cNvPr id="134" name="Google Shape;134;p8"/>
          <p:cNvSpPr/>
          <p:nvPr/>
        </p:nvSpPr>
        <p:spPr>
          <a:xfrm>
            <a:off x="4023360" y="4800600"/>
            <a:ext cx="3017520" cy="548640"/>
          </a:xfrm>
          <a:prstGeom prst="roundRect">
            <a:avLst>
              <a:gd fmla="val 10000" name="adj"/>
            </a:avLst>
          </a:prstGeom>
          <a:solidFill>
            <a:srgbClr val="EA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4023360" y="4800600"/>
            <a:ext cx="30175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300"/>
              <a:buFont typeface="Calibri"/>
              <a:buNone/>
            </a:pPr>
            <a:r>
              <a:rPr b="1" i="0" lang="en-US" sz="1300" u="none" cap="none" strike="noStrike">
                <a:solidFill>
                  <a:srgbClr val="0F2A5E"/>
                </a:solidFill>
                <a:latin typeface="Calibri"/>
                <a:ea typeface="Calibri"/>
                <a:cs typeface="Calibri"/>
                <a:sym typeface="Calibri"/>
              </a:rPr>
              <a:t>order_hour</a:t>
            </a:r>
            <a:endParaRPr b="0" i="0" sz="1300" u="none" cap="none" strike="noStrike">
              <a:solidFill>
                <a:schemeClr val="dk1"/>
              </a:solidFill>
              <a:latin typeface="Calibri"/>
              <a:ea typeface="Calibri"/>
              <a:cs typeface="Calibri"/>
              <a:sym typeface="Calibri"/>
            </a:endParaRPr>
          </a:p>
        </p:txBody>
      </p:sp>
      <p:sp>
        <p:nvSpPr>
          <p:cNvPr id="136" name="Google Shape;136;p8"/>
          <p:cNvSpPr/>
          <p:nvPr/>
        </p:nvSpPr>
        <p:spPr>
          <a:xfrm>
            <a:off x="7452360" y="1783080"/>
            <a:ext cx="4206240" cy="1828800"/>
          </a:xfrm>
          <a:prstGeom prst="roundRect">
            <a:avLst>
              <a:gd fmla="val 5000"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7726680" y="192024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8DEF"/>
              </a:buClr>
              <a:buSzPts val="1100"/>
              <a:buFont typeface="Calibri"/>
              <a:buNone/>
            </a:pPr>
            <a:r>
              <a:rPr b="1" i="0" lang="en-US" sz="1100" u="none" cap="none" strike="noStrike">
                <a:solidFill>
                  <a:srgbClr val="5B8DEF"/>
                </a:solidFill>
                <a:latin typeface="Calibri"/>
                <a:ea typeface="Calibri"/>
                <a:cs typeface="Calibri"/>
                <a:sym typeface="Calibri"/>
              </a:rPr>
              <a:t>TARGET</a:t>
            </a:r>
            <a:endParaRPr b="0" i="0" sz="1100" u="none" cap="none" strike="noStrike">
              <a:solidFill>
                <a:schemeClr val="dk1"/>
              </a:solidFill>
              <a:latin typeface="Calibri"/>
              <a:ea typeface="Calibri"/>
              <a:cs typeface="Calibri"/>
              <a:sym typeface="Calibri"/>
            </a:endParaRPr>
          </a:p>
        </p:txBody>
      </p:sp>
      <p:sp>
        <p:nvSpPr>
          <p:cNvPr id="138" name="Google Shape;138;p8"/>
          <p:cNvSpPr/>
          <p:nvPr/>
        </p:nvSpPr>
        <p:spPr>
          <a:xfrm>
            <a:off x="7726680" y="2194560"/>
            <a:ext cx="3657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is_late</a:t>
            </a:r>
            <a:endParaRPr b="0" i="0" sz="2600" u="none" cap="none" strike="noStrike">
              <a:solidFill>
                <a:schemeClr val="dk1"/>
              </a:solidFill>
              <a:latin typeface="Calibri"/>
              <a:ea typeface="Calibri"/>
              <a:cs typeface="Calibri"/>
              <a:sym typeface="Calibri"/>
            </a:endParaRPr>
          </a:p>
        </p:txBody>
      </p:sp>
      <p:sp>
        <p:nvSpPr>
          <p:cNvPr id="139" name="Google Shape;139;p8"/>
          <p:cNvSpPr/>
          <p:nvPr/>
        </p:nvSpPr>
        <p:spPr>
          <a:xfrm>
            <a:off x="7726680" y="2743200"/>
            <a:ext cx="3657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CE7FB"/>
              </a:buClr>
              <a:buSzPts val="1200"/>
              <a:buFont typeface="Calibri"/>
              <a:buNone/>
            </a:pPr>
            <a:r>
              <a:rPr b="0" i="0" lang="en-US" sz="1200" u="none" cap="none" strike="noStrike">
                <a:solidFill>
                  <a:srgbClr val="DCE7FB"/>
                </a:solidFill>
                <a:latin typeface="Calibri"/>
                <a:ea typeface="Calibri"/>
                <a:cs typeface="Calibri"/>
                <a:sym typeface="Calibri"/>
              </a:rPr>
              <a:t>1 = delivered late   ·   0 = on time</a:t>
            </a:r>
            <a:endParaRPr b="0" i="0" sz="1200" u="none" cap="none" strike="noStrike">
              <a:solidFill>
                <a:schemeClr val="dk1"/>
              </a:solidFill>
              <a:latin typeface="Calibri"/>
              <a:ea typeface="Calibri"/>
              <a:cs typeface="Calibri"/>
              <a:sym typeface="Calibri"/>
            </a:endParaRPr>
          </a:p>
        </p:txBody>
      </p:sp>
      <p:sp>
        <p:nvSpPr>
          <p:cNvPr id="140" name="Google Shape;140;p8"/>
          <p:cNvSpPr/>
          <p:nvPr/>
        </p:nvSpPr>
        <p:spPr>
          <a:xfrm>
            <a:off x="7452360" y="3794760"/>
            <a:ext cx="4206240" cy="2011680"/>
          </a:xfrm>
          <a:prstGeom prst="roundRect">
            <a:avLst>
              <a:gd fmla="val 4545"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7726680" y="393192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Excluded to prevent leakage</a:t>
            </a:r>
            <a:endParaRPr b="0" i="0" sz="1250" u="none" cap="none" strike="noStrike">
              <a:solidFill>
                <a:schemeClr val="dk1"/>
              </a:solidFill>
              <a:latin typeface="Calibri"/>
              <a:ea typeface="Calibri"/>
              <a:cs typeface="Calibri"/>
              <a:sym typeface="Calibri"/>
            </a:endParaRPr>
          </a:p>
        </p:txBody>
      </p:sp>
      <p:sp>
        <p:nvSpPr>
          <p:cNvPr id="142" name="Google Shape;142;p8"/>
          <p:cNvSpPr/>
          <p:nvPr/>
        </p:nvSpPr>
        <p:spPr>
          <a:xfrm>
            <a:off x="7726680" y="4251960"/>
            <a:ext cx="3657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350"/>
              <a:buFont typeface="Calibri"/>
              <a:buNone/>
            </a:pPr>
            <a:r>
              <a:rPr b="0" i="0" lang="en-US" sz="1350" u="none" cap="none" strike="noStrike">
                <a:solidFill>
                  <a:srgbClr val="1B2430"/>
                </a:solidFill>
                <a:latin typeface="Calibri"/>
                <a:ea typeface="Calibri"/>
                <a:cs typeface="Calibri"/>
                <a:sym typeface="Calibri"/>
              </a:rPr>
              <a:t>actual_delivery_days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350"/>
              <a:buFont typeface="Calibri"/>
              <a:buNone/>
            </a:pPr>
            <a:r>
              <a:rPr b="0" i="0" lang="en-US" sz="1350" u="none" cap="none" strike="noStrike">
                <a:solidFill>
                  <a:srgbClr val="1B2430"/>
                </a:solidFill>
                <a:latin typeface="Calibri"/>
                <a:ea typeface="Calibri"/>
                <a:cs typeface="Calibri"/>
                <a:sym typeface="Calibri"/>
              </a:rPr>
              <a:t>delivery_status</a:t>
            </a:r>
            <a:endParaRPr b="0" i="0" sz="1350" u="none" cap="none" strike="noStrike">
              <a:solidFill>
                <a:schemeClr val="dk1"/>
              </a:solidFill>
              <a:latin typeface="Calibri"/>
              <a:ea typeface="Calibri"/>
              <a:cs typeface="Calibri"/>
              <a:sym typeface="Calibri"/>
            </a:endParaRPr>
          </a:p>
        </p:txBody>
      </p:sp>
      <p:sp>
        <p:nvSpPr>
          <p:cNvPr id="143" name="Google Shape;143;p8"/>
          <p:cNvSpPr/>
          <p:nvPr/>
        </p:nvSpPr>
        <p:spPr>
          <a:xfrm>
            <a:off x="7726680" y="4892040"/>
            <a:ext cx="3657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1" lang="en-US" sz="1050" u="none" cap="none" strike="noStrike">
                <a:solidFill>
                  <a:srgbClr val="5B6B82"/>
                </a:solidFill>
                <a:latin typeface="Calibri"/>
                <a:ea typeface="Calibri"/>
                <a:cs typeface="Calibri"/>
                <a:sym typeface="Calibri"/>
              </a:rPr>
              <a:t>These fields directly reveal the delivery outcome, so they were kept out of training.</a:t>
            </a:r>
            <a:endParaRPr b="0" i="0" sz="1050" u="none" cap="none" strike="noStrike">
              <a:solidFill>
                <a:schemeClr val="dk1"/>
              </a:solidFill>
              <a:latin typeface="Calibri"/>
              <a:ea typeface="Calibri"/>
              <a:cs typeface="Calibri"/>
              <a:sym typeface="Calibri"/>
            </a:endParaRPr>
          </a:p>
        </p:txBody>
      </p:sp>
      <p:sp>
        <p:nvSpPr>
          <p:cNvPr id="144" name="Google Shape;144;p8"/>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Features &amp; Target</a:t>
            </a:r>
            <a:endParaRPr b="0" i="0" sz="900" u="none" cap="none" strike="noStrike">
              <a:solidFill>
                <a:schemeClr val="dk1"/>
              </a:solidFill>
              <a:latin typeface="Calibri"/>
              <a:ea typeface="Calibri"/>
              <a:cs typeface="Calibri"/>
              <a:sym typeface="Calibri"/>
            </a:endParaRPr>
          </a:p>
        </p:txBody>
      </p:sp>
      <p:sp>
        <p:nvSpPr>
          <p:cNvPr id="145" name="Google Shape;145;p8"/>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1</a:t>
            </a:r>
            <a:endParaRPr b="0" i="0" sz="1000" u="none" cap="none" strike="noStrike">
              <a:solidFill>
                <a:schemeClr val="dk1"/>
              </a:solidFill>
              <a:latin typeface="Calibri"/>
              <a:ea typeface="Calibri"/>
              <a:cs typeface="Calibri"/>
              <a:sym typeface="Calibri"/>
            </a:endParaRPr>
          </a:p>
        </p:txBody>
      </p:sp>
      <p:sp>
        <p:nvSpPr>
          <p:cNvPr id="153" name="Google Shape;153;p9"/>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PIPELINE</a:t>
            </a:r>
            <a:endParaRPr b="0" i="0" sz="1200" u="none" cap="none" strike="noStrike">
              <a:solidFill>
                <a:schemeClr val="dk1"/>
              </a:solidFill>
              <a:latin typeface="Calibri"/>
              <a:ea typeface="Calibri"/>
              <a:cs typeface="Calibri"/>
              <a:sym typeface="Calibri"/>
            </a:endParaRPr>
          </a:p>
        </p:txBody>
      </p:sp>
      <p:sp>
        <p:nvSpPr>
          <p:cNvPr id="154" name="Google Shape;154;p9"/>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Project Workflow</a:t>
            </a:r>
            <a:endParaRPr b="0" i="0" sz="3000" u="none" cap="none" strike="noStrike">
              <a:solidFill>
                <a:schemeClr val="dk1"/>
              </a:solidFill>
              <a:latin typeface="Calibri"/>
              <a:ea typeface="Calibri"/>
              <a:cs typeface="Calibri"/>
              <a:sym typeface="Calibri"/>
            </a:endParaRPr>
          </a:p>
        </p:txBody>
      </p:sp>
      <p:sp>
        <p:nvSpPr>
          <p:cNvPr id="155" name="Google Shape;155;p9"/>
          <p:cNvSpPr/>
          <p:nvPr/>
        </p:nvSpPr>
        <p:spPr>
          <a:xfrm>
            <a:off x="502920" y="3017520"/>
            <a:ext cx="1452590" cy="1005840"/>
          </a:xfrm>
          <a:prstGeom prst="roundRect">
            <a:avLst>
              <a:gd fmla="val 8182"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502920"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Data</a:t>
            </a:r>
            <a:endParaRPr b="0" i="0" sz="1150" u="none" cap="none" strike="noStrike">
              <a:solidFill>
                <a:schemeClr val="dk1"/>
              </a:solidFill>
              <a:latin typeface="Calibri"/>
              <a:ea typeface="Calibri"/>
              <a:cs typeface="Calibri"/>
              <a:sym typeface="Calibri"/>
            </a:endParaRPr>
          </a:p>
        </p:txBody>
      </p:sp>
      <p:sp>
        <p:nvSpPr>
          <p:cNvPr id="157" name="Google Shape;157;p9"/>
          <p:cNvSpPr/>
          <p:nvPr/>
        </p:nvSpPr>
        <p:spPr>
          <a:xfrm>
            <a:off x="1955510"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58" name="Google Shape;158;p9"/>
          <p:cNvSpPr/>
          <p:nvPr/>
        </p:nvSpPr>
        <p:spPr>
          <a:xfrm>
            <a:off x="2120102" y="3017520"/>
            <a:ext cx="1452590" cy="1005840"/>
          </a:xfrm>
          <a:prstGeom prst="roundRect">
            <a:avLst>
              <a:gd fmla="val 8182" name="adj"/>
            </a:avLst>
          </a:prstGeom>
          <a:solidFill>
            <a:srgbClr val="5B8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2120102"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Preprocessing</a:t>
            </a:r>
            <a:endParaRPr b="0" i="0" sz="1150" u="none" cap="none" strike="noStrike">
              <a:solidFill>
                <a:schemeClr val="dk1"/>
              </a:solidFill>
              <a:latin typeface="Calibri"/>
              <a:ea typeface="Calibri"/>
              <a:cs typeface="Calibri"/>
              <a:sym typeface="Calibri"/>
            </a:endParaRPr>
          </a:p>
        </p:txBody>
      </p:sp>
      <p:sp>
        <p:nvSpPr>
          <p:cNvPr id="160" name="Google Shape;160;p9"/>
          <p:cNvSpPr/>
          <p:nvPr/>
        </p:nvSpPr>
        <p:spPr>
          <a:xfrm>
            <a:off x="3572691"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61" name="Google Shape;161;p9"/>
          <p:cNvSpPr/>
          <p:nvPr/>
        </p:nvSpPr>
        <p:spPr>
          <a:xfrm>
            <a:off x="3737283" y="3017520"/>
            <a:ext cx="1452590" cy="1005840"/>
          </a:xfrm>
          <a:prstGeom prst="roundRect">
            <a:avLst>
              <a:gd fmla="val 8182"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3737283"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Feature</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Engineering</a:t>
            </a:r>
            <a:endParaRPr b="0" i="0" sz="1150" u="none" cap="none" strike="noStrike">
              <a:solidFill>
                <a:schemeClr val="dk1"/>
              </a:solidFill>
              <a:latin typeface="Calibri"/>
              <a:ea typeface="Calibri"/>
              <a:cs typeface="Calibri"/>
              <a:sym typeface="Calibri"/>
            </a:endParaRPr>
          </a:p>
        </p:txBody>
      </p:sp>
      <p:sp>
        <p:nvSpPr>
          <p:cNvPr id="163" name="Google Shape;163;p9"/>
          <p:cNvSpPr/>
          <p:nvPr/>
        </p:nvSpPr>
        <p:spPr>
          <a:xfrm>
            <a:off x="5189873"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64" name="Google Shape;164;p9"/>
          <p:cNvSpPr/>
          <p:nvPr/>
        </p:nvSpPr>
        <p:spPr>
          <a:xfrm>
            <a:off x="5354465" y="3017520"/>
            <a:ext cx="1452590" cy="1005840"/>
          </a:xfrm>
          <a:prstGeom prst="roundRect">
            <a:avLst>
              <a:gd fmla="val 8182" name="adj"/>
            </a:avLst>
          </a:prstGeom>
          <a:solidFill>
            <a:srgbClr val="5B8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5354465"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Train/Test</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Split</a:t>
            </a:r>
            <a:endParaRPr b="0" i="0" sz="1150" u="none" cap="none" strike="noStrike">
              <a:solidFill>
                <a:schemeClr val="dk1"/>
              </a:solidFill>
              <a:latin typeface="Calibri"/>
              <a:ea typeface="Calibri"/>
              <a:cs typeface="Calibri"/>
              <a:sym typeface="Calibri"/>
            </a:endParaRPr>
          </a:p>
        </p:txBody>
      </p:sp>
      <p:sp>
        <p:nvSpPr>
          <p:cNvPr id="166" name="Google Shape;166;p9"/>
          <p:cNvSpPr/>
          <p:nvPr/>
        </p:nvSpPr>
        <p:spPr>
          <a:xfrm>
            <a:off x="6807055"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67" name="Google Shape;167;p9"/>
          <p:cNvSpPr/>
          <p:nvPr/>
        </p:nvSpPr>
        <p:spPr>
          <a:xfrm>
            <a:off x="6971647" y="3017520"/>
            <a:ext cx="1452590" cy="1005840"/>
          </a:xfrm>
          <a:prstGeom prst="roundRect">
            <a:avLst>
              <a:gd fmla="val 8182" name="adj"/>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6971647"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Models</a:t>
            </a:r>
            <a:endParaRPr b="0" i="0" sz="1150" u="none" cap="none" strike="noStrike">
              <a:solidFill>
                <a:schemeClr val="dk1"/>
              </a:solidFill>
              <a:latin typeface="Calibri"/>
              <a:ea typeface="Calibri"/>
              <a:cs typeface="Calibri"/>
              <a:sym typeface="Calibri"/>
            </a:endParaRPr>
          </a:p>
        </p:txBody>
      </p:sp>
      <p:sp>
        <p:nvSpPr>
          <p:cNvPr id="169" name="Google Shape;169;p9"/>
          <p:cNvSpPr/>
          <p:nvPr/>
        </p:nvSpPr>
        <p:spPr>
          <a:xfrm>
            <a:off x="8424237"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70" name="Google Shape;170;p9"/>
          <p:cNvSpPr/>
          <p:nvPr/>
        </p:nvSpPr>
        <p:spPr>
          <a:xfrm>
            <a:off x="8588829" y="3017520"/>
            <a:ext cx="1452590" cy="1005840"/>
          </a:xfrm>
          <a:prstGeom prst="roundRect">
            <a:avLst>
              <a:gd fmla="val 8182" name="adj"/>
            </a:avLst>
          </a:prstGeom>
          <a:solidFill>
            <a:srgbClr val="5B8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8588829"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Evaluation</a:t>
            </a:r>
            <a:endParaRPr b="0" i="0" sz="1150" u="none" cap="none" strike="noStrike">
              <a:solidFill>
                <a:schemeClr val="dk1"/>
              </a:solidFill>
              <a:latin typeface="Calibri"/>
              <a:ea typeface="Calibri"/>
              <a:cs typeface="Calibri"/>
              <a:sym typeface="Calibri"/>
            </a:endParaRPr>
          </a:p>
        </p:txBody>
      </p:sp>
      <p:sp>
        <p:nvSpPr>
          <p:cNvPr id="172" name="Google Shape;172;p9"/>
          <p:cNvSpPr/>
          <p:nvPr/>
        </p:nvSpPr>
        <p:spPr>
          <a:xfrm>
            <a:off x="10041418" y="3017520"/>
            <a:ext cx="164592"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600"/>
              <a:buFont typeface="Calibri"/>
              <a:buNone/>
            </a:pPr>
            <a:r>
              <a:rPr b="1" i="0" lang="en-US" sz="1600" u="none" cap="none" strike="noStrike">
                <a:solidFill>
                  <a:srgbClr val="5B6B82"/>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73" name="Google Shape;173;p9"/>
          <p:cNvSpPr/>
          <p:nvPr/>
        </p:nvSpPr>
        <p:spPr>
          <a:xfrm>
            <a:off x="10206010" y="3017520"/>
            <a:ext cx="1452590" cy="1005840"/>
          </a:xfrm>
          <a:prstGeom prst="roundRect">
            <a:avLst>
              <a:gd fmla="val 8182"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10206010" y="3017520"/>
            <a:ext cx="145259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Business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Insights</a:t>
            </a:r>
            <a:endParaRPr b="0" i="0" sz="1150" u="none" cap="none" strike="noStrike">
              <a:solidFill>
                <a:schemeClr val="dk1"/>
              </a:solidFill>
              <a:latin typeface="Calibri"/>
              <a:ea typeface="Calibri"/>
              <a:cs typeface="Calibri"/>
              <a:sym typeface="Calibri"/>
            </a:endParaRPr>
          </a:p>
        </p:txBody>
      </p:sp>
      <p:sp>
        <p:nvSpPr>
          <p:cNvPr id="175" name="Google Shape;175;p9"/>
          <p:cNvSpPr/>
          <p:nvPr/>
        </p:nvSpPr>
        <p:spPr>
          <a:xfrm>
            <a:off x="777240" y="4572000"/>
            <a:ext cx="105156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400"/>
              <a:buFont typeface="Calibri"/>
              <a:buNone/>
            </a:pPr>
            <a:r>
              <a:rPr b="0" i="0" lang="en-US" sz="1400" u="none" cap="none" strike="noStrike">
                <a:solidFill>
                  <a:srgbClr val="5B6B82"/>
                </a:solidFill>
                <a:latin typeface="Calibri"/>
                <a:ea typeface="Calibri"/>
                <a:cs typeface="Calibri"/>
                <a:sym typeface="Calibri"/>
              </a:rPr>
              <a:t>One connected pipeline: raw Olist data flows through cleaning and feature engineering into a stratified split, seven candidate models, evaluation on held-out data, and finally business-facing recommendations.</a:t>
            </a:r>
            <a:endParaRPr b="0" i="0" sz="1400" u="none" cap="none" strike="noStrike">
              <a:solidFill>
                <a:schemeClr val="dk1"/>
              </a:solidFill>
              <a:latin typeface="Calibri"/>
              <a:ea typeface="Calibri"/>
              <a:cs typeface="Calibri"/>
              <a:sym typeface="Calibri"/>
            </a:endParaRPr>
          </a:p>
        </p:txBody>
      </p:sp>
      <p:sp>
        <p:nvSpPr>
          <p:cNvPr id="176" name="Google Shape;176;p9"/>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Project Workflow</a:t>
            </a:r>
            <a:endParaRPr b="0" i="0" sz="900" u="none" cap="none" strike="noStrike">
              <a:solidFill>
                <a:schemeClr val="dk1"/>
              </a:solidFill>
              <a:latin typeface="Calibri"/>
              <a:ea typeface="Calibri"/>
              <a:cs typeface="Calibri"/>
              <a:sym typeface="Calibri"/>
            </a:endParaRPr>
          </a:p>
        </p:txBody>
      </p:sp>
      <p:sp>
        <p:nvSpPr>
          <p:cNvPr id="177" name="Google Shape;177;p9"/>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2</a:t>
            </a:r>
            <a:endParaRPr b="0" i="0" sz="1000" u="none" cap="none" strike="noStrike">
              <a:solidFill>
                <a:schemeClr val="dk1"/>
              </a:solidFill>
              <a:latin typeface="Calibri"/>
              <a:ea typeface="Calibri"/>
              <a:cs typeface="Calibri"/>
              <a:sym typeface="Calibri"/>
            </a:endParaRPr>
          </a:p>
        </p:txBody>
      </p:sp>
      <p:sp>
        <p:nvSpPr>
          <p:cNvPr id="185" name="Google Shape;185;p10"/>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GETTING THE DATA READY</a:t>
            </a:r>
            <a:endParaRPr b="0" i="0" sz="1200" u="none" cap="none" strike="noStrike">
              <a:solidFill>
                <a:schemeClr val="dk1"/>
              </a:solidFill>
              <a:latin typeface="Calibri"/>
              <a:ea typeface="Calibri"/>
              <a:cs typeface="Calibri"/>
              <a:sym typeface="Calibri"/>
            </a:endParaRPr>
          </a:p>
        </p:txBody>
      </p:sp>
      <p:sp>
        <p:nvSpPr>
          <p:cNvPr id="186" name="Google Shape;186;p10"/>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Data Preprocessing</a:t>
            </a:r>
            <a:endParaRPr b="0" i="0" sz="3000" u="none" cap="none" strike="noStrike">
              <a:solidFill>
                <a:schemeClr val="dk1"/>
              </a:solidFill>
              <a:latin typeface="Calibri"/>
              <a:ea typeface="Calibri"/>
              <a:cs typeface="Calibri"/>
              <a:sym typeface="Calibri"/>
            </a:endParaRPr>
          </a:p>
        </p:txBody>
      </p:sp>
      <p:sp>
        <p:nvSpPr>
          <p:cNvPr id="187" name="Google Shape;187;p10"/>
          <p:cNvSpPr/>
          <p:nvPr/>
        </p:nvSpPr>
        <p:spPr>
          <a:xfrm>
            <a:off x="502920" y="1828800"/>
            <a:ext cx="3566160" cy="2103120"/>
          </a:xfrm>
          <a:prstGeom prst="roundRect">
            <a:avLst>
              <a:gd fmla="val 391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704088" y="1993392"/>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400"/>
              <a:buFont typeface="Calibri"/>
              <a:buNone/>
            </a:pPr>
            <a:r>
              <a:rPr b="1" i="0" lang="en-US" sz="1400" u="none" cap="none" strike="noStrike">
                <a:solidFill>
                  <a:srgbClr val="2461C0"/>
                </a:solidFill>
                <a:latin typeface="Calibri"/>
                <a:ea typeface="Calibri"/>
                <a:cs typeface="Calibri"/>
                <a:sym typeface="Calibri"/>
              </a:rPr>
              <a:t>Data Audit</a:t>
            </a:r>
            <a:endParaRPr b="0" i="0" sz="1400" u="none" cap="none" strike="noStrike">
              <a:solidFill>
                <a:schemeClr val="dk1"/>
              </a:solidFill>
              <a:latin typeface="Calibri"/>
              <a:ea typeface="Calibri"/>
              <a:cs typeface="Calibri"/>
              <a:sym typeface="Calibri"/>
            </a:endParaRPr>
          </a:p>
        </p:txBody>
      </p:sp>
      <p:sp>
        <p:nvSpPr>
          <p:cNvPr id="189" name="Google Shape;189;p10"/>
          <p:cNvSpPr/>
          <p:nvPr/>
        </p:nvSpPr>
        <p:spPr>
          <a:xfrm>
            <a:off x="704088" y="2377440"/>
            <a:ext cx="32004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Checked schema, missing values, and duplicate rows before any changes.</a:t>
            </a:r>
            <a:endParaRPr b="0" i="0" sz="1150" u="none" cap="none" strike="noStrike">
              <a:solidFill>
                <a:schemeClr val="dk1"/>
              </a:solidFill>
              <a:latin typeface="Calibri"/>
              <a:ea typeface="Calibri"/>
              <a:cs typeface="Calibri"/>
              <a:sym typeface="Calibri"/>
            </a:endParaRPr>
          </a:p>
        </p:txBody>
      </p:sp>
      <p:sp>
        <p:nvSpPr>
          <p:cNvPr id="190" name="Google Shape;190;p10"/>
          <p:cNvSpPr/>
          <p:nvPr/>
        </p:nvSpPr>
        <p:spPr>
          <a:xfrm>
            <a:off x="4297680" y="1828800"/>
            <a:ext cx="3566160" cy="2103120"/>
          </a:xfrm>
          <a:prstGeom prst="roundRect">
            <a:avLst>
              <a:gd fmla="val 391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498848" y="1993392"/>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400"/>
              <a:buFont typeface="Calibri"/>
              <a:buNone/>
            </a:pPr>
            <a:r>
              <a:rPr b="1" i="0" lang="en-US" sz="1400" u="none" cap="none" strike="noStrike">
                <a:solidFill>
                  <a:srgbClr val="2461C0"/>
                </a:solidFill>
                <a:latin typeface="Calibri"/>
                <a:ea typeface="Calibri"/>
                <a:cs typeface="Calibri"/>
                <a:sym typeface="Calibri"/>
              </a:rPr>
              <a:t>Cleaning</a:t>
            </a:r>
            <a:endParaRPr b="0" i="0" sz="1400" u="none" cap="none" strike="noStrike">
              <a:solidFill>
                <a:schemeClr val="dk1"/>
              </a:solidFill>
              <a:latin typeface="Calibri"/>
              <a:ea typeface="Calibri"/>
              <a:cs typeface="Calibri"/>
              <a:sym typeface="Calibri"/>
            </a:endParaRPr>
          </a:p>
        </p:txBody>
      </p:sp>
      <p:sp>
        <p:nvSpPr>
          <p:cNvPr id="192" name="Google Shape;192;p10"/>
          <p:cNvSpPr/>
          <p:nvPr/>
        </p:nvSpPr>
        <p:spPr>
          <a:xfrm>
            <a:off x="4498848" y="2377440"/>
            <a:ext cx="32004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Standardized column names to snake_case; fixed mislabeled date columns; converted dates to datetime and columns to correct numeric/categorical types.</a:t>
            </a:r>
            <a:endParaRPr b="0" i="0" sz="1150" u="none" cap="none" strike="noStrike">
              <a:solidFill>
                <a:schemeClr val="dk1"/>
              </a:solidFill>
              <a:latin typeface="Calibri"/>
              <a:ea typeface="Calibri"/>
              <a:cs typeface="Calibri"/>
              <a:sym typeface="Calibri"/>
            </a:endParaRPr>
          </a:p>
        </p:txBody>
      </p:sp>
      <p:sp>
        <p:nvSpPr>
          <p:cNvPr id="193" name="Google Shape;193;p10"/>
          <p:cNvSpPr/>
          <p:nvPr/>
        </p:nvSpPr>
        <p:spPr>
          <a:xfrm>
            <a:off x="8092440" y="1828800"/>
            <a:ext cx="3566160" cy="2103120"/>
          </a:xfrm>
          <a:prstGeom prst="roundRect">
            <a:avLst>
              <a:gd fmla="val 391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8293608" y="1993392"/>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400"/>
              <a:buFont typeface="Calibri"/>
              <a:buNone/>
            </a:pPr>
            <a:r>
              <a:rPr b="1" i="0" lang="en-US" sz="1400" u="none" cap="none" strike="noStrike">
                <a:solidFill>
                  <a:srgbClr val="2461C0"/>
                </a:solidFill>
                <a:latin typeface="Calibri"/>
                <a:ea typeface="Calibri"/>
                <a:cs typeface="Calibri"/>
                <a:sym typeface="Calibri"/>
              </a:rPr>
              <a:t>Encoding</a:t>
            </a:r>
            <a:endParaRPr b="0" i="0" sz="1400" u="none" cap="none" strike="noStrike">
              <a:solidFill>
                <a:schemeClr val="dk1"/>
              </a:solidFill>
              <a:latin typeface="Calibri"/>
              <a:ea typeface="Calibri"/>
              <a:cs typeface="Calibri"/>
              <a:sym typeface="Calibri"/>
            </a:endParaRPr>
          </a:p>
        </p:txBody>
      </p:sp>
      <p:sp>
        <p:nvSpPr>
          <p:cNvPr id="195" name="Google Shape;195;p10"/>
          <p:cNvSpPr/>
          <p:nvPr/>
        </p:nvSpPr>
        <p:spPr>
          <a:xfrm>
            <a:off x="8293608" y="2377440"/>
            <a:ext cx="32004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OneHotEncoder for courier / weather / season; TargetEncoder for high-cardinality area / category.</a:t>
            </a:r>
            <a:endParaRPr b="0" i="0" sz="1150" u="none" cap="none" strike="noStrike">
              <a:solidFill>
                <a:schemeClr val="dk1"/>
              </a:solidFill>
              <a:latin typeface="Calibri"/>
              <a:ea typeface="Calibri"/>
              <a:cs typeface="Calibri"/>
              <a:sym typeface="Calibri"/>
            </a:endParaRPr>
          </a:p>
        </p:txBody>
      </p:sp>
      <p:sp>
        <p:nvSpPr>
          <p:cNvPr id="196" name="Google Shape;196;p10"/>
          <p:cNvSpPr/>
          <p:nvPr/>
        </p:nvSpPr>
        <p:spPr>
          <a:xfrm>
            <a:off x="502920" y="4160520"/>
            <a:ext cx="3566160" cy="2103120"/>
          </a:xfrm>
          <a:prstGeom prst="roundRect">
            <a:avLst>
              <a:gd fmla="val 391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704088" y="4325112"/>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400"/>
              <a:buFont typeface="Calibri"/>
              <a:buNone/>
            </a:pPr>
            <a:r>
              <a:rPr b="1" i="0" lang="en-US" sz="1400" u="none" cap="none" strike="noStrike">
                <a:solidFill>
                  <a:srgbClr val="2461C0"/>
                </a:solidFill>
                <a:latin typeface="Calibri"/>
                <a:ea typeface="Calibri"/>
                <a:cs typeface="Calibri"/>
                <a:sym typeface="Calibri"/>
              </a:rPr>
              <a:t>Scaling</a:t>
            </a:r>
            <a:endParaRPr b="0" i="0" sz="1400" u="none" cap="none" strike="noStrike">
              <a:solidFill>
                <a:schemeClr val="dk1"/>
              </a:solidFill>
              <a:latin typeface="Calibri"/>
              <a:ea typeface="Calibri"/>
              <a:cs typeface="Calibri"/>
              <a:sym typeface="Calibri"/>
            </a:endParaRPr>
          </a:p>
        </p:txBody>
      </p:sp>
      <p:sp>
        <p:nvSpPr>
          <p:cNvPr id="198" name="Google Shape;198;p10"/>
          <p:cNvSpPr/>
          <p:nvPr/>
        </p:nvSpPr>
        <p:spPr>
          <a:xfrm>
            <a:off x="704088" y="4709160"/>
            <a:ext cx="32004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StandardScaler applied to numeric features (expected_days, order_month, order_hour).</a:t>
            </a:r>
            <a:endParaRPr b="0" i="0" sz="1150" u="none" cap="none" strike="noStrike">
              <a:solidFill>
                <a:schemeClr val="dk1"/>
              </a:solidFill>
              <a:latin typeface="Calibri"/>
              <a:ea typeface="Calibri"/>
              <a:cs typeface="Calibri"/>
              <a:sym typeface="Calibri"/>
            </a:endParaRPr>
          </a:p>
        </p:txBody>
      </p:sp>
      <p:sp>
        <p:nvSpPr>
          <p:cNvPr id="199" name="Google Shape;199;p10"/>
          <p:cNvSpPr/>
          <p:nvPr/>
        </p:nvSpPr>
        <p:spPr>
          <a:xfrm>
            <a:off x="4297680" y="4160520"/>
            <a:ext cx="3566160" cy="2103120"/>
          </a:xfrm>
          <a:prstGeom prst="roundRect">
            <a:avLst>
              <a:gd fmla="val 391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4498848" y="4325112"/>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400"/>
              <a:buFont typeface="Calibri"/>
              <a:buNone/>
            </a:pPr>
            <a:r>
              <a:rPr b="1" i="0" lang="en-US" sz="1400" u="none" cap="none" strike="noStrike">
                <a:solidFill>
                  <a:srgbClr val="2461C0"/>
                </a:solidFill>
                <a:latin typeface="Calibri"/>
                <a:ea typeface="Calibri"/>
                <a:cs typeface="Calibri"/>
                <a:sym typeface="Calibri"/>
              </a:rPr>
              <a:t>Train/Test Split</a:t>
            </a:r>
            <a:endParaRPr b="0" i="0" sz="1400" u="none" cap="none" strike="noStrike">
              <a:solidFill>
                <a:schemeClr val="dk1"/>
              </a:solidFill>
              <a:latin typeface="Calibri"/>
              <a:ea typeface="Calibri"/>
              <a:cs typeface="Calibri"/>
              <a:sym typeface="Calibri"/>
            </a:endParaRPr>
          </a:p>
        </p:txBody>
      </p:sp>
      <p:sp>
        <p:nvSpPr>
          <p:cNvPr id="201" name="Google Shape;201;p10"/>
          <p:cNvSpPr/>
          <p:nvPr/>
        </p:nvSpPr>
        <p:spPr>
          <a:xfrm>
            <a:off x="4498848" y="4709160"/>
            <a:ext cx="32004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0" lang="en-US" sz="1150" u="none" cap="none" strike="noStrike">
                <a:solidFill>
                  <a:srgbClr val="1B2430"/>
                </a:solidFill>
                <a:latin typeface="Calibri"/>
                <a:ea typeface="Calibri"/>
                <a:cs typeface="Calibri"/>
                <a:sym typeface="Calibri"/>
              </a:rPr>
              <a:t>80/20 stratified split (random_state=42) to keep the late-order ratio consistent in both sets.</a:t>
            </a:r>
            <a:endParaRPr b="0" i="0" sz="1150" u="none" cap="none" strike="noStrike">
              <a:solidFill>
                <a:schemeClr val="dk1"/>
              </a:solidFill>
              <a:latin typeface="Calibri"/>
              <a:ea typeface="Calibri"/>
              <a:cs typeface="Calibri"/>
              <a:sym typeface="Calibri"/>
            </a:endParaRPr>
          </a:p>
        </p:txBody>
      </p:sp>
      <p:sp>
        <p:nvSpPr>
          <p:cNvPr id="202" name="Google Shape;202;p10"/>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Data Preprocessing</a:t>
            </a:r>
            <a:endParaRPr b="0" i="0" sz="900" u="none" cap="none" strike="noStrike">
              <a:solidFill>
                <a:schemeClr val="dk1"/>
              </a:solidFill>
              <a:latin typeface="Calibri"/>
              <a:ea typeface="Calibri"/>
              <a:cs typeface="Calibri"/>
              <a:sym typeface="Calibri"/>
            </a:endParaRPr>
          </a:p>
        </p:txBody>
      </p:sp>
      <p:sp>
        <p:nvSpPr>
          <p:cNvPr id="203" name="Google Shape;203;p10"/>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p:nvPr/>
        </p:nvSpPr>
        <p:spPr>
          <a:xfrm>
            <a:off x="138897" y="167400"/>
            <a:ext cx="11914200" cy="6523200"/>
          </a:xfrm>
          <a:prstGeom prst="roundRect">
            <a:avLst>
              <a:gd fmla="val 3913" name="adj"/>
            </a:avLst>
          </a:prstGeom>
          <a:solidFill>
            <a:srgbClr val="EAF1FC"/>
          </a:solidFill>
          <a:ln cap="flat" cmpd="sng" w="22400">
            <a:solidFill>
              <a:srgbClr val="D7E3F6"/>
            </a:solidFill>
            <a:prstDash val="solid"/>
            <a:round/>
            <a:headEnd len="sm" w="sm" type="none"/>
            <a:tailEnd len="sm" w="sm" type="none"/>
          </a:ln>
        </p:spPr>
        <p:txBody>
          <a:bodyPr anchorCtr="0" anchor="ctr" bIns="161225" lIns="161225" spcFirstLastPara="1" rIns="161225" wrap="square" tIns="161225">
            <a:noAutofit/>
          </a:bodyPr>
          <a:lstStyle/>
          <a:p>
            <a:pPr indent="0" lvl="0" marL="0" rtl="0" algn="l">
              <a:spcBef>
                <a:spcPts val="0"/>
              </a:spcBef>
              <a:spcAft>
                <a:spcPts val="0"/>
              </a:spcAft>
              <a:buNone/>
            </a:pPr>
            <a:r>
              <a:t/>
            </a:r>
            <a:endParaRPr/>
          </a:p>
        </p:txBody>
      </p:sp>
      <p:sp>
        <p:nvSpPr>
          <p:cNvPr id="210" name="Google Shape;210;p11"/>
          <p:cNvSpPr/>
          <p:nvPr/>
        </p:nvSpPr>
        <p:spPr>
          <a:xfrm>
            <a:off x="467655" y="491156"/>
            <a:ext cx="5643300" cy="645000"/>
          </a:xfrm>
          <a:prstGeom prst="rect">
            <a:avLst/>
          </a:prstGeom>
          <a:noFill/>
          <a:ln>
            <a:noFill/>
          </a:ln>
        </p:spPr>
        <p:txBody>
          <a:bodyPr anchorCtr="0" anchor="ctr" bIns="80575" lIns="161225" spcFirstLastPara="1" rIns="161225" wrap="square" tIns="80575">
            <a:noAutofit/>
          </a:bodyPr>
          <a:lstStyle/>
          <a:p>
            <a:pPr indent="0" lvl="0" marL="0" marR="0" rtl="0" algn="l">
              <a:spcBef>
                <a:spcPts val="0"/>
              </a:spcBef>
              <a:spcAft>
                <a:spcPts val="0"/>
              </a:spcAft>
              <a:buClr>
                <a:srgbClr val="2461C0"/>
              </a:buClr>
              <a:buSzPts val="2469"/>
              <a:buFont typeface="Calibri"/>
              <a:buNone/>
            </a:pPr>
            <a:r>
              <a:rPr b="1" i="0" lang="en-US" sz="2469" u="none" cap="none" strike="noStrike">
                <a:solidFill>
                  <a:srgbClr val="2461C0"/>
                </a:solidFill>
                <a:latin typeface="Calibri"/>
                <a:ea typeface="Calibri"/>
                <a:cs typeface="Calibri"/>
                <a:sym typeface="Calibri"/>
              </a:rPr>
              <a:t>Data Audit </a:t>
            </a:r>
            <a:r>
              <a:rPr b="1" lang="en-US" sz="2469">
                <a:solidFill>
                  <a:srgbClr val="2461C0"/>
                </a:solidFill>
                <a:latin typeface="Calibri"/>
                <a:ea typeface="Calibri"/>
                <a:cs typeface="Calibri"/>
                <a:sym typeface="Calibri"/>
              </a:rPr>
              <a:t>&amp; Quality Checks</a:t>
            </a:r>
            <a:endParaRPr b="0" i="0" sz="2469" u="none" cap="none" strike="noStrike">
              <a:solidFill>
                <a:schemeClr val="dk1"/>
              </a:solidFill>
              <a:latin typeface="Calibri"/>
              <a:ea typeface="Calibri"/>
              <a:cs typeface="Calibri"/>
              <a:sym typeface="Calibri"/>
            </a:endParaRPr>
          </a:p>
        </p:txBody>
      </p:sp>
      <p:sp>
        <p:nvSpPr>
          <p:cNvPr id="211" name="Google Shape;211;p11"/>
          <p:cNvSpPr/>
          <p:nvPr/>
        </p:nvSpPr>
        <p:spPr>
          <a:xfrm>
            <a:off x="365905" y="491138"/>
            <a:ext cx="5643300" cy="2580000"/>
          </a:xfrm>
          <a:prstGeom prst="rect">
            <a:avLst/>
          </a:prstGeom>
          <a:noFill/>
          <a:ln>
            <a:noFill/>
          </a:ln>
        </p:spPr>
        <p:txBody>
          <a:bodyPr anchorCtr="0" anchor="ctr" bIns="80575" lIns="161225" spcFirstLastPara="1" rIns="161225" wrap="square" tIns="80575">
            <a:noAutofit/>
          </a:bodyPr>
          <a:lstStyle/>
          <a:p>
            <a:pPr indent="0" lvl="0" marL="0" marR="0" rtl="0" algn="l">
              <a:spcBef>
                <a:spcPts val="0"/>
              </a:spcBef>
              <a:spcAft>
                <a:spcPts val="0"/>
              </a:spcAft>
              <a:buClr>
                <a:srgbClr val="1B2430"/>
              </a:buClr>
              <a:buSzPts val="2028"/>
              <a:buFont typeface="Calibri"/>
              <a:buNone/>
            </a:pPr>
            <a:r>
              <a:rPr b="1" lang="en-US" sz="2028">
                <a:solidFill>
                  <a:schemeClr val="dk1"/>
                </a:solidFill>
                <a:latin typeface="Calibri"/>
                <a:ea typeface="Calibri"/>
                <a:cs typeface="Calibri"/>
                <a:sym typeface="Calibri"/>
              </a:rPr>
              <a:t>                                Top 10 Missing values columns</a:t>
            </a:r>
            <a:endParaRPr b="1" sz="2028">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2028"/>
              <a:buFont typeface="Calibri"/>
              <a:buNone/>
            </a:pPr>
            <a:r>
              <a:t/>
            </a:r>
            <a:endParaRPr sz="2028">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2028"/>
              <a:buFont typeface="Calibri"/>
              <a:buNone/>
            </a:pPr>
            <a:r>
              <a:t/>
            </a:r>
            <a:endParaRPr sz="2028">
              <a:solidFill>
                <a:schemeClr val="dk1"/>
              </a:solidFill>
              <a:latin typeface="Calibri"/>
              <a:ea typeface="Calibri"/>
              <a:cs typeface="Calibri"/>
              <a:sym typeface="Calibri"/>
            </a:endParaRPr>
          </a:p>
        </p:txBody>
      </p:sp>
      <p:pic>
        <p:nvPicPr>
          <p:cNvPr id="212" name="Google Shape;212;p11"/>
          <p:cNvPicPr preferRelativeResize="0"/>
          <p:nvPr/>
        </p:nvPicPr>
        <p:blipFill>
          <a:blip r:embed="rId3">
            <a:alphaModFix/>
          </a:blip>
          <a:stretch>
            <a:fillRect/>
          </a:stretch>
        </p:blipFill>
        <p:spPr>
          <a:xfrm>
            <a:off x="365911" y="1796428"/>
            <a:ext cx="7236874" cy="4418775"/>
          </a:xfrm>
          <a:prstGeom prst="rect">
            <a:avLst/>
          </a:prstGeom>
          <a:noFill/>
          <a:ln>
            <a:noFill/>
          </a:ln>
        </p:spPr>
      </p:pic>
      <p:sp>
        <p:nvSpPr>
          <p:cNvPr id="213" name="Google Shape;213;p11"/>
          <p:cNvSpPr txBox="1"/>
          <p:nvPr/>
        </p:nvSpPr>
        <p:spPr>
          <a:xfrm>
            <a:off x="7941025" y="1796425"/>
            <a:ext cx="4010100" cy="15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Example for Imputation</a:t>
            </a:r>
            <a:r>
              <a:rPr b="1" lang="en-US"/>
              <a:t>: </a:t>
            </a:r>
            <a:endParaRPr b="1"/>
          </a:p>
          <a:p>
            <a:pPr indent="0" lvl="0" marL="0" rtl="0" algn="l">
              <a:spcBef>
                <a:spcPts val="0"/>
              </a:spcBef>
              <a:spcAft>
                <a:spcPts val="0"/>
              </a:spcAft>
              <a:buNone/>
            </a:pPr>
            <a:r>
              <a:rPr lang="en-US"/>
              <a:t>refund_method had NaN </a:t>
            </a:r>
            <a:endParaRPr/>
          </a:p>
          <a:p>
            <a:pPr indent="0" lvl="0" marL="0" rtl="0" algn="l">
              <a:spcBef>
                <a:spcPts val="0"/>
              </a:spcBef>
              <a:spcAft>
                <a:spcPts val="0"/>
              </a:spcAft>
              <a:buNone/>
            </a:pPr>
            <a:br>
              <a:rPr lang="en-US"/>
            </a:br>
            <a:r>
              <a:rPr lang="en-US"/>
              <a:t>This means that we dont need to drop it, because logically there were no refund reason at all, so we filled it with </a:t>
            </a:r>
            <a:r>
              <a:rPr b="1" lang="en-US"/>
              <a:t>None</a:t>
            </a:r>
            <a:r>
              <a:rPr lang="en-US"/>
              <a:t> instead of </a:t>
            </a:r>
            <a:r>
              <a:rPr b="1" lang="en-US"/>
              <a:t>NaN</a:t>
            </a:r>
            <a:endParaRPr b="1"/>
          </a:p>
        </p:txBody>
      </p:sp>
      <p:sp>
        <p:nvSpPr>
          <p:cNvPr id="214" name="Google Shape;214;p11"/>
          <p:cNvSpPr txBox="1"/>
          <p:nvPr/>
        </p:nvSpPr>
        <p:spPr>
          <a:xfrm>
            <a:off x="7941025" y="3736225"/>
            <a:ext cx="40101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Same for complaint_text</a:t>
            </a:r>
            <a:br>
              <a:rPr lang="en-US"/>
            </a:br>
            <a:r>
              <a:rPr lang="en-US"/>
              <a:t>There were no complaint, so we filled it with </a:t>
            </a:r>
            <a:r>
              <a:rPr b="1" lang="en-US"/>
              <a:t>None</a:t>
            </a:r>
            <a:r>
              <a:rPr lang="en-US"/>
              <a:t> instead of </a:t>
            </a:r>
            <a:r>
              <a:rPr b="1" lang="en-US"/>
              <a:t>NaN</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p:nvPr/>
        </p:nvSpPr>
        <p:spPr>
          <a:xfrm>
            <a:off x="138897" y="167400"/>
            <a:ext cx="11914200" cy="6523200"/>
          </a:xfrm>
          <a:prstGeom prst="roundRect">
            <a:avLst>
              <a:gd fmla="val 3913" name="adj"/>
            </a:avLst>
          </a:prstGeom>
          <a:solidFill>
            <a:srgbClr val="EAF1FC"/>
          </a:solidFill>
          <a:ln cap="flat" cmpd="sng" w="22400">
            <a:solidFill>
              <a:srgbClr val="D7E3F6"/>
            </a:solidFill>
            <a:prstDash val="solid"/>
            <a:round/>
            <a:headEnd len="sm" w="sm" type="none"/>
            <a:tailEnd len="sm" w="sm" type="none"/>
          </a:ln>
        </p:spPr>
        <p:txBody>
          <a:bodyPr anchorCtr="0" anchor="ctr" bIns="161225" lIns="161225" spcFirstLastPara="1" rIns="161225" wrap="square" tIns="161225">
            <a:noAutofit/>
          </a:bodyPr>
          <a:lstStyle/>
          <a:p>
            <a:pPr indent="0" lvl="0" marL="0" rtl="0" algn="l">
              <a:spcBef>
                <a:spcPts val="0"/>
              </a:spcBef>
              <a:spcAft>
                <a:spcPts val="0"/>
              </a:spcAft>
              <a:buNone/>
            </a:pPr>
            <a:r>
              <a:t/>
            </a:r>
            <a:endParaRPr sz="1800"/>
          </a:p>
        </p:txBody>
      </p:sp>
      <p:sp>
        <p:nvSpPr>
          <p:cNvPr id="221" name="Google Shape;221;p12"/>
          <p:cNvSpPr/>
          <p:nvPr/>
        </p:nvSpPr>
        <p:spPr>
          <a:xfrm>
            <a:off x="467655" y="491156"/>
            <a:ext cx="5643300" cy="645000"/>
          </a:xfrm>
          <a:prstGeom prst="rect">
            <a:avLst/>
          </a:prstGeom>
          <a:noFill/>
          <a:ln>
            <a:noFill/>
          </a:ln>
        </p:spPr>
        <p:txBody>
          <a:bodyPr anchorCtr="0" anchor="ctr" bIns="80575" lIns="161225" spcFirstLastPara="1" rIns="161225" wrap="square" tIns="80575">
            <a:noAutofit/>
          </a:bodyPr>
          <a:lstStyle/>
          <a:p>
            <a:pPr indent="0" lvl="0" marL="0" marR="0" rtl="0" algn="l">
              <a:spcBef>
                <a:spcPts val="0"/>
              </a:spcBef>
              <a:spcAft>
                <a:spcPts val="0"/>
              </a:spcAft>
              <a:buClr>
                <a:srgbClr val="2461C0"/>
              </a:buClr>
              <a:buSzPts val="2469"/>
              <a:buFont typeface="Calibri"/>
              <a:buNone/>
            </a:pPr>
            <a:r>
              <a:rPr b="1" i="0" lang="en-US" sz="2469" u="none" cap="none" strike="noStrike">
                <a:solidFill>
                  <a:srgbClr val="2461C0"/>
                </a:solidFill>
                <a:latin typeface="Calibri"/>
                <a:ea typeface="Calibri"/>
                <a:cs typeface="Calibri"/>
                <a:sym typeface="Calibri"/>
              </a:rPr>
              <a:t>Data Audit </a:t>
            </a:r>
            <a:r>
              <a:rPr b="1" lang="en-US" sz="2469">
                <a:solidFill>
                  <a:srgbClr val="2461C0"/>
                </a:solidFill>
                <a:latin typeface="Calibri"/>
                <a:ea typeface="Calibri"/>
                <a:cs typeface="Calibri"/>
                <a:sym typeface="Calibri"/>
              </a:rPr>
              <a:t>&amp; Quality Checks</a:t>
            </a:r>
            <a:endParaRPr b="0" i="0" sz="2469" u="none" cap="none" strike="noStrike">
              <a:solidFill>
                <a:schemeClr val="dk1"/>
              </a:solidFill>
              <a:latin typeface="Calibri"/>
              <a:ea typeface="Calibri"/>
              <a:cs typeface="Calibri"/>
              <a:sym typeface="Calibri"/>
            </a:endParaRPr>
          </a:p>
        </p:txBody>
      </p:sp>
      <p:sp>
        <p:nvSpPr>
          <p:cNvPr id="222" name="Google Shape;222;p12"/>
          <p:cNvSpPr/>
          <p:nvPr/>
        </p:nvSpPr>
        <p:spPr>
          <a:xfrm>
            <a:off x="365905" y="491138"/>
            <a:ext cx="5643300" cy="2580000"/>
          </a:xfrm>
          <a:prstGeom prst="rect">
            <a:avLst/>
          </a:prstGeom>
          <a:noFill/>
          <a:ln>
            <a:noFill/>
          </a:ln>
        </p:spPr>
        <p:txBody>
          <a:bodyPr anchorCtr="0" anchor="ctr" bIns="80575" lIns="161225" spcFirstLastPara="1" rIns="161225" wrap="square" tIns="80575">
            <a:noAutofit/>
          </a:bodyPr>
          <a:lstStyle/>
          <a:p>
            <a:pPr indent="0" lvl="0" marL="0" marR="0" rtl="0" algn="l">
              <a:spcBef>
                <a:spcPts val="0"/>
              </a:spcBef>
              <a:spcAft>
                <a:spcPts val="0"/>
              </a:spcAft>
              <a:buClr>
                <a:srgbClr val="1B2430"/>
              </a:buClr>
              <a:buSzPts val="2028"/>
              <a:buFont typeface="Calibri"/>
              <a:buNone/>
            </a:pPr>
            <a:r>
              <a:rPr b="1" lang="en-US" sz="2328" u="sng">
                <a:solidFill>
                  <a:schemeClr val="dk1"/>
                </a:solidFill>
                <a:latin typeface="Calibri"/>
                <a:ea typeface="Calibri"/>
                <a:cs typeface="Calibri"/>
                <a:sym typeface="Calibri"/>
              </a:rPr>
              <a:t>Duplicates and Hidden nulls</a:t>
            </a:r>
            <a:endParaRPr b="1" sz="2328" u="sng">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2028"/>
              <a:buFont typeface="Calibri"/>
              <a:buNone/>
            </a:pPr>
            <a:r>
              <a:t/>
            </a:r>
            <a:endParaRPr sz="2028">
              <a:solidFill>
                <a:schemeClr val="dk1"/>
              </a:solidFill>
              <a:latin typeface="Calibri"/>
              <a:ea typeface="Calibri"/>
              <a:cs typeface="Calibri"/>
              <a:sym typeface="Calibri"/>
            </a:endParaRPr>
          </a:p>
        </p:txBody>
      </p:sp>
      <p:sp>
        <p:nvSpPr>
          <p:cNvPr id="223" name="Google Shape;223;p12"/>
          <p:cNvSpPr txBox="1"/>
          <p:nvPr/>
        </p:nvSpPr>
        <p:spPr>
          <a:xfrm>
            <a:off x="6895250" y="1796425"/>
            <a:ext cx="5055900" cy="99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t>Hidden Nulls example:</a:t>
            </a:r>
            <a:endParaRPr b="1" sz="2000"/>
          </a:p>
          <a:p>
            <a:pPr indent="0" lvl="0" marL="0" rtl="0" algn="l">
              <a:lnSpc>
                <a:spcPct val="135714"/>
              </a:lnSpc>
              <a:spcBef>
                <a:spcPts val="0"/>
              </a:spcBef>
              <a:spcAft>
                <a:spcPts val="0"/>
              </a:spcAft>
              <a:buClr>
                <a:schemeClr val="dk1"/>
              </a:buClr>
              <a:buSzPts val="1100"/>
              <a:buFont typeface="Arial"/>
              <a:buNone/>
            </a:pPr>
            <a:r>
              <a:rPr b="1" lang="en-US" sz="1350">
                <a:solidFill>
                  <a:schemeClr val="dk1"/>
                </a:solidFill>
                <a:highlight>
                  <a:schemeClr val="lt1"/>
                </a:highlight>
                <a:latin typeface="Consolas"/>
                <a:ea typeface="Consolas"/>
                <a:cs typeface="Consolas"/>
                <a:sym typeface="Consolas"/>
              </a:rPr>
              <a:t>'NA', 'N/A', 'Null', '-', 'null', ' ', ''</a:t>
            </a:r>
            <a:endParaRPr b="1" sz="1350">
              <a:solidFill>
                <a:schemeClr val="dk1"/>
              </a:solidFill>
              <a:highlight>
                <a:schemeClr val="lt1"/>
              </a:highlight>
              <a:latin typeface="Consolas"/>
              <a:ea typeface="Consolas"/>
              <a:cs typeface="Consolas"/>
              <a:sym typeface="Consolas"/>
            </a:endParaRPr>
          </a:p>
          <a:p>
            <a:pPr indent="0" lvl="0" marL="0" rtl="0" algn="l">
              <a:spcBef>
                <a:spcPts val="0"/>
              </a:spcBef>
              <a:spcAft>
                <a:spcPts val="0"/>
              </a:spcAft>
              <a:buNone/>
            </a:pPr>
            <a:r>
              <a:t/>
            </a:r>
            <a:endParaRPr b="1"/>
          </a:p>
        </p:txBody>
      </p:sp>
      <p:sp>
        <p:nvSpPr>
          <p:cNvPr id="224" name="Google Shape;224;p12"/>
          <p:cNvSpPr txBox="1"/>
          <p:nvPr/>
        </p:nvSpPr>
        <p:spPr>
          <a:xfrm>
            <a:off x="6895250" y="3071150"/>
            <a:ext cx="44685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t>We found some hidden nulls:</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rPr lang="en-US" sz="1450">
                <a:solidFill>
                  <a:schemeClr val="dk1"/>
                </a:solidFill>
                <a:latin typeface="Consolas"/>
                <a:ea typeface="Consolas"/>
                <a:cs typeface="Consolas"/>
                <a:sym typeface="Consolas"/>
              </a:rPr>
              <a:t>--- 5. HIDDEN NULLS ---</a:t>
            </a:r>
            <a:endParaRPr sz="1450">
              <a:solidFill>
                <a:schemeClr val="dk1"/>
              </a:solidFill>
              <a:latin typeface="Consolas"/>
              <a:ea typeface="Consolas"/>
              <a:cs typeface="Consolas"/>
              <a:sym typeface="Consolas"/>
            </a:endParaRPr>
          </a:p>
          <a:p>
            <a:pPr indent="0" lvl="0" marL="0" rtl="0" algn="l">
              <a:spcBef>
                <a:spcPts val="0"/>
              </a:spcBef>
              <a:spcAft>
                <a:spcPts val="0"/>
              </a:spcAft>
              <a:buNone/>
            </a:pPr>
            <a:r>
              <a:rPr lang="en-US" sz="1450">
                <a:solidFill>
                  <a:schemeClr val="dk1"/>
                </a:solidFill>
                <a:latin typeface="Consolas"/>
                <a:ea typeface="Consolas"/>
                <a:cs typeface="Consolas"/>
                <a:sym typeface="Consolas"/>
              </a:rPr>
              <a:t>Found hidden nulls in the following columns:</a:t>
            </a:r>
            <a:endParaRPr sz="1450">
              <a:solidFill>
                <a:schemeClr val="dk1"/>
              </a:solidFill>
              <a:latin typeface="Consolas"/>
              <a:ea typeface="Consolas"/>
              <a:cs typeface="Consolas"/>
              <a:sym typeface="Consolas"/>
            </a:endParaRPr>
          </a:p>
          <a:p>
            <a:pPr indent="0" lvl="0" marL="0" rtl="0" algn="l">
              <a:spcBef>
                <a:spcPts val="0"/>
              </a:spcBef>
              <a:spcAft>
                <a:spcPts val="0"/>
              </a:spcAft>
              <a:buNone/>
            </a:pPr>
            <a:r>
              <a:rPr lang="en-US" sz="1450">
                <a:solidFill>
                  <a:schemeClr val="dk1"/>
                </a:solidFill>
                <a:latin typeface="Consolas"/>
                <a:ea typeface="Consolas"/>
                <a:cs typeface="Consolas"/>
                <a:sym typeface="Consolas"/>
              </a:rPr>
              <a:t> - review_comment_title: 3 hidden nulls</a:t>
            </a:r>
            <a:endParaRPr sz="1450">
              <a:solidFill>
                <a:schemeClr val="dk1"/>
              </a:solidFill>
              <a:latin typeface="Consolas"/>
              <a:ea typeface="Consolas"/>
              <a:cs typeface="Consolas"/>
              <a:sym typeface="Consolas"/>
            </a:endParaRPr>
          </a:p>
          <a:p>
            <a:pPr indent="0" lvl="0" marL="0" rtl="0" algn="l">
              <a:spcBef>
                <a:spcPts val="0"/>
              </a:spcBef>
              <a:spcAft>
                <a:spcPts val="0"/>
              </a:spcAft>
              <a:buNone/>
            </a:pPr>
            <a:r>
              <a:rPr lang="en-US" sz="1450">
                <a:solidFill>
                  <a:schemeClr val="dk1"/>
                </a:solidFill>
                <a:latin typeface="Consolas"/>
                <a:ea typeface="Consolas"/>
                <a:cs typeface="Consolas"/>
                <a:sym typeface="Consolas"/>
              </a:rPr>
              <a:t> - review_comment_message: 33 hidden nulls</a:t>
            </a:r>
            <a:r>
              <a:rPr lang="en-US" sz="1500">
                <a:solidFill>
                  <a:schemeClr val="dk1"/>
                </a:solidFill>
              </a:rPr>
              <a:t> </a:t>
            </a:r>
            <a:endParaRPr b="1" sz="1800">
              <a:solidFill>
                <a:schemeClr val="dk1"/>
              </a:solidFill>
            </a:endParaRPr>
          </a:p>
        </p:txBody>
      </p:sp>
      <p:sp>
        <p:nvSpPr>
          <p:cNvPr id="225" name="Google Shape;225;p12"/>
          <p:cNvSpPr txBox="1"/>
          <p:nvPr/>
        </p:nvSpPr>
        <p:spPr>
          <a:xfrm>
            <a:off x="467650" y="2280425"/>
            <a:ext cx="58551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800">
                <a:solidFill>
                  <a:schemeClr val="dk1"/>
                </a:solidFill>
              </a:rPr>
              <a:t>We found out that there we no duplicates in our dataset:</a:t>
            </a:r>
            <a:endParaRPr b="1" sz="1800">
              <a:solidFill>
                <a:schemeClr val="dk1"/>
              </a:solidFill>
            </a:endParaRPr>
          </a:p>
          <a:p>
            <a:pPr indent="0" lvl="0" marL="0" rtl="0" algn="l">
              <a:spcBef>
                <a:spcPts val="0"/>
              </a:spcBef>
              <a:spcAft>
                <a:spcPts val="0"/>
              </a:spcAft>
              <a:buNone/>
            </a:pPr>
            <a:r>
              <a:t/>
            </a:r>
            <a:endParaRPr/>
          </a:p>
        </p:txBody>
      </p:sp>
      <p:sp>
        <p:nvSpPr>
          <p:cNvPr id="226" name="Google Shape;226;p12"/>
          <p:cNvSpPr txBox="1"/>
          <p:nvPr/>
        </p:nvSpPr>
        <p:spPr>
          <a:xfrm>
            <a:off x="554150" y="3071150"/>
            <a:ext cx="4538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t>--- 4. DUPLICATES ---</a:t>
            </a:r>
            <a:endParaRPr/>
          </a:p>
          <a:p>
            <a:pPr indent="0" lvl="0" marL="0" rtl="0" algn="l">
              <a:spcBef>
                <a:spcPts val="0"/>
              </a:spcBef>
              <a:spcAft>
                <a:spcPts val="0"/>
              </a:spcAft>
              <a:buClr>
                <a:schemeClr val="dk1"/>
              </a:buClr>
              <a:buSzPts val="1100"/>
              <a:buFont typeface="Arial"/>
              <a:buNone/>
            </a:pPr>
            <a:r>
              <a:rPr lang="en-US"/>
              <a:t>Exact row duplicates: 0</a:t>
            </a:r>
            <a:endParaRPr/>
          </a:p>
          <a:p>
            <a:pPr indent="0" lvl="0" marL="0" rtl="0" algn="l">
              <a:spcBef>
                <a:spcPts val="0"/>
              </a:spcBef>
              <a:spcAft>
                <a:spcPts val="0"/>
              </a:spcAft>
              <a:buClr>
                <a:schemeClr val="dk1"/>
              </a:buClr>
              <a:buSzPts val="1100"/>
              <a:buFont typeface="Arial"/>
              <a:buNone/>
            </a:pPr>
            <a:r>
              <a:rPr lang="en-US"/>
              <a:t>Rows with a duplicate Order_ID: 24920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--- 5. HIDDEN NULLS ---</a:t>
            </a:r>
            <a:endParaRPr/>
          </a:p>
          <a:p>
            <a:pPr indent="0" lvl="0" marL="0" rtl="0" algn="l">
              <a:spcBef>
                <a:spcPts val="0"/>
              </a:spcBef>
              <a:spcAft>
                <a:spcPts val="0"/>
              </a:spcAft>
              <a:buClr>
                <a:schemeClr val="dk1"/>
              </a:buClr>
              <a:buSzPts val="1100"/>
              <a:buFont typeface="Arial"/>
              <a:buNone/>
            </a:pPr>
            <a:r>
              <a:rPr lang="en-US"/>
              <a:t>Found hidden nulls in the following columns:</a:t>
            </a:r>
            <a:endParaRPr/>
          </a:p>
          <a:p>
            <a:pPr indent="0" lvl="0" marL="0" rtl="0" algn="l">
              <a:spcBef>
                <a:spcPts val="0"/>
              </a:spcBef>
              <a:spcAft>
                <a:spcPts val="0"/>
              </a:spcAft>
              <a:buClr>
                <a:schemeClr val="dk1"/>
              </a:buClr>
              <a:buSzPts val="1100"/>
              <a:buFont typeface="Arial"/>
              <a:buNone/>
            </a:pPr>
            <a:r>
              <a:rPr lang="en-US"/>
              <a:t> - review_comment_title: 3 hidden nulls</a:t>
            </a:r>
            <a:endParaRPr/>
          </a:p>
          <a:p>
            <a:pPr indent="0" lvl="0" marL="0" rtl="0" algn="l">
              <a:spcBef>
                <a:spcPts val="0"/>
              </a:spcBef>
              <a:spcAft>
                <a:spcPts val="0"/>
              </a:spcAft>
              <a:buClr>
                <a:schemeClr val="dk1"/>
              </a:buClr>
              <a:buSzPts val="1100"/>
              <a:buFont typeface="Arial"/>
              <a:buNone/>
            </a:pPr>
            <a:r>
              <a:rPr lang="en-US"/>
              <a:t> - review_comment_message: 33 hidden nulls</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nvSpPr>
        <p:spPr>
          <a:xfrm>
            <a:off x="228600" y="123800"/>
            <a:ext cx="11595000" cy="6363900"/>
          </a:xfrm>
          <a:prstGeom prst="rect">
            <a:avLst/>
          </a:prstGeom>
          <a:solidFill>
            <a:srgbClr val="EAF1F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Feature Engineering — Preprocessing Notebook</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1. Revenue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gross_revenue</a:t>
            </a:r>
            <a:r>
              <a:rPr lang="en-US" sz="1100">
                <a:solidFill>
                  <a:schemeClr val="dk1"/>
                </a:solidFill>
              </a:rPr>
              <a:t> = unit_price × quantity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Auto-detects discount format (% vs decimal) before calculating </a:t>
            </a:r>
            <a:r>
              <a:rPr lang="en-US" sz="1100">
                <a:solidFill>
                  <a:srgbClr val="188038"/>
                </a:solidFill>
                <a:latin typeface="Roboto Mono"/>
                <a:ea typeface="Roboto Mono"/>
                <a:cs typeface="Roboto Mono"/>
                <a:sym typeface="Roboto Mono"/>
              </a:rPr>
              <a:t>discount_amount</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net_revenue</a:t>
            </a:r>
            <a:r>
              <a:rPr lang="en-US" sz="1100">
                <a:solidFill>
                  <a:schemeClr val="dk1"/>
                </a:solidFill>
              </a:rPr>
              <a:t> = gross_revenue − discount_amount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2. Delivery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delivery_delay</a:t>
            </a:r>
            <a:r>
              <a:rPr lang="en-US" sz="1100">
                <a:solidFill>
                  <a:schemeClr val="dk1"/>
                </a:solidFill>
              </a:rPr>
              <a:t> = full date subtraction (actual − expected), then </a:t>
            </a:r>
            <a:r>
              <a:rPr lang="en-US" sz="1100">
                <a:solidFill>
                  <a:srgbClr val="188038"/>
                </a:solidFill>
                <a:latin typeface="Roboto Mono"/>
                <a:ea typeface="Roboto Mono"/>
                <a:cs typeface="Roboto Mono"/>
                <a:sym typeface="Roboto Mono"/>
              </a:rPr>
              <a:t>.dt.days</a:t>
            </a:r>
            <a:r>
              <a:rPr lang="en-US" sz="1100">
                <a:solidFill>
                  <a:schemeClr val="dk1"/>
                </a:solidFill>
              </a:rPr>
              <a:t>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is_late</a:t>
            </a:r>
            <a:r>
              <a:rPr lang="en-US" sz="1100">
                <a:solidFill>
                  <a:schemeClr val="dk1"/>
                </a:solidFill>
              </a:rPr>
              <a:t> = 1 if </a:t>
            </a:r>
            <a:r>
              <a:rPr lang="en-US" sz="1100">
                <a:solidFill>
                  <a:srgbClr val="188038"/>
                </a:solidFill>
                <a:latin typeface="Roboto Mono"/>
                <a:ea typeface="Roboto Mono"/>
                <a:cs typeface="Roboto Mono"/>
                <a:sym typeface="Roboto Mono"/>
              </a:rPr>
              <a:t>delivery_delay &gt; 0</a:t>
            </a:r>
            <a:r>
              <a:rPr lang="en-US" sz="1100">
                <a:solidFill>
                  <a:schemeClr val="dk1"/>
                </a:solidFill>
              </a:rPr>
              <a:t>, else 0</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3. Pricing</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price_gap</a:t>
            </a:r>
            <a:r>
              <a:rPr lang="en-US" sz="1100">
                <a:solidFill>
                  <a:schemeClr val="dk1"/>
                </a:solidFill>
              </a:rPr>
              <a:t> = unit_price − competitor_price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is_pricier</a:t>
            </a:r>
            <a:r>
              <a:rPr lang="en-US" sz="1100">
                <a:solidFill>
                  <a:schemeClr val="dk1"/>
                </a:solidFill>
              </a:rPr>
              <a:t> = 1 if </a:t>
            </a:r>
            <a:r>
              <a:rPr lang="en-US" sz="1100">
                <a:solidFill>
                  <a:srgbClr val="188038"/>
                </a:solidFill>
                <a:latin typeface="Roboto Mono"/>
                <a:ea typeface="Roboto Mono"/>
                <a:cs typeface="Roboto Mono"/>
                <a:sym typeface="Roboto Mono"/>
              </a:rPr>
              <a:t>price_gap &gt; 0</a:t>
            </a:r>
            <a:r>
              <a:rPr lang="en-US" sz="1100">
                <a:solidFill>
                  <a:schemeClr val="dk1"/>
                </a:solidFill>
              </a:rPr>
              <a:t>, else 0</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4. Time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Extracted </a:t>
            </a:r>
            <a:r>
              <a:rPr lang="en-US" sz="1100">
                <a:solidFill>
                  <a:srgbClr val="188038"/>
                </a:solidFill>
                <a:latin typeface="Roboto Mono"/>
                <a:ea typeface="Roboto Mono"/>
                <a:cs typeface="Roboto Mono"/>
                <a:sym typeface="Roboto Mono"/>
              </a:rPr>
              <a:t>order_month</a:t>
            </a:r>
            <a:r>
              <a:rPr lang="en-US" sz="1100">
                <a:solidFill>
                  <a:schemeClr val="dk1"/>
                </a:solidFill>
              </a:rPr>
              <a:t>, </a:t>
            </a:r>
            <a:r>
              <a:rPr lang="en-US" sz="1100">
                <a:solidFill>
                  <a:srgbClr val="188038"/>
                </a:solidFill>
                <a:latin typeface="Roboto Mono"/>
                <a:ea typeface="Roboto Mono"/>
                <a:cs typeface="Roboto Mono"/>
                <a:sym typeface="Roboto Mono"/>
              </a:rPr>
              <a:t>order_weekday</a:t>
            </a:r>
            <a:r>
              <a:rPr lang="en-US" sz="1100">
                <a:solidFill>
                  <a:schemeClr val="dk1"/>
                </a:solidFill>
              </a:rPr>
              <a:t>, </a:t>
            </a:r>
            <a:r>
              <a:rPr lang="en-US" sz="1100">
                <a:solidFill>
                  <a:srgbClr val="188038"/>
                </a:solidFill>
                <a:latin typeface="Roboto Mono"/>
                <a:ea typeface="Roboto Mono"/>
                <a:cs typeface="Roboto Mono"/>
                <a:sym typeface="Roboto Mono"/>
              </a:rPr>
              <a:t>order_hour</a:t>
            </a:r>
            <a:r>
              <a:rPr lang="en-US" sz="1100">
                <a:solidFill>
                  <a:schemeClr val="dk1"/>
                </a:solidFill>
              </a:rPr>
              <a:t> from </a:t>
            </a:r>
            <a:r>
              <a:rPr lang="en-US" sz="1100">
                <a:solidFill>
                  <a:srgbClr val="188038"/>
                </a:solidFill>
                <a:latin typeface="Roboto Mono"/>
                <a:ea typeface="Roboto Mono"/>
                <a:cs typeface="Roboto Mono"/>
                <a:sym typeface="Roboto Mono"/>
              </a:rPr>
              <a:t>order_date</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is_weekend</a:t>
            </a:r>
            <a:r>
              <a:rPr lang="en-US" sz="1100">
                <a:solidFill>
                  <a:schemeClr val="dk1"/>
                </a:solidFill>
              </a:rPr>
              <a:t> = 1 if weekday is Saturday/Sunday (5,6)</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5. Customer</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age_group</a:t>
            </a:r>
            <a:r>
              <a:rPr lang="en-US" sz="1100">
                <a:solidFill>
                  <a:schemeClr val="dk1"/>
                </a:solidFill>
              </a:rPr>
              <a:t> = binned age into 6 categories (U18, 18-25, 26-35, 36-45, 46-55, 55+)</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6. Stock</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low_stock_flag</a:t>
            </a:r>
            <a:r>
              <a:rPr lang="en-US" sz="1100">
                <a:solidFill>
                  <a:schemeClr val="dk1"/>
                </a:solidFill>
              </a:rPr>
              <a:t> = 1 if stock ≤ 10th percentile of stock levels</a:t>
            </a:r>
            <a:endParaRPr sz="11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4"/>
          <p:cNvSpPr txBox="1"/>
          <p:nvPr/>
        </p:nvSpPr>
        <p:spPr>
          <a:xfrm>
            <a:off x="409975" y="209750"/>
            <a:ext cx="11804100" cy="6359400"/>
          </a:xfrm>
          <a:prstGeom prst="rect">
            <a:avLst/>
          </a:prstGeom>
          <a:solidFill>
            <a:srgbClr val="EAF1FC"/>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 Feature Encoding Strategy</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Idea: We used two different encoding methods based on the cardinality (number of unique values) of each categorical column.</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1. One-Hot Encoding — for low-cardinality columns</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Columns: </a:t>
            </a:r>
            <a:r>
              <a:rPr lang="en-US" sz="1200">
                <a:solidFill>
                  <a:srgbClr val="188038"/>
                </a:solidFill>
                <a:latin typeface="Roboto Mono"/>
                <a:ea typeface="Roboto Mono"/>
                <a:cs typeface="Roboto Mono"/>
                <a:sym typeface="Roboto Mono"/>
              </a:rPr>
              <a:t>courier</a:t>
            </a:r>
            <a:r>
              <a:rPr lang="en-US" sz="1200">
                <a:solidFill>
                  <a:schemeClr val="dk1"/>
                </a:solidFill>
              </a:rPr>
              <a:t> (3 values), </a:t>
            </a:r>
            <a:r>
              <a:rPr lang="en-US" sz="1200">
                <a:solidFill>
                  <a:srgbClr val="188038"/>
                </a:solidFill>
                <a:latin typeface="Roboto Mono"/>
                <a:ea typeface="Roboto Mono"/>
                <a:cs typeface="Roboto Mono"/>
                <a:sym typeface="Roboto Mono"/>
              </a:rPr>
              <a:t>weather</a:t>
            </a:r>
            <a:r>
              <a:rPr lang="en-US" sz="1200">
                <a:solidFill>
                  <a:schemeClr val="dk1"/>
                </a:solidFill>
              </a:rPr>
              <a:t> (3 values), </a:t>
            </a:r>
            <a:r>
              <a:rPr lang="en-US" sz="1200">
                <a:solidFill>
                  <a:srgbClr val="188038"/>
                </a:solidFill>
                <a:latin typeface="Roboto Mono"/>
                <a:ea typeface="Roboto Mono"/>
                <a:cs typeface="Roboto Mono"/>
                <a:sym typeface="Roboto Mono"/>
              </a:rPr>
              <a:t>season</a:t>
            </a:r>
            <a:r>
              <a:rPr lang="en-US" sz="1200">
                <a:solidFill>
                  <a:schemeClr val="dk1"/>
                </a:solidFill>
              </a:rPr>
              <a:t> (4 values)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Each value becomes a separate binary column (0/1)</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Suitable because the number of values is small and won't create too many columns.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2. Target Encoding — for high-cardinality columns</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Columns: </a:t>
            </a:r>
            <a:r>
              <a:rPr lang="en-US" sz="1200">
                <a:solidFill>
                  <a:srgbClr val="188038"/>
                </a:solidFill>
                <a:latin typeface="Roboto Mono"/>
                <a:ea typeface="Roboto Mono"/>
                <a:cs typeface="Roboto Mono"/>
                <a:sym typeface="Roboto Mono"/>
              </a:rPr>
              <a:t>area</a:t>
            </a:r>
            <a:r>
              <a:rPr lang="en-US" sz="1200">
                <a:solidFill>
                  <a:schemeClr val="dk1"/>
                </a:solidFill>
              </a:rPr>
              <a:t> (27 values), </a:t>
            </a:r>
            <a:r>
              <a:rPr lang="en-US" sz="1200">
                <a:solidFill>
                  <a:srgbClr val="188038"/>
                </a:solidFill>
                <a:latin typeface="Roboto Mono"/>
                <a:ea typeface="Roboto Mono"/>
                <a:cs typeface="Roboto Mono"/>
                <a:sym typeface="Roboto Mono"/>
              </a:rPr>
              <a:t>category</a:t>
            </a:r>
            <a:r>
              <a:rPr lang="en-US" sz="1200">
                <a:solidFill>
                  <a:schemeClr val="dk1"/>
                </a:solidFill>
              </a:rPr>
              <a:t> (74 values)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Each value is replaced with a single number = the average target (</a:t>
            </a:r>
            <a:r>
              <a:rPr lang="en-US" sz="1200">
                <a:solidFill>
                  <a:srgbClr val="188038"/>
                </a:solidFill>
                <a:latin typeface="Roboto Mono"/>
                <a:ea typeface="Roboto Mono"/>
                <a:cs typeface="Roboto Mono"/>
                <a:sym typeface="Roboto Mono"/>
              </a:rPr>
              <a:t>is_late</a:t>
            </a:r>
            <a:r>
              <a:rPr lang="en-US" sz="1200">
                <a:solidFill>
                  <a:schemeClr val="dk1"/>
                </a:solidFill>
              </a:rPr>
              <a:t>) associated with it.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Example: an area appeared 500 times, 150 were late → encoded value = 0.30</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Used instead of One-Hot to avoid creating 101 extra columns and a sparse matrix.</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Risk: Target Leakage</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Target Encoding uses the target itself in its calculation.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If computed once on the whole dataset → data leakage.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rPr>
              <a:t>Solution Applied</a:t>
            </a:r>
            <a:endParaRPr b="1" sz="15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rgbClr val="188038"/>
                </a:solidFill>
                <a:latin typeface="Roboto Mono"/>
                <a:ea typeface="Roboto Mono"/>
                <a:cs typeface="Roboto Mono"/>
                <a:sym typeface="Roboto Mono"/>
              </a:rPr>
              <a:t>build_preprocessor()</a:t>
            </a:r>
            <a:r>
              <a:rPr lang="en-US" sz="1200">
                <a:solidFill>
                  <a:schemeClr val="dk1"/>
                </a:solidFill>
              </a:rPr>
              <a:t> returns a </a:t>
            </a:r>
            <a:r>
              <a:rPr b="1" lang="en-US" sz="1200">
                <a:solidFill>
                  <a:schemeClr val="dk1"/>
                </a:solidFill>
              </a:rPr>
              <a:t>fresh, unfitted</a:t>
            </a:r>
            <a:r>
              <a:rPr lang="en-US" sz="1200">
                <a:solidFill>
                  <a:schemeClr val="dk1"/>
                </a:solidFill>
              </a:rPr>
              <a:t> copy every time it's called.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Each CV fold is fit only on its own training data, then applied to the validation data.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Result: fair evaluation with no leakage.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Final Result:</a:t>
            </a:r>
            <a:r>
              <a:rPr lang="en-US" sz="1200">
                <a:solidFill>
                  <a:schemeClr val="dk1"/>
                </a:solidFill>
              </a:rPr>
              <a:t> 15 features after encoding (3 numerical + 10 One-Hot + 2 Target Encoded).</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nvSpPr>
        <p:spPr>
          <a:xfrm>
            <a:off x="299300" y="231075"/>
            <a:ext cx="11247900" cy="2564400"/>
          </a:xfrm>
          <a:prstGeom prst="rect">
            <a:avLst/>
          </a:prstGeom>
          <a:solidFill>
            <a:srgbClr val="EAF1F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b="1" i="1" lang="en-US" sz="2400">
                <a:solidFill>
                  <a:schemeClr val="dk1"/>
                </a:solidFill>
              </a:rPr>
              <a:t>Feature Scaling</a:t>
            </a:r>
            <a:endParaRPr b="1" i="1" sz="24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rgbClr val="188038"/>
                </a:solidFill>
                <a:latin typeface="Roboto Mono"/>
                <a:ea typeface="Roboto Mono"/>
                <a:cs typeface="Roboto Mono"/>
                <a:sym typeface="Roboto Mono"/>
              </a:rPr>
              <a:t>StandardScaler</a:t>
            </a:r>
            <a:r>
              <a:rPr lang="en-US" sz="1500">
                <a:solidFill>
                  <a:schemeClr val="dk1"/>
                </a:solidFill>
              </a:rPr>
              <a:t> applied to numerical columns: </a:t>
            </a:r>
            <a:r>
              <a:rPr lang="en-US" sz="1500">
                <a:solidFill>
                  <a:srgbClr val="188038"/>
                </a:solidFill>
                <a:latin typeface="Roboto Mono"/>
                <a:ea typeface="Roboto Mono"/>
                <a:cs typeface="Roboto Mono"/>
                <a:sym typeface="Roboto Mono"/>
              </a:rPr>
              <a:t>expected_days</a:t>
            </a:r>
            <a:r>
              <a:rPr lang="en-US" sz="1500">
                <a:solidFill>
                  <a:schemeClr val="dk1"/>
                </a:solidFill>
              </a:rPr>
              <a:t>, </a:t>
            </a:r>
            <a:r>
              <a:rPr lang="en-US" sz="1500">
                <a:solidFill>
                  <a:srgbClr val="188038"/>
                </a:solidFill>
                <a:latin typeface="Roboto Mono"/>
                <a:ea typeface="Roboto Mono"/>
                <a:cs typeface="Roboto Mono"/>
                <a:sym typeface="Roboto Mono"/>
              </a:rPr>
              <a:t>order_month</a:t>
            </a:r>
            <a:r>
              <a:rPr lang="en-US" sz="1500">
                <a:solidFill>
                  <a:schemeClr val="dk1"/>
                </a:solidFill>
              </a:rPr>
              <a:t>, </a:t>
            </a:r>
            <a:r>
              <a:rPr lang="en-US" sz="1500">
                <a:solidFill>
                  <a:srgbClr val="188038"/>
                </a:solidFill>
                <a:latin typeface="Roboto Mono"/>
                <a:ea typeface="Roboto Mono"/>
                <a:cs typeface="Roboto Mono"/>
                <a:sym typeface="Roboto Mono"/>
              </a:rPr>
              <a:t>order_hour</a:t>
            </a:r>
            <a:endParaRPr sz="1500">
              <a:solidFill>
                <a:srgbClr val="188038"/>
              </a:solidFill>
              <a:latin typeface="Roboto Mono"/>
              <a:ea typeface="Roboto Mono"/>
              <a:cs typeface="Roboto Mono"/>
              <a:sym typeface="Roboto Mono"/>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Transforms values to mean = 0, std = 1 → keeps large-range features from dominating the model</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Critical for scale-sensitive models (Logistic Regression, KNN, SVM,); optional for tree-based models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Fit only on training data per CV fold (via </a:t>
            </a:r>
            <a:r>
              <a:rPr lang="en-US" sz="1500">
                <a:solidFill>
                  <a:srgbClr val="188038"/>
                </a:solidFill>
                <a:latin typeface="Roboto Mono"/>
                <a:ea typeface="Roboto Mono"/>
                <a:cs typeface="Roboto Mono"/>
                <a:sym typeface="Roboto Mono"/>
              </a:rPr>
              <a:t>build_preprocessor()</a:t>
            </a:r>
            <a:r>
              <a:rPr lang="en-US" sz="1500">
                <a:solidFill>
                  <a:schemeClr val="dk1"/>
                </a:solidFill>
              </a:rPr>
              <a:t>) → no data leakage</a:t>
            </a:r>
            <a:endParaRPr sz="1500">
              <a:solidFill>
                <a:schemeClr val="dk1"/>
              </a:solidFill>
            </a:endParaRPr>
          </a:p>
          <a:p>
            <a:pPr indent="0" lvl="0" marL="0" rtl="0" algn="l">
              <a:spcBef>
                <a:spcPts val="1200"/>
              </a:spcBef>
              <a:spcAft>
                <a:spcPts val="0"/>
              </a:spcAft>
              <a:buNone/>
            </a:pPr>
            <a:r>
              <a:t/>
            </a:r>
            <a:endParaRPr/>
          </a:p>
        </p:txBody>
      </p:sp>
      <p:sp>
        <p:nvSpPr>
          <p:cNvPr id="245" name="Google Shape;245;p15"/>
          <p:cNvSpPr txBox="1"/>
          <p:nvPr/>
        </p:nvSpPr>
        <p:spPr>
          <a:xfrm>
            <a:off x="3905050" y="4416450"/>
            <a:ext cx="832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6" name="Google Shape;246;p15"/>
          <p:cNvSpPr txBox="1"/>
          <p:nvPr/>
        </p:nvSpPr>
        <p:spPr>
          <a:xfrm>
            <a:off x="299300" y="2911350"/>
            <a:ext cx="11247900" cy="4029600"/>
          </a:xfrm>
          <a:prstGeom prst="rect">
            <a:avLst/>
          </a:prstGeom>
          <a:solidFill>
            <a:srgbClr val="EAF1FC"/>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rPr>
              <a:t>Train/Test Split</a:t>
            </a:r>
            <a:endParaRPr b="1"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What Happened:</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Data split into </a:t>
            </a:r>
            <a:r>
              <a:rPr b="1" lang="en-US" sz="1200">
                <a:solidFill>
                  <a:schemeClr val="dk1"/>
                </a:solidFill>
              </a:rPr>
              <a:t>80% Training / 20% Testing</a:t>
            </a:r>
            <a:r>
              <a:rPr lang="en-US" sz="1200">
                <a:solidFill>
                  <a:schemeClr val="dk1"/>
                </a:solidFill>
              </a:rPr>
              <a:t> (</a:t>
            </a:r>
            <a:r>
              <a:rPr lang="en-US" sz="1200">
                <a:solidFill>
                  <a:srgbClr val="188038"/>
                </a:solidFill>
                <a:latin typeface="Roboto Mono"/>
                <a:ea typeface="Roboto Mono"/>
                <a:cs typeface="Roboto Mono"/>
                <a:sym typeface="Roboto Mono"/>
              </a:rPr>
              <a:t>test_size=0.2</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rgbClr val="188038"/>
                </a:solidFill>
                <a:latin typeface="Roboto Mono"/>
                <a:ea typeface="Roboto Mono"/>
                <a:cs typeface="Roboto Mono"/>
                <a:sym typeface="Roboto Mono"/>
              </a:rPr>
              <a:t>random_state=42</a:t>
            </a:r>
            <a:r>
              <a:rPr lang="en-US" sz="1200">
                <a:solidFill>
                  <a:schemeClr val="dk1"/>
                </a:solidFill>
              </a:rPr>
              <a:t> → ensures the same split every time the code runs (reproducibility)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rgbClr val="188038"/>
                </a:solidFill>
                <a:latin typeface="Roboto Mono"/>
                <a:ea typeface="Roboto Mono"/>
                <a:cs typeface="Roboto Mono"/>
                <a:sym typeface="Roboto Mono"/>
              </a:rPr>
              <a:t>stratify=y</a:t>
            </a:r>
            <a:r>
              <a:rPr lang="en-US" sz="1200">
                <a:solidFill>
                  <a:schemeClr val="dk1"/>
                </a:solidFill>
              </a:rPr>
              <a:t> → preserves the same late/on-time ratio in both Train and Test sets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Why Stratify Matters Here:</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The dataset has </a:t>
            </a:r>
            <a:r>
              <a:rPr b="1" lang="en-US" sz="1200">
                <a:solidFill>
                  <a:schemeClr val="dk1"/>
                </a:solidFill>
              </a:rPr>
              <a:t>class imbalance</a:t>
            </a:r>
            <a:r>
              <a:rPr lang="en-US" sz="1200">
                <a:solidFill>
                  <a:schemeClr val="dk1"/>
                </a:solidFill>
              </a:rPr>
              <a:t> (fewer late orders than on-time ones)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Without stratification, the late-order ratio could differ between Train and Test → unfair evaluation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With stratification, both sets reflect the same real-world proportion of delays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rPr>
              <a:t>Result:</a:t>
            </a:r>
            <a:r>
              <a:rPr lang="en-US" sz="1200">
                <a:solidFill>
                  <a:schemeClr val="dk1"/>
                </a:solidFill>
              </a:rPr>
              <a:t> A fair, reproducible split where the model is trained and tested on data with consistent class distribution</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2</a:t>
            </a:r>
            <a:endParaRPr b="0" i="0" sz="1000" u="none" cap="none" strike="noStrike">
              <a:solidFill>
                <a:schemeClr val="dk1"/>
              </a:solidFill>
              <a:latin typeface="Calibri"/>
              <a:ea typeface="Calibri"/>
              <a:cs typeface="Calibri"/>
              <a:sym typeface="Calibri"/>
            </a:endParaRPr>
          </a:p>
        </p:txBody>
      </p:sp>
      <p:sp>
        <p:nvSpPr>
          <p:cNvPr id="254" name="Google Shape;254;p16"/>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EXPLORATION 3 OF 4</a:t>
            </a:r>
            <a:endParaRPr b="0" i="0" sz="1200" u="none" cap="none" strike="noStrike">
              <a:solidFill>
                <a:schemeClr val="dk1"/>
              </a:solidFill>
              <a:latin typeface="Calibri"/>
              <a:ea typeface="Calibri"/>
              <a:cs typeface="Calibri"/>
              <a:sym typeface="Calibri"/>
            </a:endParaRPr>
          </a:p>
        </p:txBody>
      </p:sp>
      <p:sp>
        <p:nvSpPr>
          <p:cNvPr id="255" name="Google Shape;255;p16"/>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Orders Over Time (Monthly)</a:t>
            </a:r>
            <a:endParaRPr b="0" i="0" sz="3000" u="none" cap="none" strike="noStrike">
              <a:solidFill>
                <a:schemeClr val="dk1"/>
              </a:solidFill>
              <a:latin typeface="Calibri"/>
              <a:ea typeface="Calibri"/>
              <a:cs typeface="Calibri"/>
              <a:sym typeface="Calibri"/>
            </a:endParaRPr>
          </a:p>
        </p:txBody>
      </p:sp>
      <p:pic>
        <p:nvPicPr>
          <p:cNvPr descr="/home/claude/assets/14_Orders_Over_Time.png" id="256" name="Google Shape;256;p16"/>
          <p:cNvPicPr preferRelativeResize="0"/>
          <p:nvPr/>
        </p:nvPicPr>
        <p:blipFill rotWithShape="1">
          <a:blip r:embed="rId3">
            <a:alphaModFix/>
          </a:blip>
          <a:srcRect b="3363" l="0" r="0" t="0"/>
          <a:stretch/>
        </p:blipFill>
        <p:spPr>
          <a:xfrm>
            <a:off x="2240275" y="1691650"/>
            <a:ext cx="7680976" cy="3340175"/>
          </a:xfrm>
          <a:prstGeom prst="rect">
            <a:avLst/>
          </a:prstGeom>
          <a:noFill/>
          <a:ln>
            <a:noFill/>
          </a:ln>
        </p:spPr>
      </p:pic>
      <p:sp>
        <p:nvSpPr>
          <p:cNvPr id="257" name="Google Shape;257;p16"/>
          <p:cNvSpPr/>
          <p:nvPr/>
        </p:nvSpPr>
        <p:spPr>
          <a:xfrm>
            <a:off x="502920" y="5532120"/>
            <a:ext cx="11155680" cy="8686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Order volume grew steadily from late 2016 through 2017, peaking around ~7,400 orders in November 2017.</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This growth trend matters for the model: order_month is later confirmed as a top predictive feature.</a:t>
            </a:r>
            <a:endParaRPr b="0" i="0" sz="1250" u="none" cap="none" strike="noStrike">
              <a:solidFill>
                <a:schemeClr val="dk1"/>
              </a:solidFill>
              <a:latin typeface="Calibri"/>
              <a:ea typeface="Calibri"/>
              <a:cs typeface="Calibri"/>
              <a:sym typeface="Calibri"/>
            </a:endParaRPr>
          </a:p>
        </p:txBody>
      </p:sp>
      <p:sp>
        <p:nvSpPr>
          <p:cNvPr id="258" name="Google Shape;258;p16"/>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Data Preprocessing &amp; Exploration</a:t>
            </a:r>
            <a:endParaRPr b="0" i="0" sz="900" u="none" cap="none" strike="noStrike">
              <a:solidFill>
                <a:schemeClr val="dk1"/>
              </a:solidFill>
              <a:latin typeface="Calibri"/>
              <a:ea typeface="Calibri"/>
              <a:cs typeface="Calibri"/>
              <a:sym typeface="Calibri"/>
            </a:endParaRPr>
          </a:p>
        </p:txBody>
      </p:sp>
      <p:sp>
        <p:nvSpPr>
          <p:cNvPr id="259" name="Google Shape;259;p16"/>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17" title="09.Courier_Performance.png"/>
          <p:cNvPicPr preferRelativeResize="0"/>
          <p:nvPr/>
        </p:nvPicPr>
        <p:blipFill>
          <a:blip r:embed="rId3">
            <a:alphaModFix/>
          </a:blip>
          <a:stretch>
            <a:fillRect/>
          </a:stretch>
        </p:blipFill>
        <p:spPr>
          <a:xfrm>
            <a:off x="152400" y="152400"/>
            <a:ext cx="11887199" cy="4829674"/>
          </a:xfrm>
          <a:prstGeom prst="rect">
            <a:avLst/>
          </a:prstGeom>
          <a:noFill/>
          <a:ln>
            <a:noFill/>
          </a:ln>
        </p:spPr>
      </p:pic>
      <p:sp>
        <p:nvSpPr>
          <p:cNvPr id="266" name="Google Shape;266;p17"/>
          <p:cNvSpPr txBox="1"/>
          <p:nvPr/>
        </p:nvSpPr>
        <p:spPr>
          <a:xfrm>
            <a:off x="476050" y="4982075"/>
            <a:ext cx="11738100" cy="189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Business Insight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All three couriers (A, B, C) have nearly identical average delivery time (~7 days) and late delivery rate (~6%) — no clear performance difference between them.</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Action &amp; Limitation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Don't rely on switching couriers to fix delays; the gap is negligible and the data was partly simulated, so it may not reflect real-world performance.</a:t>
            </a:r>
            <a:endParaRPr sz="11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18" title="12.Delivery_Delay_Vs-Rating.png"/>
          <p:cNvPicPr preferRelativeResize="0"/>
          <p:nvPr/>
        </p:nvPicPr>
        <p:blipFill>
          <a:blip r:embed="rId3">
            <a:alphaModFix/>
          </a:blip>
          <a:stretch>
            <a:fillRect/>
          </a:stretch>
        </p:blipFill>
        <p:spPr>
          <a:xfrm>
            <a:off x="294075" y="209100"/>
            <a:ext cx="9467700" cy="4521600"/>
          </a:xfrm>
          <a:prstGeom prst="rect">
            <a:avLst/>
          </a:prstGeom>
          <a:noFill/>
          <a:ln>
            <a:noFill/>
          </a:ln>
        </p:spPr>
      </p:pic>
      <p:sp>
        <p:nvSpPr>
          <p:cNvPr id="273" name="Google Shape;273;p18"/>
          <p:cNvSpPr txBox="1"/>
          <p:nvPr/>
        </p:nvSpPr>
        <p:spPr>
          <a:xfrm>
            <a:off x="476050" y="5123475"/>
            <a:ext cx="11738100" cy="943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Customers who gave a Rating of 1 experienced higher delivery delays, suggesting that delays are associated with lower customer satisfaction.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Reducing severe delays and detecting them early can help improve customer satisfaction.</a:t>
            </a:r>
            <a:endParaRPr b="1" sz="11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2</a:t>
            </a:r>
            <a:endParaRPr b="0" i="0" sz="1000" u="none" cap="none" strike="noStrike">
              <a:solidFill>
                <a:schemeClr val="dk1"/>
              </a:solidFill>
              <a:latin typeface="Calibri"/>
              <a:ea typeface="Calibri"/>
              <a:cs typeface="Calibri"/>
              <a:sym typeface="Calibri"/>
            </a:endParaRPr>
          </a:p>
        </p:txBody>
      </p:sp>
      <p:sp>
        <p:nvSpPr>
          <p:cNvPr id="281" name="Google Shape;281;p19"/>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EXPLORATION 2 OF 4</a:t>
            </a:r>
            <a:endParaRPr b="0" i="0" sz="1200" u="none" cap="none" strike="noStrike">
              <a:solidFill>
                <a:schemeClr val="dk1"/>
              </a:solidFill>
              <a:latin typeface="Calibri"/>
              <a:ea typeface="Calibri"/>
              <a:cs typeface="Calibri"/>
              <a:sym typeface="Calibri"/>
            </a:endParaRPr>
          </a:p>
        </p:txBody>
      </p:sp>
      <p:sp>
        <p:nvSpPr>
          <p:cNvPr id="282" name="Google Shape;282;p19"/>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Total Net Revenue by Age Group</a:t>
            </a:r>
            <a:endParaRPr b="0" i="0" sz="3000" u="none" cap="none" strike="noStrike">
              <a:solidFill>
                <a:schemeClr val="dk1"/>
              </a:solidFill>
              <a:latin typeface="Calibri"/>
              <a:ea typeface="Calibri"/>
              <a:cs typeface="Calibri"/>
              <a:sym typeface="Calibri"/>
            </a:endParaRPr>
          </a:p>
        </p:txBody>
      </p:sp>
      <p:pic>
        <p:nvPicPr>
          <p:cNvPr descr="/home/claude/assets/13_TTL_Net_Revenue_Age.png" id="283" name="Google Shape;283;p19"/>
          <p:cNvPicPr preferRelativeResize="0"/>
          <p:nvPr/>
        </p:nvPicPr>
        <p:blipFill rotWithShape="1">
          <a:blip r:embed="rId3">
            <a:alphaModFix/>
          </a:blip>
          <a:srcRect b="0" l="0" r="0" t="0"/>
          <a:stretch/>
        </p:blipFill>
        <p:spPr>
          <a:xfrm>
            <a:off x="2331720" y="1691640"/>
            <a:ext cx="7498080" cy="3456432"/>
          </a:xfrm>
          <a:prstGeom prst="rect">
            <a:avLst/>
          </a:prstGeom>
          <a:noFill/>
          <a:ln>
            <a:noFill/>
          </a:ln>
        </p:spPr>
      </p:pic>
      <p:sp>
        <p:nvSpPr>
          <p:cNvPr id="284" name="Google Shape;284;p19"/>
          <p:cNvSpPr/>
          <p:nvPr/>
        </p:nvSpPr>
        <p:spPr>
          <a:xfrm>
            <a:off x="502920" y="5532120"/>
            <a:ext cx="11155680" cy="8686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The 55+ age group generates the highest total net revenue (~4.9M), well above every other bracket.</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26–55 age groups sit close together (~2.6M each); under-18 customers contribute the least (~268K).</a:t>
            </a:r>
            <a:endParaRPr b="0" i="0" sz="1250" u="none" cap="none" strike="noStrike">
              <a:solidFill>
                <a:schemeClr val="dk1"/>
              </a:solidFill>
              <a:latin typeface="Calibri"/>
              <a:ea typeface="Calibri"/>
              <a:cs typeface="Calibri"/>
              <a:sym typeface="Calibri"/>
            </a:endParaRPr>
          </a:p>
        </p:txBody>
      </p:sp>
      <p:sp>
        <p:nvSpPr>
          <p:cNvPr id="285" name="Google Shape;285;p19"/>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Data Preprocessing &amp; Exploration</a:t>
            </a:r>
            <a:endParaRPr b="0" i="0" sz="900" u="none" cap="none" strike="noStrike">
              <a:solidFill>
                <a:schemeClr val="dk1"/>
              </a:solidFill>
              <a:latin typeface="Calibri"/>
              <a:ea typeface="Calibri"/>
              <a:cs typeface="Calibri"/>
              <a:sym typeface="Calibri"/>
            </a:endParaRPr>
          </a:p>
        </p:txBody>
      </p:sp>
      <p:sp>
        <p:nvSpPr>
          <p:cNvPr id="286" name="Google Shape;286;p19"/>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0"/>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2</a:t>
            </a:r>
            <a:endParaRPr b="0" i="0" sz="1000" u="none" cap="none" strike="noStrike">
              <a:solidFill>
                <a:schemeClr val="dk1"/>
              </a:solidFill>
              <a:latin typeface="Calibri"/>
              <a:ea typeface="Calibri"/>
              <a:cs typeface="Calibri"/>
              <a:sym typeface="Calibri"/>
            </a:endParaRPr>
          </a:p>
        </p:txBody>
      </p:sp>
      <p:sp>
        <p:nvSpPr>
          <p:cNvPr id="294" name="Google Shape;294;p20"/>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EXPLORATION 4 OF 4</a:t>
            </a:r>
            <a:endParaRPr b="0" i="0" sz="1200" u="none" cap="none" strike="noStrike">
              <a:solidFill>
                <a:schemeClr val="dk1"/>
              </a:solidFill>
              <a:latin typeface="Calibri"/>
              <a:ea typeface="Calibri"/>
              <a:cs typeface="Calibri"/>
              <a:sym typeface="Calibri"/>
            </a:endParaRPr>
          </a:p>
        </p:txBody>
      </p:sp>
      <p:sp>
        <p:nvSpPr>
          <p:cNvPr id="295" name="Google Shape;295;p20"/>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Correlation Heatmap — Numeric Features</a:t>
            </a:r>
            <a:endParaRPr b="0" i="0" sz="3000" u="none" cap="none" strike="noStrike">
              <a:solidFill>
                <a:schemeClr val="dk1"/>
              </a:solidFill>
              <a:latin typeface="Calibri"/>
              <a:ea typeface="Calibri"/>
              <a:cs typeface="Calibri"/>
              <a:sym typeface="Calibri"/>
            </a:endParaRPr>
          </a:p>
        </p:txBody>
      </p:sp>
      <p:pic>
        <p:nvPicPr>
          <p:cNvPr descr="/home/claude/assets/15_Correlation_Heatmap.png" id="296" name="Google Shape;296;p20"/>
          <p:cNvPicPr preferRelativeResize="0"/>
          <p:nvPr/>
        </p:nvPicPr>
        <p:blipFill rotWithShape="1">
          <a:blip r:embed="rId3">
            <a:alphaModFix/>
          </a:blip>
          <a:srcRect b="0" l="0" r="0" t="0"/>
          <a:stretch/>
        </p:blipFill>
        <p:spPr>
          <a:xfrm>
            <a:off x="3794760" y="1681271"/>
            <a:ext cx="4572000" cy="3657601"/>
          </a:xfrm>
          <a:prstGeom prst="rect">
            <a:avLst/>
          </a:prstGeom>
          <a:noFill/>
          <a:ln>
            <a:noFill/>
          </a:ln>
        </p:spPr>
      </p:pic>
      <p:sp>
        <p:nvSpPr>
          <p:cNvPr id="297" name="Google Shape;297;p20"/>
          <p:cNvSpPr/>
          <p:nvPr/>
        </p:nvSpPr>
        <p:spPr>
          <a:xfrm>
            <a:off x="502920" y="5532120"/>
            <a:ext cx="11155680" cy="86868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is_late correlates most with delivery_delay (0.59, by construction) and negatively with rating (-0.33).</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Revenue/price numeric fields show near-zero correlation with is_late — supporting reliance on operational and time-based features instead.</a:t>
            </a:r>
            <a:endParaRPr b="0" i="0" sz="1250" u="none" cap="none" strike="noStrike">
              <a:solidFill>
                <a:schemeClr val="dk1"/>
              </a:solidFill>
              <a:latin typeface="Calibri"/>
              <a:ea typeface="Calibri"/>
              <a:cs typeface="Calibri"/>
              <a:sym typeface="Calibri"/>
            </a:endParaRPr>
          </a:p>
        </p:txBody>
      </p:sp>
      <p:sp>
        <p:nvSpPr>
          <p:cNvPr id="298" name="Google Shape;298;p20"/>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Data Preprocessing &amp; Exploration</a:t>
            </a:r>
            <a:endParaRPr b="0" i="0" sz="900" u="none" cap="none" strike="noStrike">
              <a:solidFill>
                <a:schemeClr val="dk1"/>
              </a:solidFill>
              <a:latin typeface="Calibri"/>
              <a:ea typeface="Calibri"/>
              <a:cs typeface="Calibri"/>
              <a:sym typeface="Calibri"/>
            </a:endParaRPr>
          </a:p>
        </p:txBody>
      </p:sp>
      <p:sp>
        <p:nvSpPr>
          <p:cNvPr id="299" name="Google Shape;299;p20"/>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1"/>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1"/>
          <p:cNvSpPr/>
          <p:nvPr/>
        </p:nvSpPr>
        <p:spPr>
          <a:xfrm>
            <a:off x="10561320" y="320040"/>
            <a:ext cx="1280100" cy="365700"/>
          </a:xfrm>
          <a:prstGeom prst="roundRect">
            <a:avLst>
              <a:gd fmla="val 2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1"/>
          <p:cNvSpPr txBox="1"/>
          <p:nvPr/>
        </p:nvSpPr>
        <p:spPr>
          <a:xfrm>
            <a:off x="10561320" y="320040"/>
            <a:ext cx="1280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50"/>
              </a:spcAft>
              <a:buNone/>
            </a:pPr>
            <a:r>
              <a:rPr b="1" lang="en-US" sz="1000">
                <a:solidFill>
                  <a:srgbClr val="0F2A5E"/>
                </a:solidFill>
                <a:latin typeface="Calibri"/>
                <a:ea typeface="Calibri"/>
                <a:cs typeface="Calibri"/>
                <a:sym typeface="Calibri"/>
              </a:rPr>
              <a:t>PRESENTER 3</a:t>
            </a:r>
            <a:endParaRPr b="1" sz="1000">
              <a:solidFill>
                <a:srgbClr val="0F2A5E"/>
              </a:solidFill>
              <a:latin typeface="Calibri"/>
              <a:ea typeface="Calibri"/>
              <a:cs typeface="Calibri"/>
              <a:sym typeface="Calibri"/>
            </a:endParaRPr>
          </a:p>
        </p:txBody>
      </p:sp>
      <p:sp>
        <p:nvSpPr>
          <p:cNvPr id="311" name="Google Shape;311;p21"/>
          <p:cNvSpPr txBox="1"/>
          <p:nvPr/>
        </p:nvSpPr>
        <p:spPr>
          <a:xfrm>
            <a:off x="502920" y="365760"/>
            <a:ext cx="73152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50"/>
              </a:spcAft>
              <a:buNone/>
            </a:pPr>
            <a:r>
              <a:rPr b="1" lang="en-US" sz="1200">
                <a:solidFill>
                  <a:srgbClr val="2461C0"/>
                </a:solidFill>
                <a:latin typeface="Calibri"/>
                <a:ea typeface="Calibri"/>
                <a:cs typeface="Calibri"/>
                <a:sym typeface="Calibri"/>
              </a:rPr>
              <a:t>METHODOLOGY</a:t>
            </a:r>
            <a:endParaRPr b="1" sz="1200">
              <a:solidFill>
                <a:srgbClr val="2461C0"/>
              </a:solidFill>
              <a:latin typeface="Calibri"/>
              <a:ea typeface="Calibri"/>
              <a:cs typeface="Calibri"/>
              <a:sym typeface="Calibri"/>
            </a:endParaRPr>
          </a:p>
        </p:txBody>
      </p:sp>
      <p:sp>
        <p:nvSpPr>
          <p:cNvPr id="312" name="Google Shape;312;p21"/>
          <p:cNvSpPr txBox="1"/>
          <p:nvPr/>
        </p:nvSpPr>
        <p:spPr>
          <a:xfrm>
            <a:off x="502920" y="658368"/>
            <a:ext cx="96927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50"/>
              </a:spcAft>
              <a:buNone/>
            </a:pPr>
            <a:r>
              <a:rPr b="1" lang="en-US" sz="3000">
                <a:solidFill>
                  <a:srgbClr val="0F2A5E"/>
                </a:solidFill>
                <a:latin typeface="Cambria"/>
                <a:ea typeface="Cambria"/>
                <a:cs typeface="Cambria"/>
                <a:sym typeface="Cambria"/>
              </a:rPr>
              <a:t>Machine Learning Approach</a:t>
            </a:r>
            <a:endParaRPr b="1" sz="3000">
              <a:solidFill>
                <a:srgbClr val="0F2A5E"/>
              </a:solidFill>
              <a:latin typeface="Cambria"/>
              <a:ea typeface="Cambria"/>
              <a:cs typeface="Cambria"/>
              <a:sym typeface="Cambria"/>
            </a:endParaRPr>
          </a:p>
        </p:txBody>
      </p:sp>
      <p:grpSp>
        <p:nvGrpSpPr>
          <p:cNvPr id="313" name="Google Shape;313;p21"/>
          <p:cNvGrpSpPr/>
          <p:nvPr/>
        </p:nvGrpSpPr>
        <p:grpSpPr>
          <a:xfrm>
            <a:off x="502920" y="1666875"/>
            <a:ext cx="3444300" cy="4572000"/>
            <a:chOff x="0" y="0"/>
            <a:chExt cx="3444300" cy="4572000"/>
          </a:xfrm>
        </p:grpSpPr>
        <p:sp>
          <p:nvSpPr>
            <p:cNvPr id="314" name="Google Shape;314;p21"/>
            <p:cNvSpPr/>
            <p:nvPr/>
          </p:nvSpPr>
          <p:spPr>
            <a:xfrm>
              <a:off x="0" y="0"/>
              <a:ext cx="3444300" cy="4572000"/>
            </a:xfrm>
            <a:prstGeom prst="roundRect">
              <a:avLst>
                <a:gd fmla="val 2389" name="adj"/>
              </a:avLst>
            </a:prstGeom>
            <a:solidFill>
              <a:srgbClr val="EAF1FC"/>
            </a:solidFill>
            <a:ln cap="flat" cmpd="sng" w="12675">
              <a:solidFill>
                <a:srgbClr val="D7E3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1"/>
            <p:cNvSpPr/>
            <p:nvPr/>
          </p:nvSpPr>
          <p:spPr>
            <a:xfrm>
              <a:off x="190500" y="190500"/>
              <a:ext cx="762000" cy="228600"/>
            </a:xfrm>
            <a:prstGeom prst="roundRect">
              <a:avLst>
                <a:gd fmla="val 50000" name="adj"/>
              </a:avLst>
            </a:prstGeom>
            <a:solidFill>
              <a:srgbClr val="2461C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1"/>
            <p:cNvSpPr txBox="1"/>
            <p:nvPr/>
          </p:nvSpPr>
          <p:spPr>
            <a:xfrm>
              <a:off x="190500" y="190500"/>
              <a:ext cx="762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50"/>
                </a:spcAft>
                <a:buNone/>
              </a:pPr>
              <a:r>
                <a:rPr b="1" lang="en-US" sz="900">
                  <a:solidFill>
                    <a:srgbClr val="FFFFFF"/>
                  </a:solidFill>
                  <a:latin typeface="Calibri"/>
                  <a:ea typeface="Calibri"/>
                  <a:cs typeface="Calibri"/>
                  <a:sym typeface="Calibri"/>
                </a:rPr>
                <a:t>FRAMEWORK</a:t>
              </a:r>
              <a:endParaRPr b="1" sz="900">
                <a:solidFill>
                  <a:srgbClr val="FFFFFF"/>
                </a:solidFill>
                <a:latin typeface="Calibri"/>
                <a:ea typeface="Calibri"/>
                <a:cs typeface="Calibri"/>
                <a:sym typeface="Calibri"/>
              </a:endParaRPr>
            </a:p>
          </p:txBody>
        </p:sp>
        <p:sp>
          <p:nvSpPr>
            <p:cNvPr id="317" name="Google Shape;317;p21"/>
            <p:cNvSpPr txBox="1"/>
            <p:nvPr/>
          </p:nvSpPr>
          <p:spPr>
            <a:xfrm>
              <a:off x="190500" y="571500"/>
              <a:ext cx="30633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2A5E"/>
                  </a:solidFill>
                  <a:latin typeface="Calibri"/>
                  <a:ea typeface="Calibri"/>
                  <a:cs typeface="Calibri"/>
                  <a:sym typeface="Calibri"/>
                </a:rPr>
                <a:t>Binary Classification</a:t>
              </a:r>
              <a:endParaRPr b="1" sz="1400">
                <a:solidFill>
                  <a:srgbClr val="0F2A5E"/>
                </a:solidFill>
                <a:latin typeface="Calibri"/>
                <a:ea typeface="Calibri"/>
                <a:cs typeface="Calibri"/>
                <a:sym typeface="Calibri"/>
              </a:endParaRPr>
            </a:p>
            <a:p>
              <a:pPr indent="0" lvl="0" marL="0" rtl="0" algn="l">
                <a:spcBef>
                  <a:spcPts val="450"/>
                </a:spcBef>
                <a:spcAft>
                  <a:spcPts val="0"/>
                </a:spcAft>
                <a:buNone/>
              </a:pPr>
              <a:r>
                <a:rPr lang="en-US" sz="1150">
                  <a:solidFill>
                    <a:srgbClr val="1B2430"/>
                  </a:solidFill>
                  <a:latin typeface="Calibri"/>
                  <a:ea typeface="Calibri"/>
                  <a:cs typeface="Calibri"/>
                  <a:sym typeface="Calibri"/>
                </a:rPr>
                <a:t>We frame delay prediction as a binary classification task to determine whether an order will be late (</a:t>
              </a:r>
              <a:r>
                <a:rPr b="1" lang="en-US" sz="1150">
                  <a:solidFill>
                    <a:srgbClr val="2461C0"/>
                  </a:solidFill>
                  <a:latin typeface="Calibri"/>
                  <a:ea typeface="Calibri"/>
                  <a:cs typeface="Calibri"/>
                  <a:sym typeface="Calibri"/>
                </a:rPr>
                <a:t>is_late: 0/1</a:t>
              </a:r>
              <a:r>
                <a:rPr lang="en-US" sz="1150">
                  <a:solidFill>
                    <a:srgbClr val="1B2430"/>
                  </a:solidFill>
                  <a:latin typeface="Calibri"/>
                  <a:ea typeface="Calibri"/>
                  <a:cs typeface="Calibri"/>
                  <a:sym typeface="Calibri"/>
                </a:rPr>
                <a:t>).</a:t>
              </a:r>
              <a:endParaRPr sz="1150">
                <a:solidFill>
                  <a:srgbClr val="1B2430"/>
                </a:solidFill>
                <a:latin typeface="Calibri"/>
                <a:ea typeface="Calibri"/>
                <a:cs typeface="Calibri"/>
                <a:sym typeface="Calibri"/>
              </a:endParaRPr>
            </a:p>
            <a:p>
              <a:pPr indent="0" lvl="0" marL="0" rtl="0" algn="l">
                <a:spcBef>
                  <a:spcPts val="1125"/>
                </a:spcBef>
                <a:spcAft>
                  <a:spcPts val="0"/>
                </a:spcAft>
                <a:buNone/>
              </a:pPr>
              <a:r>
                <a:rPr b="1" lang="en-US" sz="1400">
                  <a:solidFill>
                    <a:srgbClr val="0F2A5E"/>
                  </a:solidFill>
                  <a:latin typeface="Calibri"/>
                  <a:ea typeface="Calibri"/>
                  <a:cs typeface="Calibri"/>
                  <a:sym typeface="Calibri"/>
                </a:rPr>
                <a:t>Data Leakage Prevention</a:t>
              </a:r>
              <a:endParaRPr b="1" sz="1400">
                <a:solidFill>
                  <a:srgbClr val="0F2A5E"/>
                </a:solidFill>
                <a:latin typeface="Calibri"/>
                <a:ea typeface="Calibri"/>
                <a:cs typeface="Calibri"/>
                <a:sym typeface="Calibri"/>
              </a:endParaRPr>
            </a:p>
            <a:p>
              <a:pPr indent="0" lvl="0" marL="0" rtl="0" algn="l">
                <a:spcBef>
                  <a:spcPts val="450"/>
                </a:spcBef>
                <a:spcAft>
                  <a:spcPts val="0"/>
                </a:spcAft>
                <a:buNone/>
              </a:pPr>
              <a:r>
                <a:rPr lang="en-US" sz="1150">
                  <a:solidFill>
                    <a:srgbClr val="1B2430"/>
                  </a:solidFill>
                  <a:latin typeface="Calibri"/>
                  <a:ea typeface="Calibri"/>
                  <a:cs typeface="Calibri"/>
                  <a:sym typeface="Calibri"/>
                </a:rPr>
                <a:t>We strictly exclude any features only knowable after delivery (e.g., actual_delivery_days).</a:t>
              </a:r>
              <a:endParaRPr sz="1150">
                <a:solidFill>
                  <a:srgbClr val="1B2430"/>
                </a:solidFill>
                <a:latin typeface="Calibri"/>
                <a:ea typeface="Calibri"/>
                <a:cs typeface="Calibri"/>
                <a:sym typeface="Calibri"/>
              </a:endParaRPr>
            </a:p>
            <a:p>
              <a:pPr indent="0" lvl="0" marL="0" rtl="0" algn="l">
                <a:spcBef>
                  <a:spcPts val="450"/>
                </a:spcBef>
                <a:spcAft>
                  <a:spcPts val="450"/>
                </a:spcAft>
                <a:buNone/>
              </a:pPr>
              <a:r>
                <a:rPr lang="en-US" sz="1150">
                  <a:solidFill>
                    <a:srgbClr val="1B2430"/>
                  </a:solidFill>
                  <a:latin typeface="Calibri"/>
                  <a:ea typeface="Calibri"/>
                  <a:cs typeface="Calibri"/>
                  <a:sym typeface="Calibri"/>
                </a:rPr>
                <a:t>Only order-time features are kept: courier, expected_days, weather, season, area, category, month, and hour.</a:t>
              </a:r>
              <a:endParaRPr sz="1150">
                <a:solidFill>
                  <a:srgbClr val="1B2430"/>
                </a:solidFill>
                <a:latin typeface="Calibri"/>
                <a:ea typeface="Calibri"/>
                <a:cs typeface="Calibri"/>
                <a:sym typeface="Calibri"/>
              </a:endParaRPr>
            </a:p>
          </p:txBody>
        </p:sp>
      </p:grpSp>
      <p:grpSp>
        <p:nvGrpSpPr>
          <p:cNvPr id="318" name="Google Shape;318;p21"/>
          <p:cNvGrpSpPr/>
          <p:nvPr/>
        </p:nvGrpSpPr>
        <p:grpSpPr>
          <a:xfrm>
            <a:off x="4137660" y="1666875"/>
            <a:ext cx="3444300" cy="4572000"/>
            <a:chOff x="0" y="0"/>
            <a:chExt cx="3444300" cy="4572000"/>
          </a:xfrm>
        </p:grpSpPr>
        <p:sp>
          <p:nvSpPr>
            <p:cNvPr id="319" name="Google Shape;319;p21"/>
            <p:cNvSpPr/>
            <p:nvPr/>
          </p:nvSpPr>
          <p:spPr>
            <a:xfrm>
              <a:off x="0" y="0"/>
              <a:ext cx="3444300" cy="4572000"/>
            </a:xfrm>
            <a:prstGeom prst="roundRect">
              <a:avLst>
                <a:gd fmla="val 2389" name="adj"/>
              </a:avLst>
            </a:prstGeom>
            <a:solidFill>
              <a:srgbClr val="FFFFFF"/>
            </a:solidFill>
            <a:ln cap="flat" cmpd="sng" w="12675">
              <a:solidFill>
                <a:srgbClr val="D7E3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1"/>
            <p:cNvSpPr/>
            <p:nvPr/>
          </p:nvSpPr>
          <p:spPr>
            <a:xfrm>
              <a:off x="190500" y="190500"/>
              <a:ext cx="857400" cy="228600"/>
            </a:xfrm>
            <a:prstGeom prst="roundRect">
              <a:avLst>
                <a:gd fmla="val 50000" name="adj"/>
              </a:avLst>
            </a:prstGeom>
            <a:solidFill>
              <a:srgbClr val="5B8D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1"/>
            <p:cNvSpPr txBox="1"/>
            <p:nvPr/>
          </p:nvSpPr>
          <p:spPr>
            <a:xfrm>
              <a:off x="190500" y="1905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50"/>
                </a:spcAft>
                <a:buNone/>
              </a:pPr>
              <a:r>
                <a:rPr b="1" lang="en-US" sz="900">
                  <a:solidFill>
                    <a:srgbClr val="FFFFFF"/>
                  </a:solidFill>
                  <a:latin typeface="Calibri"/>
                  <a:ea typeface="Calibri"/>
                  <a:cs typeface="Calibri"/>
                  <a:sym typeface="Calibri"/>
                </a:rPr>
                <a:t>PROCESSING</a:t>
              </a:r>
              <a:endParaRPr b="1" sz="900">
                <a:solidFill>
                  <a:srgbClr val="FFFFFF"/>
                </a:solidFill>
                <a:latin typeface="Calibri"/>
                <a:ea typeface="Calibri"/>
                <a:cs typeface="Calibri"/>
                <a:sym typeface="Calibri"/>
              </a:endParaRPr>
            </a:p>
          </p:txBody>
        </p:sp>
        <p:sp>
          <p:nvSpPr>
            <p:cNvPr id="322" name="Google Shape;322;p21"/>
            <p:cNvSpPr txBox="1"/>
            <p:nvPr/>
          </p:nvSpPr>
          <p:spPr>
            <a:xfrm>
              <a:off x="190500" y="571500"/>
              <a:ext cx="30633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2A5E"/>
                  </a:solidFill>
                  <a:latin typeface="Calibri"/>
                  <a:ea typeface="Calibri"/>
                  <a:cs typeface="Calibri"/>
                  <a:sym typeface="Calibri"/>
                </a:rPr>
                <a:t>Imbalance Handling</a:t>
              </a:r>
              <a:endParaRPr b="1" sz="1400">
                <a:solidFill>
                  <a:srgbClr val="0F2A5E"/>
                </a:solidFill>
                <a:latin typeface="Calibri"/>
                <a:ea typeface="Calibri"/>
                <a:cs typeface="Calibri"/>
                <a:sym typeface="Calibri"/>
              </a:endParaRPr>
            </a:p>
            <a:p>
              <a:pPr indent="0" lvl="0" marL="0" rtl="0" algn="l">
                <a:spcBef>
                  <a:spcPts val="450"/>
                </a:spcBef>
                <a:spcAft>
                  <a:spcPts val="0"/>
                </a:spcAft>
                <a:buNone/>
              </a:pPr>
              <a:r>
                <a:rPr lang="en-US" sz="1150">
                  <a:solidFill>
                    <a:srgbClr val="1B2430"/>
                  </a:solidFill>
                  <a:latin typeface="Calibri"/>
                  <a:ea typeface="Calibri"/>
                  <a:cs typeface="Calibri"/>
                  <a:sym typeface="Calibri"/>
                </a:rPr>
                <a:t>Our dataset is highly imbalanced with </a:t>
              </a:r>
              <a:r>
                <a:rPr b="1" lang="en-US" sz="1150">
                  <a:solidFill>
                    <a:srgbClr val="2461C0"/>
                  </a:solidFill>
                  <a:latin typeface="Calibri"/>
                  <a:ea typeface="Calibri"/>
                  <a:cs typeface="Calibri"/>
                  <a:sym typeface="Calibri"/>
                </a:rPr>
                <a:t>93.6% on-time</a:t>
              </a:r>
              <a:r>
                <a:rPr lang="en-US" sz="1150">
                  <a:solidFill>
                    <a:srgbClr val="1B2430"/>
                  </a:solidFill>
                  <a:latin typeface="Calibri"/>
                  <a:ea typeface="Calibri"/>
                  <a:cs typeface="Calibri"/>
                  <a:sym typeface="Calibri"/>
                </a:rPr>
                <a:t> and </a:t>
              </a:r>
              <a:r>
                <a:rPr b="1" lang="en-US" sz="1150">
                  <a:solidFill>
                    <a:srgbClr val="2461C0"/>
                  </a:solidFill>
                  <a:latin typeface="Calibri"/>
                  <a:ea typeface="Calibri"/>
                  <a:cs typeface="Calibri"/>
                  <a:sym typeface="Calibri"/>
                </a:rPr>
                <a:t>6.4% late</a:t>
              </a:r>
              <a:r>
                <a:rPr lang="en-US" sz="1150">
                  <a:solidFill>
                    <a:srgbClr val="1B2430"/>
                  </a:solidFill>
                  <a:latin typeface="Calibri"/>
                  <a:ea typeface="Calibri"/>
                  <a:cs typeface="Calibri"/>
                  <a:sym typeface="Calibri"/>
                </a:rPr>
                <a:t> orders. We address this using two strategic techniques:</a:t>
              </a:r>
              <a:endParaRPr sz="1150">
                <a:solidFill>
                  <a:srgbClr val="1B2430"/>
                </a:solidFill>
                <a:latin typeface="Calibri"/>
                <a:ea typeface="Calibri"/>
                <a:cs typeface="Calibri"/>
                <a:sym typeface="Calibri"/>
              </a:endParaRPr>
            </a:p>
            <a:p>
              <a:pPr indent="-301625" lvl="0" marL="457200" rtl="0" algn="l">
                <a:spcBef>
                  <a:spcPts val="450"/>
                </a:spcBef>
                <a:spcAft>
                  <a:spcPts val="0"/>
                </a:spcAft>
                <a:buClr>
                  <a:srgbClr val="1B2430"/>
                </a:buClr>
                <a:buSzPts val="1150"/>
                <a:buFont typeface="Calibri"/>
                <a:buChar char="●"/>
              </a:pPr>
              <a:r>
                <a:rPr lang="en-US" sz="1150">
                  <a:solidFill>
                    <a:srgbClr val="1B2430"/>
                  </a:solidFill>
                  <a:latin typeface="Calibri"/>
                  <a:ea typeface="Calibri"/>
                  <a:cs typeface="Calibri"/>
                  <a:sym typeface="Calibri"/>
                </a:rPr>
                <a:t>SMOTE oversampling inside each CV fold for distance/linear models</a:t>
              </a:r>
              <a:endParaRPr sz="1150">
                <a:solidFill>
                  <a:srgbClr val="1B2430"/>
                </a:solidFill>
                <a:latin typeface="Calibri"/>
                <a:ea typeface="Calibri"/>
                <a:cs typeface="Calibri"/>
                <a:sym typeface="Calibri"/>
              </a:endParaRPr>
            </a:p>
            <a:p>
              <a:pPr indent="-301625" lvl="0" marL="457200" rtl="0" algn="l">
                <a:spcBef>
                  <a:spcPts val="300"/>
                </a:spcBef>
                <a:spcAft>
                  <a:spcPts val="0"/>
                </a:spcAft>
                <a:buClr>
                  <a:srgbClr val="1B2430"/>
                </a:buClr>
                <a:buSzPts val="1150"/>
                <a:buFont typeface="Calibri"/>
                <a:buChar char="●"/>
              </a:pPr>
              <a:r>
                <a:rPr lang="en-US" sz="1150">
                  <a:solidFill>
                    <a:srgbClr val="1B2430"/>
                  </a:solidFill>
                  <a:latin typeface="Calibri"/>
                  <a:ea typeface="Calibri"/>
                  <a:cs typeface="Calibri"/>
                  <a:sym typeface="Calibri"/>
                </a:rPr>
                <a:t>Class weight balancing (class_weight='balanced') for tree models</a:t>
              </a:r>
              <a:endParaRPr sz="1150">
                <a:solidFill>
                  <a:srgbClr val="1B2430"/>
                </a:solidFill>
                <a:latin typeface="Calibri"/>
                <a:ea typeface="Calibri"/>
                <a:cs typeface="Calibri"/>
                <a:sym typeface="Calibri"/>
              </a:endParaRPr>
            </a:p>
            <a:p>
              <a:pPr indent="0" lvl="0" marL="0" rtl="0" algn="l">
                <a:spcBef>
                  <a:spcPts val="1125"/>
                </a:spcBef>
                <a:spcAft>
                  <a:spcPts val="0"/>
                </a:spcAft>
                <a:buNone/>
              </a:pPr>
              <a:r>
                <a:rPr b="1" lang="en-US" sz="1400">
                  <a:solidFill>
                    <a:srgbClr val="0F2A5E"/>
                  </a:solidFill>
                  <a:latin typeface="Calibri"/>
                  <a:ea typeface="Calibri"/>
                  <a:cs typeface="Calibri"/>
                  <a:sym typeface="Calibri"/>
                </a:rPr>
                <a:t>Feature Preprocessing</a:t>
              </a:r>
              <a:endParaRPr b="1" sz="1400">
                <a:solidFill>
                  <a:srgbClr val="0F2A5E"/>
                </a:solidFill>
                <a:latin typeface="Calibri"/>
                <a:ea typeface="Calibri"/>
                <a:cs typeface="Calibri"/>
                <a:sym typeface="Calibri"/>
              </a:endParaRPr>
            </a:p>
            <a:p>
              <a:pPr indent="-301625" lvl="0" marL="457200" rtl="0" algn="l">
                <a:spcBef>
                  <a:spcPts val="450"/>
                </a:spcBef>
                <a:spcAft>
                  <a:spcPts val="0"/>
                </a:spcAft>
                <a:buClr>
                  <a:srgbClr val="1B2430"/>
                </a:buClr>
                <a:buSzPts val="1150"/>
                <a:buFont typeface="Calibri"/>
                <a:buChar char="●"/>
              </a:pPr>
              <a:r>
                <a:rPr lang="en-US" sz="1150">
                  <a:solidFill>
                    <a:srgbClr val="1B2430"/>
                  </a:solidFill>
                  <a:latin typeface="Calibri"/>
                  <a:ea typeface="Calibri"/>
                  <a:cs typeface="Calibri"/>
                  <a:sym typeface="Calibri"/>
                </a:rPr>
                <a:t>StandardScaler applied to all numeric features</a:t>
              </a:r>
              <a:endParaRPr sz="1150">
                <a:solidFill>
                  <a:srgbClr val="1B2430"/>
                </a:solidFill>
                <a:latin typeface="Calibri"/>
                <a:ea typeface="Calibri"/>
                <a:cs typeface="Calibri"/>
                <a:sym typeface="Calibri"/>
              </a:endParaRPr>
            </a:p>
            <a:p>
              <a:pPr indent="-301625" lvl="0" marL="457200" rtl="0" algn="l">
                <a:spcBef>
                  <a:spcPts val="300"/>
                </a:spcBef>
                <a:spcAft>
                  <a:spcPts val="0"/>
                </a:spcAft>
                <a:buClr>
                  <a:srgbClr val="1B2430"/>
                </a:buClr>
                <a:buSzPts val="1150"/>
                <a:buFont typeface="Calibri"/>
                <a:buChar char="●"/>
              </a:pPr>
              <a:r>
                <a:rPr lang="en-US" sz="1150">
                  <a:solidFill>
                    <a:srgbClr val="1B2430"/>
                  </a:solidFill>
                  <a:latin typeface="Calibri"/>
                  <a:ea typeface="Calibri"/>
                  <a:cs typeface="Calibri"/>
                  <a:sym typeface="Calibri"/>
                </a:rPr>
                <a:t>One-Hot Encoding for low-cardinality categoricals (courier, weather, season)</a:t>
              </a:r>
              <a:endParaRPr sz="1150">
                <a:solidFill>
                  <a:srgbClr val="1B2430"/>
                </a:solidFill>
                <a:latin typeface="Calibri"/>
                <a:ea typeface="Calibri"/>
                <a:cs typeface="Calibri"/>
                <a:sym typeface="Calibri"/>
              </a:endParaRPr>
            </a:p>
            <a:p>
              <a:pPr indent="-301625" lvl="0" marL="457200" rtl="0" algn="l">
                <a:spcBef>
                  <a:spcPts val="300"/>
                </a:spcBef>
                <a:spcAft>
                  <a:spcPts val="300"/>
                </a:spcAft>
                <a:buClr>
                  <a:srgbClr val="1B2430"/>
                </a:buClr>
                <a:buSzPts val="1150"/>
                <a:buFont typeface="Calibri"/>
                <a:buChar char="●"/>
              </a:pPr>
              <a:r>
                <a:rPr lang="en-US" sz="1150">
                  <a:solidFill>
                    <a:srgbClr val="1B2430"/>
                  </a:solidFill>
                  <a:latin typeface="Calibri"/>
                  <a:ea typeface="Calibri"/>
                  <a:cs typeface="Calibri"/>
                  <a:sym typeface="Calibri"/>
                </a:rPr>
                <a:t>Target Encoding for high-cardinality fields (area: 27, category: 74)</a:t>
              </a:r>
              <a:endParaRPr sz="1150">
                <a:solidFill>
                  <a:srgbClr val="1B2430"/>
                </a:solidFill>
                <a:latin typeface="Calibri"/>
                <a:ea typeface="Calibri"/>
                <a:cs typeface="Calibri"/>
                <a:sym typeface="Calibri"/>
              </a:endParaRPr>
            </a:p>
          </p:txBody>
        </p:sp>
      </p:grpSp>
      <p:grpSp>
        <p:nvGrpSpPr>
          <p:cNvPr id="323" name="Google Shape;323;p21"/>
          <p:cNvGrpSpPr/>
          <p:nvPr/>
        </p:nvGrpSpPr>
        <p:grpSpPr>
          <a:xfrm>
            <a:off x="7772400" y="1666875"/>
            <a:ext cx="3916800" cy="4572000"/>
            <a:chOff x="0" y="0"/>
            <a:chExt cx="3916800" cy="4572000"/>
          </a:xfrm>
        </p:grpSpPr>
        <p:sp>
          <p:nvSpPr>
            <p:cNvPr id="324" name="Google Shape;324;p21"/>
            <p:cNvSpPr/>
            <p:nvPr/>
          </p:nvSpPr>
          <p:spPr>
            <a:xfrm>
              <a:off x="0" y="0"/>
              <a:ext cx="3916800" cy="4572000"/>
            </a:xfrm>
            <a:prstGeom prst="roundRect">
              <a:avLst>
                <a:gd fmla="val 2101" name="adj"/>
              </a:avLst>
            </a:prstGeom>
            <a:solidFill>
              <a:srgbClr val="EAF1FC"/>
            </a:solidFill>
            <a:ln cap="flat" cmpd="sng" w="12675">
              <a:solidFill>
                <a:srgbClr val="D7E3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1"/>
            <p:cNvSpPr/>
            <p:nvPr/>
          </p:nvSpPr>
          <p:spPr>
            <a:xfrm>
              <a:off x="190500" y="190500"/>
              <a:ext cx="857400" cy="228600"/>
            </a:xfrm>
            <a:prstGeom prst="roundRect">
              <a:avLst>
                <a:gd fmla="val 50000" name="adj"/>
              </a:avLst>
            </a:prstGeom>
            <a:solidFill>
              <a:srgbClr val="0F2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1"/>
            <p:cNvSpPr txBox="1"/>
            <p:nvPr/>
          </p:nvSpPr>
          <p:spPr>
            <a:xfrm>
              <a:off x="190500" y="1905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50"/>
                </a:spcAft>
                <a:buNone/>
              </a:pPr>
              <a:r>
                <a:rPr b="1" lang="en-US" sz="900">
                  <a:solidFill>
                    <a:srgbClr val="FFFFFF"/>
                  </a:solidFill>
                  <a:latin typeface="Calibri"/>
                  <a:ea typeface="Calibri"/>
                  <a:cs typeface="Calibri"/>
                  <a:sym typeface="Calibri"/>
                </a:rPr>
                <a:t>EVALUATION</a:t>
              </a:r>
              <a:endParaRPr b="1" sz="900">
                <a:solidFill>
                  <a:srgbClr val="FFFFFF"/>
                </a:solidFill>
                <a:latin typeface="Calibri"/>
                <a:ea typeface="Calibri"/>
                <a:cs typeface="Calibri"/>
                <a:sym typeface="Calibri"/>
              </a:endParaRPr>
            </a:p>
          </p:txBody>
        </p:sp>
        <p:sp>
          <p:nvSpPr>
            <p:cNvPr id="327" name="Google Shape;327;p21"/>
            <p:cNvSpPr txBox="1"/>
            <p:nvPr/>
          </p:nvSpPr>
          <p:spPr>
            <a:xfrm>
              <a:off x="190500" y="571500"/>
              <a:ext cx="35358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2A5E"/>
                  </a:solidFill>
                  <a:latin typeface="Calibri"/>
                  <a:ea typeface="Calibri"/>
                  <a:cs typeface="Calibri"/>
                  <a:sym typeface="Calibri"/>
                </a:rPr>
                <a:t>Validation Strategy</a:t>
              </a:r>
              <a:endParaRPr b="1" sz="1400">
                <a:solidFill>
                  <a:srgbClr val="0F2A5E"/>
                </a:solidFill>
                <a:latin typeface="Calibri"/>
                <a:ea typeface="Calibri"/>
                <a:cs typeface="Calibri"/>
                <a:sym typeface="Calibri"/>
              </a:endParaRPr>
            </a:p>
            <a:p>
              <a:pPr indent="0" lvl="0" marL="0" rtl="0" algn="l">
                <a:spcBef>
                  <a:spcPts val="450"/>
                </a:spcBef>
                <a:spcAft>
                  <a:spcPts val="0"/>
                </a:spcAft>
                <a:buNone/>
              </a:pPr>
              <a:r>
                <a:rPr lang="en-US" sz="1150">
                  <a:solidFill>
                    <a:srgbClr val="1B2430"/>
                  </a:solidFill>
                  <a:latin typeface="Calibri"/>
                  <a:ea typeface="Calibri"/>
                  <a:cs typeface="Calibri"/>
                  <a:sym typeface="Calibri"/>
                </a:rPr>
                <a:t>Instead of a single train/test split, we apply robust </a:t>
              </a:r>
              <a:r>
                <a:rPr b="1" lang="en-US" sz="1150">
                  <a:solidFill>
                    <a:srgbClr val="2461C0"/>
                  </a:solidFill>
                  <a:latin typeface="Calibri"/>
                  <a:ea typeface="Calibri"/>
                  <a:cs typeface="Calibri"/>
                  <a:sym typeface="Calibri"/>
                </a:rPr>
                <a:t>5-fold stratified cross-validation</a:t>
              </a:r>
              <a:r>
                <a:rPr lang="en-US" sz="1150">
                  <a:solidFill>
                    <a:srgbClr val="1B2430"/>
                  </a:solidFill>
                  <a:latin typeface="Calibri"/>
                  <a:ea typeface="Calibri"/>
                  <a:cs typeface="Calibri"/>
                  <a:sym typeface="Calibri"/>
                </a:rPr>
                <a:t> to maintain the correct class distribution across all splits.</a:t>
              </a:r>
              <a:endParaRPr sz="1150">
                <a:solidFill>
                  <a:srgbClr val="1B2430"/>
                </a:solidFill>
                <a:latin typeface="Calibri"/>
                <a:ea typeface="Calibri"/>
                <a:cs typeface="Calibri"/>
                <a:sym typeface="Calibri"/>
              </a:endParaRPr>
            </a:p>
            <a:p>
              <a:pPr indent="0" lvl="0" marL="0" rtl="0" algn="l">
                <a:spcBef>
                  <a:spcPts val="1125"/>
                </a:spcBef>
                <a:spcAft>
                  <a:spcPts val="0"/>
                </a:spcAft>
                <a:buNone/>
              </a:pPr>
              <a:r>
                <a:rPr b="1" lang="en-US" sz="1400">
                  <a:solidFill>
                    <a:srgbClr val="0F2A5E"/>
                  </a:solidFill>
                  <a:latin typeface="Calibri"/>
                  <a:ea typeface="Calibri"/>
                  <a:cs typeface="Calibri"/>
                  <a:sym typeface="Calibri"/>
                </a:rPr>
                <a:t>Holistic Metrics</a:t>
              </a:r>
              <a:endParaRPr b="1" sz="1400">
                <a:solidFill>
                  <a:srgbClr val="0F2A5E"/>
                </a:solidFill>
                <a:latin typeface="Calibri"/>
                <a:ea typeface="Calibri"/>
                <a:cs typeface="Calibri"/>
                <a:sym typeface="Calibri"/>
              </a:endParaRPr>
            </a:p>
            <a:p>
              <a:pPr indent="0" lvl="0" marL="0" rtl="0" algn="l">
                <a:spcBef>
                  <a:spcPts val="450"/>
                </a:spcBef>
                <a:spcAft>
                  <a:spcPts val="0"/>
                </a:spcAft>
                <a:buNone/>
              </a:pPr>
              <a:r>
                <a:rPr lang="en-US" sz="1150">
                  <a:solidFill>
                    <a:srgbClr val="1B2430"/>
                  </a:solidFill>
                  <a:latin typeface="Calibri"/>
                  <a:ea typeface="Calibri"/>
                  <a:cs typeface="Calibri"/>
                  <a:sym typeface="Calibri"/>
                </a:rPr>
                <a:t>We score models using Precision, Recall, F1-Score, and ROC-AUC.</a:t>
              </a:r>
              <a:endParaRPr sz="1150">
                <a:solidFill>
                  <a:srgbClr val="1B2430"/>
                </a:solidFill>
                <a:latin typeface="Calibri"/>
                <a:ea typeface="Calibri"/>
                <a:cs typeface="Calibri"/>
                <a:sym typeface="Calibri"/>
              </a:endParaRPr>
            </a:p>
            <a:p>
              <a:pPr indent="0" lvl="0" marL="0" rtl="0" algn="l">
                <a:spcBef>
                  <a:spcPts val="750"/>
                </a:spcBef>
                <a:spcAft>
                  <a:spcPts val="450"/>
                </a:spcAft>
                <a:buNone/>
              </a:pPr>
              <a:r>
                <a:rPr i="1" lang="en-US" sz="1150">
                  <a:solidFill>
                    <a:srgbClr val="5B6B82"/>
                  </a:solidFill>
                  <a:latin typeface="Calibri"/>
                  <a:ea typeface="Calibri"/>
                  <a:cs typeface="Calibri"/>
                  <a:sym typeface="Calibri"/>
                </a:rPr>
                <a:t>Why? A naive model predicting always "on-time" yields 93.6% Accuracy but fails entirely to identify delayed orders.</a:t>
              </a:r>
              <a:endParaRPr i="1" sz="1150">
                <a:solidFill>
                  <a:srgbClr val="5B6B82"/>
                </a:solidFill>
                <a:latin typeface="Calibri"/>
                <a:ea typeface="Calibri"/>
                <a:cs typeface="Calibri"/>
                <a:sym typeface="Calibri"/>
              </a:endParaRPr>
            </a:p>
          </p:txBody>
        </p:sp>
      </p:grpSp>
      <p:sp>
        <p:nvSpPr>
          <p:cNvPr id="328" name="Google Shape;328;p21"/>
          <p:cNvSpPr txBox="1"/>
          <p:nvPr/>
        </p:nvSpPr>
        <p:spPr>
          <a:xfrm>
            <a:off x="502920" y="6510528"/>
            <a:ext cx="54864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50"/>
              </a:spcAft>
              <a:buNone/>
            </a:pPr>
            <a:r>
              <a:rPr b="0" lang="en-US" sz="900">
                <a:solidFill>
                  <a:srgbClr val="5B6B82"/>
                </a:solidFill>
                <a:latin typeface="Calibri"/>
                <a:ea typeface="Calibri"/>
                <a:cs typeface="Calibri"/>
                <a:sym typeface="Calibri"/>
              </a:rPr>
              <a:t>Machine Learning Models</a:t>
            </a:r>
            <a:endParaRPr b="0" sz="900">
              <a:solidFill>
                <a:srgbClr val="5B6B8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3</a:t>
            </a:r>
            <a:endParaRPr b="0" i="0" sz="1000" u="none" cap="none" strike="noStrike">
              <a:solidFill>
                <a:schemeClr val="dk1"/>
              </a:solidFill>
              <a:latin typeface="Calibri"/>
              <a:ea typeface="Calibri"/>
              <a:cs typeface="Calibri"/>
              <a:sym typeface="Calibri"/>
            </a:endParaRPr>
          </a:p>
        </p:txBody>
      </p:sp>
      <p:sp>
        <p:nvSpPr>
          <p:cNvPr id="336" name="Google Shape;336;p22"/>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METHODOLOGY</a:t>
            </a:r>
            <a:endParaRPr b="0" i="0" sz="1200" u="none" cap="none" strike="noStrike">
              <a:solidFill>
                <a:schemeClr val="dk1"/>
              </a:solidFill>
              <a:latin typeface="Calibri"/>
              <a:ea typeface="Calibri"/>
              <a:cs typeface="Calibri"/>
              <a:sym typeface="Calibri"/>
            </a:endParaRPr>
          </a:p>
        </p:txBody>
      </p:sp>
      <p:sp>
        <p:nvSpPr>
          <p:cNvPr id="337" name="Google Shape;337;p22"/>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Machine Learning Models</a:t>
            </a:r>
            <a:endParaRPr b="0" i="0" sz="3000" u="none" cap="none" strike="noStrike">
              <a:solidFill>
                <a:schemeClr val="dk1"/>
              </a:solidFill>
              <a:latin typeface="Calibri"/>
              <a:ea typeface="Calibri"/>
              <a:cs typeface="Calibri"/>
              <a:sym typeface="Calibri"/>
            </a:endParaRPr>
          </a:p>
        </p:txBody>
      </p:sp>
      <p:sp>
        <p:nvSpPr>
          <p:cNvPr id="338" name="Google Shape;338;p22"/>
          <p:cNvSpPr/>
          <p:nvPr/>
        </p:nvSpPr>
        <p:spPr>
          <a:xfrm>
            <a:off x="502920" y="1828800"/>
            <a:ext cx="2606040" cy="2651760"/>
          </a:xfrm>
          <a:prstGeom prst="roundRect">
            <a:avLst>
              <a:gd fmla="val 315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2"/>
          <p:cNvSpPr/>
          <p:nvPr/>
        </p:nvSpPr>
        <p:spPr>
          <a:xfrm>
            <a:off x="502920" y="1828800"/>
            <a:ext cx="2606040" cy="457200"/>
          </a:xfrm>
          <a:prstGeom prst="rect">
            <a:avLst/>
          </a:prstGeom>
          <a:solidFill>
            <a:srgbClr val="5B6B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502920" y="18288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Baseline</a:t>
            </a:r>
            <a:endParaRPr b="0" i="0" sz="1250" u="none" cap="none" strike="noStrike">
              <a:solidFill>
                <a:schemeClr val="dk1"/>
              </a:solidFill>
              <a:latin typeface="Calibri"/>
              <a:ea typeface="Calibri"/>
              <a:cs typeface="Calibri"/>
              <a:sym typeface="Calibri"/>
            </a:endParaRPr>
          </a:p>
        </p:txBody>
      </p:sp>
      <p:sp>
        <p:nvSpPr>
          <p:cNvPr id="341" name="Google Shape;341;p22"/>
          <p:cNvSpPr/>
          <p:nvPr/>
        </p:nvSpPr>
        <p:spPr>
          <a:xfrm>
            <a:off x="640080" y="24231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Dummy Classifier (majority class)</a:t>
            </a:r>
            <a:endParaRPr b="0" i="0" sz="1250" u="none" cap="none" strike="noStrike">
              <a:solidFill>
                <a:schemeClr val="dk1"/>
              </a:solidFill>
              <a:latin typeface="Calibri"/>
              <a:ea typeface="Calibri"/>
              <a:cs typeface="Calibri"/>
              <a:sym typeface="Calibri"/>
            </a:endParaRPr>
          </a:p>
        </p:txBody>
      </p:sp>
      <p:sp>
        <p:nvSpPr>
          <p:cNvPr id="342" name="Google Shape;342;p22"/>
          <p:cNvSpPr/>
          <p:nvPr/>
        </p:nvSpPr>
        <p:spPr>
          <a:xfrm>
            <a:off x="3337560" y="1828800"/>
            <a:ext cx="2606040" cy="2651760"/>
          </a:xfrm>
          <a:prstGeom prst="roundRect">
            <a:avLst>
              <a:gd fmla="val 315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3337560" y="1828800"/>
            <a:ext cx="2606040" cy="457200"/>
          </a:xfrm>
          <a:prstGeom prst="rect">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p:nvPr/>
        </p:nvSpPr>
        <p:spPr>
          <a:xfrm>
            <a:off x="3337560" y="18288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Tree-Based</a:t>
            </a:r>
            <a:endParaRPr b="0" i="0" sz="1250" u="none" cap="none" strike="noStrike">
              <a:solidFill>
                <a:schemeClr val="dk1"/>
              </a:solidFill>
              <a:latin typeface="Calibri"/>
              <a:ea typeface="Calibri"/>
              <a:cs typeface="Calibri"/>
              <a:sym typeface="Calibri"/>
            </a:endParaRPr>
          </a:p>
        </p:txBody>
      </p:sp>
      <p:sp>
        <p:nvSpPr>
          <p:cNvPr id="345" name="Google Shape;345;p22"/>
          <p:cNvSpPr/>
          <p:nvPr/>
        </p:nvSpPr>
        <p:spPr>
          <a:xfrm>
            <a:off x="3474720" y="24231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Random Forest</a:t>
            </a:r>
            <a:endParaRPr b="0" i="0" sz="1250" u="none" cap="none" strike="noStrike">
              <a:solidFill>
                <a:schemeClr val="dk1"/>
              </a:solidFill>
              <a:latin typeface="Calibri"/>
              <a:ea typeface="Calibri"/>
              <a:cs typeface="Calibri"/>
              <a:sym typeface="Calibri"/>
            </a:endParaRPr>
          </a:p>
        </p:txBody>
      </p:sp>
      <p:sp>
        <p:nvSpPr>
          <p:cNvPr id="346" name="Google Shape;346;p22"/>
          <p:cNvSpPr/>
          <p:nvPr/>
        </p:nvSpPr>
        <p:spPr>
          <a:xfrm>
            <a:off x="3474720" y="31089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Decision Tree</a:t>
            </a:r>
            <a:endParaRPr b="0" i="0" sz="1250" u="none" cap="none" strike="noStrike">
              <a:solidFill>
                <a:schemeClr val="dk1"/>
              </a:solidFill>
              <a:latin typeface="Calibri"/>
              <a:ea typeface="Calibri"/>
              <a:cs typeface="Calibri"/>
              <a:sym typeface="Calibri"/>
            </a:endParaRPr>
          </a:p>
        </p:txBody>
      </p:sp>
      <p:sp>
        <p:nvSpPr>
          <p:cNvPr id="347" name="Google Shape;347;p22"/>
          <p:cNvSpPr/>
          <p:nvPr/>
        </p:nvSpPr>
        <p:spPr>
          <a:xfrm>
            <a:off x="6172200" y="1828800"/>
            <a:ext cx="2606040" cy="2651760"/>
          </a:xfrm>
          <a:prstGeom prst="roundRect">
            <a:avLst>
              <a:gd fmla="val 315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2"/>
          <p:cNvSpPr/>
          <p:nvPr/>
        </p:nvSpPr>
        <p:spPr>
          <a:xfrm>
            <a:off x="6172200" y="1828800"/>
            <a:ext cx="2606040" cy="457200"/>
          </a:xfrm>
          <a:prstGeom prst="rect">
            <a:avLst/>
          </a:prstGeom>
          <a:solidFill>
            <a:srgbClr val="5B8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6172200" y="18288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Distance / Linear</a:t>
            </a:r>
            <a:endParaRPr b="0" i="0" sz="1250" u="none" cap="none" strike="noStrike">
              <a:solidFill>
                <a:schemeClr val="dk1"/>
              </a:solidFill>
              <a:latin typeface="Calibri"/>
              <a:ea typeface="Calibri"/>
              <a:cs typeface="Calibri"/>
              <a:sym typeface="Calibri"/>
            </a:endParaRPr>
          </a:p>
        </p:txBody>
      </p:sp>
      <p:sp>
        <p:nvSpPr>
          <p:cNvPr id="350" name="Google Shape;350;p22"/>
          <p:cNvSpPr/>
          <p:nvPr/>
        </p:nvSpPr>
        <p:spPr>
          <a:xfrm>
            <a:off x="6309360" y="24231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Logistic Regression</a:t>
            </a:r>
            <a:endParaRPr b="0" i="0" sz="1250" u="none" cap="none" strike="noStrike">
              <a:solidFill>
                <a:schemeClr val="dk1"/>
              </a:solidFill>
              <a:latin typeface="Calibri"/>
              <a:ea typeface="Calibri"/>
              <a:cs typeface="Calibri"/>
              <a:sym typeface="Calibri"/>
            </a:endParaRPr>
          </a:p>
        </p:txBody>
      </p:sp>
      <p:sp>
        <p:nvSpPr>
          <p:cNvPr id="351" name="Google Shape;351;p22"/>
          <p:cNvSpPr/>
          <p:nvPr/>
        </p:nvSpPr>
        <p:spPr>
          <a:xfrm>
            <a:off x="6309360" y="31089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K-Nearest Neighbors</a:t>
            </a:r>
            <a:endParaRPr b="0" i="0" sz="1250" u="none" cap="none" strike="noStrike">
              <a:solidFill>
                <a:schemeClr val="dk1"/>
              </a:solidFill>
              <a:latin typeface="Calibri"/>
              <a:ea typeface="Calibri"/>
              <a:cs typeface="Calibri"/>
              <a:sym typeface="Calibri"/>
            </a:endParaRPr>
          </a:p>
        </p:txBody>
      </p:sp>
      <p:sp>
        <p:nvSpPr>
          <p:cNvPr id="352" name="Google Shape;352;p22"/>
          <p:cNvSpPr/>
          <p:nvPr/>
        </p:nvSpPr>
        <p:spPr>
          <a:xfrm>
            <a:off x="9006840" y="1828800"/>
            <a:ext cx="2606040" cy="2651760"/>
          </a:xfrm>
          <a:prstGeom prst="roundRect">
            <a:avLst>
              <a:gd fmla="val 3158"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9006840" y="1828800"/>
            <a:ext cx="2606040" cy="457200"/>
          </a:xfrm>
          <a:prstGeom prst="rect">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9006840" y="18288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Kernel &amp; Neural</a:t>
            </a:r>
            <a:endParaRPr b="0" i="0" sz="1250" u="none" cap="none" strike="noStrike">
              <a:solidFill>
                <a:schemeClr val="dk1"/>
              </a:solidFill>
              <a:latin typeface="Calibri"/>
              <a:ea typeface="Calibri"/>
              <a:cs typeface="Calibri"/>
              <a:sym typeface="Calibri"/>
            </a:endParaRPr>
          </a:p>
        </p:txBody>
      </p:sp>
      <p:sp>
        <p:nvSpPr>
          <p:cNvPr id="355" name="Google Shape;355;p22"/>
          <p:cNvSpPr/>
          <p:nvPr/>
        </p:nvSpPr>
        <p:spPr>
          <a:xfrm>
            <a:off x="9144000" y="24231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lang="en-US" sz="1250">
                <a:solidFill>
                  <a:srgbClr val="1B2430"/>
                </a:solidFill>
                <a:latin typeface="Calibri"/>
                <a:ea typeface="Calibri"/>
                <a:cs typeface="Calibri"/>
                <a:sym typeface="Calibri"/>
              </a:rPr>
              <a:t>Linear</a:t>
            </a:r>
            <a:r>
              <a:rPr b="0" i="0" lang="en-US" sz="1250" u="none" cap="none" strike="noStrike">
                <a:solidFill>
                  <a:srgbClr val="1B2430"/>
                </a:solidFill>
                <a:latin typeface="Calibri"/>
                <a:ea typeface="Calibri"/>
                <a:cs typeface="Calibri"/>
                <a:sym typeface="Calibri"/>
              </a:rPr>
              <a:t> SVC</a:t>
            </a:r>
            <a:endParaRPr b="0" i="0" sz="1250" u="none" cap="none" strike="noStrike">
              <a:solidFill>
                <a:schemeClr val="dk1"/>
              </a:solidFill>
              <a:latin typeface="Calibri"/>
              <a:ea typeface="Calibri"/>
              <a:cs typeface="Calibri"/>
              <a:sym typeface="Calibri"/>
            </a:endParaRPr>
          </a:p>
        </p:txBody>
      </p:sp>
      <p:sp>
        <p:nvSpPr>
          <p:cNvPr id="356" name="Google Shape;356;p22"/>
          <p:cNvSpPr/>
          <p:nvPr/>
        </p:nvSpPr>
        <p:spPr>
          <a:xfrm>
            <a:off x="9144000" y="3108960"/>
            <a:ext cx="2331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Neural Network (MLP)</a:t>
            </a:r>
            <a:endParaRPr b="0" i="0" sz="1250" u="none" cap="none" strike="noStrike">
              <a:solidFill>
                <a:schemeClr val="dk1"/>
              </a:solidFill>
              <a:latin typeface="Calibri"/>
              <a:ea typeface="Calibri"/>
              <a:cs typeface="Calibri"/>
              <a:sym typeface="Calibri"/>
            </a:endParaRPr>
          </a:p>
        </p:txBody>
      </p:sp>
      <p:sp>
        <p:nvSpPr>
          <p:cNvPr id="357" name="Google Shape;357;p22"/>
          <p:cNvSpPr/>
          <p:nvPr/>
        </p:nvSpPr>
        <p:spPr>
          <a:xfrm>
            <a:off x="502920" y="4663440"/>
            <a:ext cx="11155680" cy="173736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7 models were trained and compared under identical preprocessing and 5-fold Stratified cross-validation.</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Class imbalance handling: class_weight='balanced' for tree models; SMOTE oversampling (inside each CV fold) for distance/linear/kernel/neural models.</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Random Forest was later tuned with RandomizedSearchCV (10 iterations, f1-scoring) — best params: n_estimators=100, max_depth=15, min_samples_split=10, min_samples_leaf=4, class_weight='balanced'.</a:t>
            </a:r>
            <a:endParaRPr b="0" i="0" sz="1250" u="none" cap="none" strike="noStrike">
              <a:solidFill>
                <a:schemeClr val="dk1"/>
              </a:solidFill>
              <a:latin typeface="Calibri"/>
              <a:ea typeface="Calibri"/>
              <a:cs typeface="Calibri"/>
              <a:sym typeface="Calibri"/>
            </a:endParaRPr>
          </a:p>
        </p:txBody>
      </p:sp>
      <p:sp>
        <p:nvSpPr>
          <p:cNvPr id="358" name="Google Shape;358;p22"/>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Machine Learning Models</a:t>
            </a:r>
            <a:endParaRPr b="0" i="0" sz="900" u="none" cap="none" strike="noStrike">
              <a:solidFill>
                <a:schemeClr val="dk1"/>
              </a:solidFill>
              <a:latin typeface="Calibri"/>
              <a:ea typeface="Calibri"/>
              <a:cs typeface="Calibri"/>
              <a:sym typeface="Calibri"/>
            </a:endParaRPr>
          </a:p>
        </p:txBody>
      </p:sp>
      <p:sp>
        <p:nvSpPr>
          <p:cNvPr id="359" name="Google Shape;359;p22"/>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3"/>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3"/>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67" name="Google Shape;367;p23"/>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5-FOLD CROSS-VALIDATION RESULTS</a:t>
            </a:r>
            <a:endParaRPr b="0" i="0" sz="1200" u="none" cap="none" strike="noStrike">
              <a:solidFill>
                <a:schemeClr val="dk1"/>
              </a:solidFill>
              <a:latin typeface="Calibri"/>
              <a:ea typeface="Calibri"/>
              <a:cs typeface="Calibri"/>
              <a:sym typeface="Calibri"/>
            </a:endParaRPr>
          </a:p>
        </p:txBody>
      </p:sp>
      <p:sp>
        <p:nvSpPr>
          <p:cNvPr id="368" name="Google Shape;368;p23"/>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Model Comparison</a:t>
            </a:r>
            <a:endParaRPr b="0" i="0" sz="3000" u="none" cap="none" strike="noStrike">
              <a:solidFill>
                <a:schemeClr val="dk1"/>
              </a:solidFill>
              <a:latin typeface="Calibri"/>
              <a:ea typeface="Calibri"/>
              <a:cs typeface="Calibri"/>
              <a:sym typeface="Calibri"/>
            </a:endParaRPr>
          </a:p>
        </p:txBody>
      </p:sp>
      <p:graphicFrame>
        <p:nvGraphicFramePr>
          <p:cNvPr id="369" name="Google Shape;369;p23"/>
          <p:cNvGraphicFramePr/>
          <p:nvPr/>
        </p:nvGraphicFramePr>
        <p:xfrm>
          <a:off x="502920" y="1828800"/>
          <a:ext cx="3000000" cy="3000000"/>
        </p:xfrm>
        <a:graphic>
          <a:graphicData uri="http://schemas.openxmlformats.org/drawingml/2006/table">
            <a:tbl>
              <a:tblPr>
                <a:noFill/>
                <a:tableStyleId>{BD07CB38-5233-4F2D-9DB7-004F80A6FE57}</a:tableStyleId>
              </a:tblPr>
              <a:tblGrid>
                <a:gridCol w="1859275"/>
                <a:gridCol w="1859275"/>
                <a:gridCol w="1859275"/>
                <a:gridCol w="1859275"/>
                <a:gridCol w="1859275"/>
                <a:gridCol w="1859275"/>
              </a:tblGrid>
              <a:tr h="377200">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Model</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Accuracy</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Precision</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Recall</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F1</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ROC-AUC</a:t>
                      </a:r>
                      <a:endParaRPr sz="125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0F2A5E"/>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Dummy (majority class)</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0.936</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0.000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0.000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0.000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0.500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0F2A5E"/>
                        </a:buClr>
                        <a:buSzPts val="1200"/>
                        <a:buFont typeface="Calibri"/>
                        <a:buNone/>
                      </a:pPr>
                      <a:r>
                        <a:rPr b="1" lang="en-US" sz="1200" u="none" cap="none" strike="noStrike">
                          <a:solidFill>
                            <a:srgbClr val="0F2A5E"/>
                          </a:solidFill>
                          <a:latin typeface="Calibri"/>
                          <a:ea typeface="Calibri"/>
                          <a:cs typeface="Calibri"/>
                          <a:sym typeface="Calibri"/>
                        </a:rPr>
                        <a:t>Random Forest ★</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c>
                  <a:txBody>
                    <a:bodyPr/>
                    <a:lstStyle/>
                    <a:p>
                      <a:pPr indent="0" lvl="0" marL="0" marR="0" rtl="0" algn="ctr">
                        <a:spcBef>
                          <a:spcPts val="0"/>
                        </a:spcBef>
                        <a:spcAft>
                          <a:spcPts val="0"/>
                        </a:spcAft>
                        <a:buClr>
                          <a:srgbClr val="0F2A5E"/>
                        </a:buClr>
                        <a:buSzPts val="1200"/>
                        <a:buFont typeface="Calibri"/>
                        <a:buNone/>
                      </a:pPr>
                      <a:r>
                        <a:rPr lang="en-US" sz="1200" u="none" cap="none" strike="noStrike">
                          <a:solidFill>
                            <a:srgbClr val="0F2A5E"/>
                          </a:solidFill>
                          <a:latin typeface="Calibri"/>
                          <a:ea typeface="Calibri"/>
                          <a:cs typeface="Calibri"/>
                          <a:sym typeface="Calibri"/>
                        </a:rPr>
                        <a:t>0.934</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c>
                  <a:txBody>
                    <a:bodyPr/>
                    <a:lstStyle/>
                    <a:p>
                      <a:pPr indent="0" lvl="0" marL="0" marR="0" rtl="0" algn="ctr">
                        <a:spcBef>
                          <a:spcPts val="0"/>
                        </a:spcBef>
                        <a:spcAft>
                          <a:spcPts val="0"/>
                        </a:spcAft>
                        <a:buClr>
                          <a:srgbClr val="0F2A5E"/>
                        </a:buClr>
                        <a:buSzPts val="1200"/>
                        <a:buFont typeface="Calibri"/>
                        <a:buNone/>
                      </a:pPr>
                      <a:r>
                        <a:rPr lang="en-US" sz="1200" u="none" cap="none" strike="noStrike">
                          <a:solidFill>
                            <a:srgbClr val="0F2A5E"/>
                          </a:solidFill>
                          <a:latin typeface="Calibri"/>
                          <a:ea typeface="Calibri"/>
                          <a:cs typeface="Calibri"/>
                          <a:sym typeface="Calibri"/>
                        </a:rPr>
                        <a:t>0.</a:t>
                      </a:r>
                      <a:r>
                        <a:rPr lang="en-US" sz="1200">
                          <a:solidFill>
                            <a:srgbClr val="0F2A5E"/>
                          </a:solidFill>
                          <a:latin typeface="Calibri"/>
                          <a:ea typeface="Calibri"/>
                          <a:cs typeface="Calibri"/>
                          <a:sym typeface="Calibri"/>
                        </a:rPr>
                        <a:t>251</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c>
                  <a:txBody>
                    <a:bodyPr/>
                    <a:lstStyle/>
                    <a:p>
                      <a:pPr indent="0" lvl="0" marL="0" marR="0" rtl="0" algn="ctr">
                        <a:spcBef>
                          <a:spcPts val="0"/>
                        </a:spcBef>
                        <a:spcAft>
                          <a:spcPts val="0"/>
                        </a:spcAft>
                        <a:buClr>
                          <a:srgbClr val="0F2A5E"/>
                        </a:buClr>
                        <a:buSzPts val="1200"/>
                        <a:buFont typeface="Calibri"/>
                        <a:buNone/>
                      </a:pPr>
                      <a:r>
                        <a:rPr lang="en-US" sz="1200" u="none" cap="none" strike="noStrike">
                          <a:solidFill>
                            <a:srgbClr val="0F2A5E"/>
                          </a:solidFill>
                          <a:latin typeface="Calibri"/>
                          <a:ea typeface="Calibri"/>
                          <a:cs typeface="Calibri"/>
                          <a:sym typeface="Calibri"/>
                        </a:rPr>
                        <a:t>0.</a:t>
                      </a:r>
                      <a:r>
                        <a:rPr lang="en-US" sz="1200">
                          <a:solidFill>
                            <a:srgbClr val="0F2A5E"/>
                          </a:solidFill>
                          <a:latin typeface="Calibri"/>
                          <a:ea typeface="Calibri"/>
                          <a:cs typeface="Calibri"/>
                          <a:sym typeface="Calibri"/>
                        </a:rPr>
                        <a:t>12</a:t>
                      </a:r>
                      <a:r>
                        <a:rPr lang="en-US" sz="1200" u="none" cap="none" strike="noStrike">
                          <a:solidFill>
                            <a:srgbClr val="0F2A5E"/>
                          </a:solidFill>
                          <a:latin typeface="Calibri"/>
                          <a:ea typeface="Calibri"/>
                          <a:cs typeface="Calibri"/>
                          <a:sym typeface="Calibri"/>
                        </a:rPr>
                        <a:t>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c>
                  <a:txBody>
                    <a:bodyPr/>
                    <a:lstStyle/>
                    <a:p>
                      <a:pPr indent="0" lvl="0" marL="0" marR="0" rtl="0" algn="ctr">
                        <a:spcBef>
                          <a:spcPts val="0"/>
                        </a:spcBef>
                        <a:spcAft>
                          <a:spcPts val="0"/>
                        </a:spcAft>
                        <a:buClr>
                          <a:srgbClr val="0F2A5E"/>
                        </a:buClr>
                        <a:buSzPts val="1200"/>
                        <a:buFont typeface="Calibri"/>
                        <a:buNone/>
                      </a:pPr>
                      <a:r>
                        <a:rPr lang="en-US" sz="1200" u="none" cap="none" strike="noStrike">
                          <a:solidFill>
                            <a:srgbClr val="0F2A5E"/>
                          </a:solidFill>
                          <a:latin typeface="Calibri"/>
                          <a:ea typeface="Calibri"/>
                          <a:cs typeface="Calibri"/>
                          <a:sym typeface="Calibri"/>
                        </a:rPr>
                        <a:t>0.</a:t>
                      </a:r>
                      <a:r>
                        <a:rPr lang="en-US" sz="1200">
                          <a:solidFill>
                            <a:srgbClr val="0F2A5E"/>
                          </a:solidFill>
                          <a:latin typeface="Calibri"/>
                          <a:ea typeface="Calibri"/>
                          <a:cs typeface="Calibri"/>
                          <a:sym typeface="Calibri"/>
                        </a:rPr>
                        <a:t>16</a:t>
                      </a:r>
                      <a:r>
                        <a:rPr lang="en-US" sz="1200" u="none" cap="none" strike="noStrike">
                          <a:solidFill>
                            <a:srgbClr val="0F2A5E"/>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c>
                  <a:txBody>
                    <a:bodyPr/>
                    <a:lstStyle/>
                    <a:p>
                      <a:pPr indent="0" lvl="0" marL="0" marR="0" rtl="0" algn="ctr">
                        <a:spcBef>
                          <a:spcPts val="0"/>
                        </a:spcBef>
                        <a:spcAft>
                          <a:spcPts val="0"/>
                        </a:spcAft>
                        <a:buClr>
                          <a:srgbClr val="0F2A5E"/>
                        </a:buClr>
                        <a:buSzPts val="1200"/>
                        <a:buFont typeface="Calibri"/>
                        <a:buNone/>
                      </a:pPr>
                      <a:r>
                        <a:rPr lang="en-US" sz="1200" u="none" cap="none" strike="noStrike">
                          <a:solidFill>
                            <a:srgbClr val="0F2A5E"/>
                          </a:solidFill>
                          <a:latin typeface="Calibri"/>
                          <a:ea typeface="Calibri"/>
                          <a:cs typeface="Calibri"/>
                          <a:sym typeface="Calibri"/>
                        </a:rPr>
                        <a:t>0.7</a:t>
                      </a:r>
                      <a:r>
                        <a:rPr lang="en-US" sz="1200">
                          <a:solidFill>
                            <a:srgbClr val="0F2A5E"/>
                          </a:solidFill>
                          <a:latin typeface="Calibri"/>
                          <a:ea typeface="Calibri"/>
                          <a:cs typeface="Calibri"/>
                          <a:sym typeface="Calibri"/>
                        </a:rPr>
                        <a:t>20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EAF1FC"/>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Decision Tree</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0.893</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0.176</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0.179</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0.177</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0.561</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Logistic Regression</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0.676</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0.109</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0.565</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0.183</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0.674</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KNN </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t/>
                      </a:r>
                      <a:endParaRPr b="1" sz="1200">
                        <a:solidFill>
                          <a:srgbClr val="1B2430"/>
                        </a:solidFill>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0.728</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0.094</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0.371</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0.149</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0.585</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 </a:t>
                      </a:r>
                      <a:r>
                        <a:rPr b="1" lang="en-US" sz="1200">
                          <a:solidFill>
                            <a:srgbClr val="1B2430"/>
                          </a:solidFill>
                          <a:latin typeface="Calibri"/>
                          <a:ea typeface="Calibri"/>
                          <a:cs typeface="Calibri"/>
                          <a:sym typeface="Calibri"/>
                        </a:rPr>
                        <a:t>Linear </a:t>
                      </a:r>
                      <a:r>
                        <a:rPr b="1" lang="en-US" sz="1200" u="none" cap="none" strike="noStrike">
                          <a:solidFill>
                            <a:srgbClr val="1B2430"/>
                          </a:solidFill>
                          <a:latin typeface="Calibri"/>
                          <a:ea typeface="Calibri"/>
                          <a:cs typeface="Calibri"/>
                          <a:sym typeface="Calibri"/>
                        </a:rPr>
                        <a:t>SVC</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0.714</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0.071</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0.292</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0.112</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0.520</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B2430"/>
                        </a:buClr>
                        <a:buSzPts val="1200"/>
                        <a:buFont typeface="Calibri"/>
                        <a:buNone/>
                      </a:pPr>
                      <a:r>
                        <a:rPr b="1" lang="en-US" sz="1200" u="none" cap="none" strike="noStrike">
                          <a:solidFill>
                            <a:srgbClr val="1B2430"/>
                          </a:solidFill>
                          <a:latin typeface="Calibri"/>
                          <a:ea typeface="Calibri"/>
                          <a:cs typeface="Calibri"/>
                          <a:sym typeface="Calibri"/>
                        </a:rPr>
                        <a:t>Neural Network</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0.765</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0.124</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0.437</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0.193</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200"/>
                        <a:buFont typeface="Calibri"/>
                        <a:buNone/>
                      </a:pPr>
                      <a:r>
                        <a:rPr lang="en-US" sz="1200" u="none" cap="none" strike="noStrike">
                          <a:solidFill>
                            <a:srgbClr val="1B2430"/>
                          </a:solidFill>
                          <a:latin typeface="Calibri"/>
                          <a:ea typeface="Calibri"/>
                          <a:cs typeface="Calibri"/>
                          <a:sym typeface="Calibri"/>
                        </a:rPr>
                        <a:t>0.671</a:t>
                      </a:r>
                      <a:endParaRPr sz="1200" u="none" cap="none" strike="noStrike">
                        <a:latin typeface="Calibri"/>
                        <a:ea typeface="Calibri"/>
                        <a:cs typeface="Calibri"/>
                        <a:sym typeface="Calibri"/>
                      </a:endParaRPr>
                    </a:p>
                  </a:txBody>
                  <a:tcPr marT="45725" marB="45725" marR="91450" marL="91450" anchor="ctr">
                    <a:lnL cap="flat" cmpd="sng" w="9525">
                      <a:solidFill>
                        <a:srgbClr val="D7E3F6"/>
                      </a:solidFill>
                      <a:prstDash val="solid"/>
                      <a:round/>
                      <a:headEnd len="sm" w="sm" type="none"/>
                      <a:tailEnd len="sm" w="sm" type="none"/>
                    </a:lnL>
                    <a:lnR cap="flat" cmpd="sng" w="9525">
                      <a:solidFill>
                        <a:srgbClr val="D7E3F6"/>
                      </a:solidFill>
                      <a:prstDash val="solid"/>
                      <a:round/>
                      <a:headEnd len="sm" w="sm" type="none"/>
                      <a:tailEnd len="sm" w="sm" type="none"/>
                    </a:lnR>
                    <a:lnT cap="flat" cmpd="sng" w="9525">
                      <a:solidFill>
                        <a:srgbClr val="D7E3F6"/>
                      </a:solidFill>
                      <a:prstDash val="solid"/>
                      <a:round/>
                      <a:headEnd len="sm" w="sm" type="none"/>
                      <a:tailEnd len="sm" w="sm" type="none"/>
                    </a:lnT>
                    <a:lnB cap="flat" cmpd="sng" w="9525">
                      <a:solidFill>
                        <a:srgbClr val="D7E3F6"/>
                      </a:solidFill>
                      <a:prstDash val="solid"/>
                      <a:round/>
                      <a:headEnd len="sm" w="sm" type="none"/>
                      <a:tailEnd len="sm" w="sm" type="none"/>
                    </a:lnB>
                    <a:solidFill>
                      <a:srgbClr val="FFFFFF"/>
                    </a:solidFill>
                  </a:tcPr>
                </a:tc>
              </a:tr>
            </a:tbl>
          </a:graphicData>
        </a:graphic>
      </p:graphicFrame>
      <p:sp>
        <p:nvSpPr>
          <p:cNvPr id="370" name="Google Shape;370;p23"/>
          <p:cNvSpPr/>
          <p:nvPr/>
        </p:nvSpPr>
        <p:spPr>
          <a:xfrm>
            <a:off x="502920" y="5074920"/>
            <a:ext cx="11155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300"/>
              <a:buFont typeface="Calibri"/>
              <a:buNone/>
            </a:pPr>
            <a:r>
              <a:rPr b="1" i="1" lang="en-US" sz="1300" u="none" cap="none" strike="noStrike">
                <a:solidFill>
                  <a:srgbClr val="2461C0"/>
                </a:solidFill>
                <a:latin typeface="Calibri"/>
                <a:ea typeface="Calibri"/>
                <a:cs typeface="Calibri"/>
                <a:sym typeface="Calibri"/>
              </a:rPr>
              <a:t>★ Random Forest selected — </a:t>
            </a:r>
            <a:r>
              <a:rPr b="1" i="1" lang="en-US" sz="1300">
                <a:solidFill>
                  <a:srgbClr val="2461C0"/>
                </a:solidFill>
                <a:latin typeface="Calibri"/>
                <a:ea typeface="Calibri"/>
                <a:cs typeface="Calibri"/>
                <a:sym typeface="Calibri"/>
              </a:rPr>
              <a:t>due to achieving the h</a:t>
            </a:r>
            <a:r>
              <a:rPr b="1" i="1" lang="en-US" sz="1300">
                <a:solidFill>
                  <a:srgbClr val="2461C0"/>
                </a:solidFill>
                <a:latin typeface="Calibri"/>
                <a:ea typeface="Calibri"/>
                <a:cs typeface="Calibri"/>
                <a:sym typeface="Calibri"/>
              </a:rPr>
              <a:t>ighest ROC</a:t>
            </a:r>
            <a:r>
              <a:rPr b="1" i="1" lang="en-US" sz="1300">
                <a:solidFill>
                  <a:srgbClr val="2461C0"/>
                </a:solidFill>
                <a:latin typeface="Calibri"/>
                <a:ea typeface="Calibri"/>
                <a:cs typeface="Calibri"/>
                <a:sym typeface="Calibri"/>
              </a:rPr>
              <a:t>-AUC (0.72) and highest Precision (0.25) among all evaluated models.</a:t>
            </a:r>
            <a:endParaRPr b="0" i="0" sz="1300" u="none" cap="none" strike="noStrike">
              <a:solidFill>
                <a:schemeClr val="dk1"/>
              </a:solidFill>
              <a:latin typeface="Calibri"/>
              <a:ea typeface="Calibri"/>
              <a:cs typeface="Calibri"/>
              <a:sym typeface="Calibri"/>
            </a:endParaRPr>
          </a:p>
        </p:txBody>
      </p:sp>
      <p:sp>
        <p:nvSpPr>
          <p:cNvPr id="371" name="Google Shape;371;p23"/>
          <p:cNvSpPr/>
          <p:nvPr/>
        </p:nvSpPr>
        <p:spPr>
          <a:xfrm>
            <a:off x="502920" y="5486400"/>
            <a:ext cx="111556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100"/>
              <a:buFont typeface="Calibri"/>
              <a:buNone/>
            </a:pPr>
            <a:r>
              <a:rPr b="0" i="0" lang="en-US" sz="1100" u="none" cap="none" strike="noStrike">
                <a:solidFill>
                  <a:srgbClr val="5B6B82"/>
                </a:solidFill>
                <a:latin typeface="Calibri"/>
                <a:ea typeface="Calibri"/>
                <a:cs typeface="Calibri"/>
                <a:sym typeface="Calibri"/>
              </a:rPr>
              <a:t>Note: these are 5-fold cross-validation scores used for model selection (default 0.5 threshold). Final tuned Random Forest performance on the held-out test set is shown on the following slides.</a:t>
            </a:r>
            <a:endParaRPr b="0" i="0" sz="1100" u="none" cap="none" strike="noStrike">
              <a:solidFill>
                <a:schemeClr val="dk1"/>
              </a:solidFill>
              <a:latin typeface="Calibri"/>
              <a:ea typeface="Calibri"/>
              <a:cs typeface="Calibri"/>
              <a:sym typeface="Calibri"/>
            </a:endParaRPr>
          </a:p>
        </p:txBody>
      </p:sp>
      <p:sp>
        <p:nvSpPr>
          <p:cNvPr id="372" name="Google Shape;372;p23"/>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Model Comparison</a:t>
            </a:r>
            <a:endParaRPr b="0" i="0" sz="900" u="none" cap="none" strike="noStrike">
              <a:solidFill>
                <a:schemeClr val="dk1"/>
              </a:solidFill>
              <a:latin typeface="Calibri"/>
              <a:ea typeface="Calibri"/>
              <a:cs typeface="Calibri"/>
              <a:sym typeface="Calibri"/>
            </a:endParaRPr>
          </a:p>
        </p:txBody>
      </p:sp>
      <p:sp>
        <p:nvSpPr>
          <p:cNvPr id="373" name="Google Shape;373;p23"/>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4"/>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10561320" y="320040"/>
            <a:ext cx="1280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381" name="Google Shape;381;p24"/>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HOW WE JUDGE A MODEL</a:t>
            </a:r>
            <a:endParaRPr b="0" i="0" sz="1200" u="none" cap="none" strike="noStrike">
              <a:solidFill>
                <a:schemeClr val="dk1"/>
              </a:solidFill>
              <a:latin typeface="Calibri"/>
              <a:ea typeface="Calibri"/>
              <a:cs typeface="Calibri"/>
              <a:sym typeface="Calibri"/>
            </a:endParaRPr>
          </a:p>
        </p:txBody>
      </p:sp>
      <p:sp>
        <p:nvSpPr>
          <p:cNvPr id="382" name="Google Shape;382;p24"/>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Evaluation Metrics</a:t>
            </a:r>
            <a:endParaRPr b="0" i="0" sz="3000" u="none" cap="none" strike="noStrike">
              <a:solidFill>
                <a:schemeClr val="dk1"/>
              </a:solidFill>
              <a:latin typeface="Calibri"/>
              <a:ea typeface="Calibri"/>
              <a:cs typeface="Calibri"/>
              <a:sym typeface="Calibri"/>
            </a:endParaRPr>
          </a:p>
        </p:txBody>
      </p:sp>
      <p:sp>
        <p:nvSpPr>
          <p:cNvPr id="383" name="Google Shape;383;p24"/>
          <p:cNvSpPr/>
          <p:nvPr/>
        </p:nvSpPr>
        <p:spPr>
          <a:xfrm>
            <a:off x="502920" y="1828800"/>
            <a:ext cx="3566160" cy="1828800"/>
          </a:xfrm>
          <a:prstGeom prst="roundRect">
            <a:avLst>
              <a:gd fmla="val 45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731520" y="199339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Accuracy</a:t>
            </a:r>
            <a:endParaRPr b="0" i="0" sz="1450" u="none" cap="none" strike="noStrike">
              <a:solidFill>
                <a:schemeClr val="dk1"/>
              </a:solidFill>
              <a:latin typeface="Calibri"/>
              <a:ea typeface="Calibri"/>
              <a:cs typeface="Calibri"/>
              <a:sym typeface="Calibri"/>
            </a:endParaRPr>
          </a:p>
        </p:txBody>
      </p:sp>
      <p:sp>
        <p:nvSpPr>
          <p:cNvPr id="385" name="Google Shape;385;p24"/>
          <p:cNvSpPr/>
          <p:nvPr/>
        </p:nvSpPr>
        <p:spPr>
          <a:xfrm>
            <a:off x="731520" y="237744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Share of all predictions that were correct.</a:t>
            </a:r>
            <a:endParaRPr b="0" i="0" sz="1200" u="none" cap="none" strike="noStrike">
              <a:solidFill>
                <a:srgbClr val="1B2430"/>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rPr lang="en-US" sz="1200">
                <a:solidFill>
                  <a:srgbClr val="1B2430"/>
                </a:solidFill>
                <a:latin typeface="Calibri"/>
                <a:ea typeface="Calibri"/>
                <a:cs typeface="Calibri"/>
                <a:sym typeface="Calibri"/>
              </a:rPr>
              <a:t>Accuracy = (TP + TN) / (TP + TN + FP + FN) </a:t>
            </a:r>
            <a:endParaRPr sz="1200">
              <a:solidFill>
                <a:srgbClr val="1B2430"/>
              </a:solidFill>
              <a:latin typeface="Calibri"/>
              <a:ea typeface="Calibri"/>
              <a:cs typeface="Calibri"/>
              <a:sym typeface="Calibri"/>
            </a:endParaRPr>
          </a:p>
        </p:txBody>
      </p:sp>
      <p:sp>
        <p:nvSpPr>
          <p:cNvPr id="386" name="Google Shape;386;p24"/>
          <p:cNvSpPr/>
          <p:nvPr/>
        </p:nvSpPr>
        <p:spPr>
          <a:xfrm>
            <a:off x="4297680" y="1828800"/>
            <a:ext cx="3566160" cy="1828800"/>
          </a:xfrm>
          <a:prstGeom prst="roundRect">
            <a:avLst>
              <a:gd fmla="val 4500" name="adj"/>
            </a:avLst>
          </a:prstGeom>
          <a:solidFill>
            <a:srgbClr val="FFFFFF"/>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4"/>
          <p:cNvSpPr/>
          <p:nvPr/>
        </p:nvSpPr>
        <p:spPr>
          <a:xfrm>
            <a:off x="4526280" y="199339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Precision</a:t>
            </a:r>
            <a:endParaRPr b="0" i="0" sz="1450" u="none" cap="none" strike="noStrike">
              <a:solidFill>
                <a:schemeClr val="dk1"/>
              </a:solidFill>
              <a:latin typeface="Calibri"/>
              <a:ea typeface="Calibri"/>
              <a:cs typeface="Calibri"/>
              <a:sym typeface="Calibri"/>
            </a:endParaRPr>
          </a:p>
        </p:txBody>
      </p:sp>
      <p:sp>
        <p:nvSpPr>
          <p:cNvPr id="388" name="Google Shape;388;p24"/>
          <p:cNvSpPr/>
          <p:nvPr/>
        </p:nvSpPr>
        <p:spPr>
          <a:xfrm>
            <a:off x="4526280" y="237744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Of predicted 'late' orders, how many were truly late.</a:t>
            </a:r>
            <a:endParaRPr b="0" i="0" sz="1200" u="none" cap="none" strike="noStrike">
              <a:solidFill>
                <a:srgbClr val="1B2430"/>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rPr lang="en-US" sz="1200">
                <a:solidFill>
                  <a:srgbClr val="1B2430"/>
                </a:solidFill>
                <a:latin typeface="Calibri"/>
                <a:ea typeface="Calibri"/>
                <a:cs typeface="Calibri"/>
                <a:sym typeface="Calibri"/>
              </a:rPr>
              <a:t>Precision = TP / (TP + FP) </a:t>
            </a:r>
            <a:endParaRPr sz="1200">
              <a:solidFill>
                <a:srgbClr val="1B2430"/>
              </a:solidFill>
              <a:latin typeface="Calibri"/>
              <a:ea typeface="Calibri"/>
              <a:cs typeface="Calibri"/>
              <a:sym typeface="Calibri"/>
            </a:endParaRPr>
          </a:p>
        </p:txBody>
      </p:sp>
      <p:sp>
        <p:nvSpPr>
          <p:cNvPr id="389" name="Google Shape;389;p24"/>
          <p:cNvSpPr/>
          <p:nvPr/>
        </p:nvSpPr>
        <p:spPr>
          <a:xfrm>
            <a:off x="8092440" y="1828800"/>
            <a:ext cx="3566160" cy="1828800"/>
          </a:xfrm>
          <a:prstGeom prst="roundRect">
            <a:avLst>
              <a:gd fmla="val 45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4"/>
          <p:cNvSpPr/>
          <p:nvPr/>
        </p:nvSpPr>
        <p:spPr>
          <a:xfrm>
            <a:off x="8321040" y="199339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Recall</a:t>
            </a:r>
            <a:endParaRPr b="0" i="0" sz="1450" u="none" cap="none" strike="noStrike">
              <a:solidFill>
                <a:schemeClr val="dk1"/>
              </a:solidFill>
              <a:latin typeface="Calibri"/>
              <a:ea typeface="Calibri"/>
              <a:cs typeface="Calibri"/>
              <a:sym typeface="Calibri"/>
            </a:endParaRPr>
          </a:p>
        </p:txBody>
      </p:sp>
      <p:sp>
        <p:nvSpPr>
          <p:cNvPr id="391" name="Google Shape;391;p24"/>
          <p:cNvSpPr/>
          <p:nvPr/>
        </p:nvSpPr>
        <p:spPr>
          <a:xfrm>
            <a:off x="8321040" y="237744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Of truly late orders, how many the model caught.</a:t>
            </a:r>
            <a:endParaRPr b="0" i="0" sz="1200" u="none" cap="none" strike="noStrike">
              <a:solidFill>
                <a:srgbClr val="1B2430"/>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rPr lang="en-US" sz="1200">
                <a:solidFill>
                  <a:srgbClr val="1B2430"/>
                </a:solidFill>
                <a:latin typeface="Calibri"/>
                <a:ea typeface="Calibri"/>
                <a:cs typeface="Calibri"/>
                <a:sym typeface="Calibri"/>
              </a:rPr>
              <a:t>Recall = TP / (TP + FN) </a:t>
            </a:r>
            <a:endParaRPr sz="1200">
              <a:solidFill>
                <a:srgbClr val="1B2430"/>
              </a:solidFill>
              <a:latin typeface="Calibri"/>
              <a:ea typeface="Calibri"/>
              <a:cs typeface="Calibri"/>
              <a:sym typeface="Calibri"/>
            </a:endParaRPr>
          </a:p>
        </p:txBody>
      </p:sp>
      <p:sp>
        <p:nvSpPr>
          <p:cNvPr id="392" name="Google Shape;392;p24"/>
          <p:cNvSpPr/>
          <p:nvPr/>
        </p:nvSpPr>
        <p:spPr>
          <a:xfrm>
            <a:off x="502920" y="3931920"/>
            <a:ext cx="3566160" cy="1828800"/>
          </a:xfrm>
          <a:prstGeom prst="roundRect">
            <a:avLst>
              <a:gd fmla="val 4500" name="adj"/>
            </a:avLst>
          </a:prstGeom>
          <a:solidFill>
            <a:srgbClr val="FFFFFF"/>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4"/>
          <p:cNvSpPr/>
          <p:nvPr/>
        </p:nvSpPr>
        <p:spPr>
          <a:xfrm>
            <a:off x="731520" y="409651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F1 Score</a:t>
            </a:r>
            <a:endParaRPr b="0" i="0" sz="1450" u="none" cap="none" strike="noStrike">
              <a:solidFill>
                <a:schemeClr val="dk1"/>
              </a:solidFill>
              <a:latin typeface="Calibri"/>
              <a:ea typeface="Calibri"/>
              <a:cs typeface="Calibri"/>
              <a:sym typeface="Calibri"/>
            </a:endParaRPr>
          </a:p>
        </p:txBody>
      </p:sp>
      <p:sp>
        <p:nvSpPr>
          <p:cNvPr id="394" name="Google Shape;394;p24"/>
          <p:cNvSpPr/>
          <p:nvPr/>
        </p:nvSpPr>
        <p:spPr>
          <a:xfrm>
            <a:off x="731520" y="448056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Balance between Precision and Recall.</a:t>
            </a:r>
            <a:endParaRPr b="0" i="0" sz="1200" u="none" cap="none" strike="noStrike">
              <a:solidFill>
                <a:srgbClr val="1B2430"/>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rPr lang="en-US" sz="1200">
                <a:solidFill>
                  <a:srgbClr val="1B2430"/>
                </a:solidFill>
                <a:latin typeface="Calibri"/>
                <a:ea typeface="Calibri"/>
                <a:cs typeface="Calibri"/>
                <a:sym typeface="Calibri"/>
              </a:rPr>
              <a:t>F1 = 2 × (Precision × Recall) / (Precision + Recall) </a:t>
            </a:r>
            <a:endParaRPr sz="1200">
              <a:solidFill>
                <a:srgbClr val="1B2430"/>
              </a:solidFill>
              <a:latin typeface="Calibri"/>
              <a:ea typeface="Calibri"/>
              <a:cs typeface="Calibri"/>
              <a:sym typeface="Calibri"/>
            </a:endParaRPr>
          </a:p>
        </p:txBody>
      </p:sp>
      <p:sp>
        <p:nvSpPr>
          <p:cNvPr id="395" name="Google Shape;395;p24"/>
          <p:cNvSpPr/>
          <p:nvPr/>
        </p:nvSpPr>
        <p:spPr>
          <a:xfrm>
            <a:off x="4297680" y="3931920"/>
            <a:ext cx="3566160" cy="1828800"/>
          </a:xfrm>
          <a:prstGeom prst="roundRect">
            <a:avLst>
              <a:gd fmla="val 45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4"/>
          <p:cNvSpPr/>
          <p:nvPr/>
        </p:nvSpPr>
        <p:spPr>
          <a:xfrm>
            <a:off x="4526280" y="409651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ROC-AUC</a:t>
            </a:r>
            <a:endParaRPr b="0" i="0" sz="1450" u="none" cap="none" strike="noStrike">
              <a:solidFill>
                <a:schemeClr val="dk1"/>
              </a:solidFill>
              <a:latin typeface="Calibri"/>
              <a:ea typeface="Calibri"/>
              <a:cs typeface="Calibri"/>
              <a:sym typeface="Calibri"/>
            </a:endParaRPr>
          </a:p>
        </p:txBody>
      </p:sp>
      <p:sp>
        <p:nvSpPr>
          <p:cNvPr id="397" name="Google Shape;397;p24"/>
          <p:cNvSpPr/>
          <p:nvPr/>
        </p:nvSpPr>
        <p:spPr>
          <a:xfrm>
            <a:off x="4526280" y="4480560"/>
            <a:ext cx="310896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Ability to rank late orders above on-time ones, across thresholds.</a:t>
            </a:r>
            <a:endParaRPr b="0" i="0" sz="1200" u="none" cap="none" strike="noStrike">
              <a:solidFill>
                <a:schemeClr val="dk1"/>
              </a:solidFill>
              <a:latin typeface="Calibri"/>
              <a:ea typeface="Calibri"/>
              <a:cs typeface="Calibri"/>
              <a:sym typeface="Calibri"/>
            </a:endParaRPr>
          </a:p>
        </p:txBody>
      </p:sp>
      <p:sp>
        <p:nvSpPr>
          <p:cNvPr id="398" name="Google Shape;398;p24"/>
          <p:cNvSpPr/>
          <p:nvPr/>
        </p:nvSpPr>
        <p:spPr>
          <a:xfrm>
            <a:off x="502920" y="5989320"/>
            <a:ext cx="111556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250"/>
              <a:buFont typeface="Calibri"/>
              <a:buNone/>
            </a:pPr>
            <a:r>
              <a:rPr b="0" i="1" lang="en-US" sz="1250" u="none" cap="none" strike="noStrike">
                <a:solidFill>
                  <a:srgbClr val="5B6B82"/>
                </a:solidFill>
                <a:latin typeface="Calibri"/>
                <a:ea typeface="Calibri"/>
                <a:cs typeface="Calibri"/>
                <a:sym typeface="Calibri"/>
              </a:rPr>
              <a:t>Why not just accuracy? Only ~6.4% of orders are late — a model that always predicts 'on time' scores &gt;93% accuracy while catching zero delays.</a:t>
            </a:r>
            <a:endParaRPr b="0" i="0" sz="1250" u="none" cap="none" strike="noStrike">
              <a:solidFill>
                <a:schemeClr val="dk1"/>
              </a:solidFill>
              <a:latin typeface="Calibri"/>
              <a:ea typeface="Calibri"/>
              <a:cs typeface="Calibri"/>
              <a:sym typeface="Calibri"/>
            </a:endParaRPr>
          </a:p>
        </p:txBody>
      </p:sp>
      <p:sp>
        <p:nvSpPr>
          <p:cNvPr id="399" name="Google Shape;399;p24"/>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Evaluation Metrics</a:t>
            </a:r>
            <a:endParaRPr b="0" i="0" sz="900" u="none" cap="none" strike="noStrike">
              <a:solidFill>
                <a:schemeClr val="dk1"/>
              </a:solidFill>
              <a:latin typeface="Calibri"/>
              <a:ea typeface="Calibri"/>
              <a:cs typeface="Calibri"/>
              <a:sym typeface="Calibri"/>
            </a:endParaRPr>
          </a:p>
        </p:txBody>
      </p:sp>
      <p:sp>
        <p:nvSpPr>
          <p:cNvPr id="400" name="Google Shape;400;p24"/>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401" name="Google Shape;401;p24"/>
          <p:cNvSpPr/>
          <p:nvPr/>
        </p:nvSpPr>
        <p:spPr>
          <a:xfrm>
            <a:off x="8092445" y="3931933"/>
            <a:ext cx="3566100" cy="1828800"/>
          </a:xfrm>
          <a:prstGeom prst="roundRect">
            <a:avLst>
              <a:gd fmla="val 4500" name="adj"/>
            </a:avLst>
          </a:prstGeom>
          <a:solidFill>
            <a:srgbClr val="FFFFFF"/>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4"/>
          <p:cNvSpPr/>
          <p:nvPr/>
        </p:nvSpPr>
        <p:spPr>
          <a:xfrm>
            <a:off x="8321045" y="4406635"/>
            <a:ext cx="3108900" cy="118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Balance between Precision and Recall.</a:t>
            </a:r>
            <a:endParaRPr b="0" i="0" sz="1200" u="none" cap="none" strike="noStrike">
              <a:solidFill>
                <a:srgbClr val="1B2430"/>
              </a:solidFill>
              <a:latin typeface="Calibri"/>
              <a:ea typeface="Calibri"/>
              <a:cs typeface="Calibri"/>
              <a:sym typeface="Calibri"/>
            </a:endParaRPr>
          </a:p>
          <a:p>
            <a:pPr indent="0" lvl="0" marL="0" marR="0" rtl="0" algn="l">
              <a:spcBef>
                <a:spcPts val="0"/>
              </a:spcBef>
              <a:spcAft>
                <a:spcPts val="0"/>
              </a:spcAft>
              <a:buClr>
                <a:srgbClr val="1B2430"/>
              </a:buClr>
              <a:buSzPts val="1200"/>
              <a:buFont typeface="Calibri"/>
              <a:buNone/>
            </a:pPr>
            <a:r>
              <a:rPr lang="en-US" sz="1100">
                <a:solidFill>
                  <a:schemeClr val="dk1"/>
                </a:solidFill>
              </a:rPr>
              <a:t>F1, but weighted to value Recall more than Precision.</a:t>
            </a:r>
            <a:endParaRPr sz="1100">
              <a:solidFill>
                <a:schemeClr val="dk1"/>
              </a:solidFill>
            </a:endParaRPr>
          </a:p>
          <a:p>
            <a:pPr indent="0" lvl="0" marL="0" marR="0" rtl="0" algn="l">
              <a:spcBef>
                <a:spcPts val="0"/>
              </a:spcBef>
              <a:spcAft>
                <a:spcPts val="0"/>
              </a:spcAft>
              <a:buClr>
                <a:srgbClr val="1B2430"/>
              </a:buClr>
              <a:buSzPts val="1200"/>
              <a:buFont typeface="Calibri"/>
              <a:buNone/>
            </a:pPr>
            <a:r>
              <a:rPr lang="en-US" sz="1100">
                <a:solidFill>
                  <a:schemeClr val="dk1"/>
                </a:solidFill>
              </a:rPr>
              <a:t> F-beta = (1 + β²) × (Precision × Recall) / (β² × Precision + Recall), with β = 2 </a:t>
            </a:r>
            <a:endParaRPr sz="1200">
              <a:solidFill>
                <a:srgbClr val="1B2430"/>
              </a:solidFill>
              <a:latin typeface="Calibri"/>
              <a:ea typeface="Calibri"/>
              <a:cs typeface="Calibri"/>
              <a:sym typeface="Calibri"/>
            </a:endParaRPr>
          </a:p>
        </p:txBody>
      </p:sp>
      <p:sp>
        <p:nvSpPr>
          <p:cNvPr id="403" name="Google Shape;403;p24"/>
          <p:cNvSpPr/>
          <p:nvPr/>
        </p:nvSpPr>
        <p:spPr>
          <a:xfrm>
            <a:off x="8321045" y="4114862"/>
            <a:ext cx="31089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50"/>
              <a:buFont typeface="Calibri"/>
              <a:buNone/>
            </a:pPr>
            <a:r>
              <a:rPr b="1" i="0" lang="en-US" sz="1450" u="none" cap="none" strike="noStrike">
                <a:solidFill>
                  <a:srgbClr val="0F2A5E"/>
                </a:solidFill>
                <a:latin typeface="Calibri"/>
                <a:ea typeface="Calibri"/>
                <a:cs typeface="Calibri"/>
                <a:sym typeface="Calibri"/>
              </a:rPr>
              <a:t>F</a:t>
            </a:r>
            <a:r>
              <a:rPr b="1" lang="en-US" sz="1450">
                <a:solidFill>
                  <a:srgbClr val="0F2A5E"/>
                </a:solidFill>
                <a:latin typeface="Calibri"/>
                <a:ea typeface="Calibri"/>
                <a:cs typeface="Calibri"/>
                <a:sym typeface="Calibri"/>
              </a:rPr>
              <a:t>2</a:t>
            </a:r>
            <a:r>
              <a:rPr b="1" i="0" lang="en-US" sz="1450" u="none" cap="none" strike="noStrike">
                <a:solidFill>
                  <a:srgbClr val="0F2A5E"/>
                </a:solidFill>
                <a:latin typeface="Calibri"/>
                <a:ea typeface="Calibri"/>
                <a:cs typeface="Calibri"/>
                <a:sym typeface="Calibri"/>
              </a:rPr>
              <a:t> Score</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5"/>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3" name="Google Shape;413;p25"/>
          <p:cNvGrpSpPr/>
          <p:nvPr/>
        </p:nvGrpSpPr>
        <p:grpSpPr>
          <a:xfrm>
            <a:off x="502920" y="365760"/>
            <a:ext cx="9692700" cy="1069908"/>
            <a:chOff x="502920" y="365760"/>
            <a:chExt cx="9692700" cy="1069908"/>
          </a:xfrm>
        </p:grpSpPr>
        <p:sp>
          <p:nvSpPr>
            <p:cNvPr id="414" name="Google Shape;414;p25"/>
            <p:cNvSpPr txBox="1"/>
            <p:nvPr/>
          </p:nvSpPr>
          <p:spPr>
            <a:xfrm>
              <a:off x="502920" y="365760"/>
              <a:ext cx="7315200" cy="32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2461C0"/>
                  </a:solidFill>
                  <a:latin typeface="Calibri"/>
                  <a:ea typeface="Calibri"/>
                  <a:cs typeface="Calibri"/>
                  <a:sym typeface="Calibri"/>
                </a:rPr>
                <a:t>RANDOM FOREST EVALUATION</a:t>
              </a:r>
              <a:endParaRPr b="1" sz="1200">
                <a:solidFill>
                  <a:srgbClr val="2461C0"/>
                </a:solidFill>
                <a:latin typeface="Calibri"/>
                <a:ea typeface="Calibri"/>
                <a:cs typeface="Calibri"/>
                <a:sym typeface="Calibri"/>
              </a:endParaRPr>
            </a:p>
          </p:txBody>
        </p:sp>
        <p:sp>
          <p:nvSpPr>
            <p:cNvPr id="415" name="Google Shape;415;p25"/>
            <p:cNvSpPr txBox="1"/>
            <p:nvPr/>
          </p:nvSpPr>
          <p:spPr>
            <a:xfrm>
              <a:off x="502920" y="658368"/>
              <a:ext cx="9692700" cy="77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000">
                  <a:solidFill>
                    <a:srgbClr val="0F2A5E"/>
                  </a:solidFill>
                  <a:latin typeface="Cambria"/>
                  <a:ea typeface="Cambria"/>
                  <a:cs typeface="Cambria"/>
                  <a:sym typeface="Cambria"/>
                </a:rPr>
                <a:t>Hyperparameter Tuning &amp; Results</a:t>
              </a:r>
              <a:endParaRPr b="1" sz="3000">
                <a:solidFill>
                  <a:srgbClr val="0F2A5E"/>
                </a:solidFill>
                <a:latin typeface="Cambria"/>
                <a:ea typeface="Cambria"/>
                <a:cs typeface="Cambria"/>
                <a:sym typeface="Cambria"/>
              </a:endParaRPr>
            </a:p>
          </p:txBody>
        </p:sp>
      </p:grpSp>
      <p:grpSp>
        <p:nvGrpSpPr>
          <p:cNvPr id="416" name="Google Shape;416;p25"/>
          <p:cNvGrpSpPr/>
          <p:nvPr/>
        </p:nvGrpSpPr>
        <p:grpSpPr>
          <a:xfrm>
            <a:off x="493395" y="1657350"/>
            <a:ext cx="5353200" cy="4067100"/>
            <a:chOff x="-9525" y="-9525"/>
            <a:chExt cx="5353200" cy="4067100"/>
          </a:xfrm>
        </p:grpSpPr>
        <p:pic>
          <p:nvPicPr>
            <p:cNvPr id="417" name="Google Shape;417;p25"/>
            <p:cNvPicPr preferRelativeResize="0"/>
            <p:nvPr/>
          </p:nvPicPr>
          <p:blipFill rotWithShape="1">
            <a:blip r:embed="rId3">
              <a:alphaModFix/>
            </a:blip>
            <a:srcRect b="0" l="0" r="0" t="0"/>
            <a:stretch/>
          </p:blipFill>
          <p:spPr>
            <a:xfrm>
              <a:off x="-9525" y="-9525"/>
              <a:ext cx="5353200" cy="4067100"/>
            </a:xfrm>
            <a:prstGeom prst="rect">
              <a:avLst/>
            </a:prstGeom>
            <a:noFill/>
            <a:ln>
              <a:noFill/>
            </a:ln>
          </p:spPr>
        </p:pic>
        <p:pic>
          <p:nvPicPr>
            <p:cNvPr id="418" name="Google Shape;418;p25"/>
            <p:cNvPicPr preferRelativeResize="0"/>
            <p:nvPr/>
          </p:nvPicPr>
          <p:blipFill rotWithShape="1">
            <a:blip r:embed="rId4">
              <a:alphaModFix/>
            </a:blip>
            <a:srcRect b="0" l="0" r="0" t="0"/>
            <a:stretch/>
          </p:blipFill>
          <p:spPr>
            <a:xfrm>
              <a:off x="0" y="0"/>
              <a:ext cx="5334000" cy="400200"/>
            </a:xfrm>
            <a:prstGeom prst="rect">
              <a:avLst/>
            </a:prstGeom>
            <a:noFill/>
            <a:ln>
              <a:noFill/>
            </a:ln>
          </p:spPr>
        </p:pic>
        <p:sp>
          <p:nvSpPr>
            <p:cNvPr id="419" name="Google Shape;419;p25"/>
            <p:cNvSpPr txBox="1"/>
            <p:nvPr/>
          </p:nvSpPr>
          <p:spPr>
            <a:xfrm>
              <a:off x="0" y="0"/>
              <a:ext cx="53340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50">
                  <a:solidFill>
                    <a:srgbClr val="FFFFFF"/>
                  </a:solidFill>
                  <a:latin typeface="Calibri"/>
                  <a:ea typeface="Calibri"/>
                  <a:cs typeface="Calibri"/>
                  <a:sym typeface="Calibri"/>
                </a:rPr>
                <a:t>TUNING METHODOLOGY</a:t>
              </a:r>
              <a:endParaRPr b="1" sz="1250">
                <a:solidFill>
                  <a:srgbClr val="FFFFFF"/>
                </a:solidFill>
                <a:latin typeface="Calibri"/>
                <a:ea typeface="Calibri"/>
                <a:cs typeface="Calibri"/>
                <a:sym typeface="Calibri"/>
              </a:endParaRPr>
            </a:p>
          </p:txBody>
        </p:sp>
        <p:sp>
          <p:nvSpPr>
            <p:cNvPr id="420" name="Google Shape;420;p25"/>
            <p:cNvSpPr txBox="1"/>
            <p:nvPr/>
          </p:nvSpPr>
          <p:spPr>
            <a:xfrm>
              <a:off x="190500" y="590550"/>
              <a:ext cx="4953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0F2A5E"/>
                  </a:solidFill>
                  <a:latin typeface="Calibri"/>
                  <a:ea typeface="Calibri"/>
                  <a:cs typeface="Calibri"/>
                  <a:sym typeface="Calibri"/>
                </a:rPr>
                <a:t>Search Strategy &amp; Pipeline</a:t>
              </a:r>
              <a:endParaRPr b="1" sz="1300">
                <a:solidFill>
                  <a:srgbClr val="0F2A5E"/>
                </a:solidFill>
                <a:latin typeface="Calibri"/>
                <a:ea typeface="Calibri"/>
                <a:cs typeface="Calibri"/>
                <a:sym typeface="Calibri"/>
              </a:endParaRPr>
            </a:p>
            <a:p>
              <a:pPr indent="0" lvl="0" marL="0" rtl="0" algn="l">
                <a:spcBef>
                  <a:spcPts val="300"/>
                </a:spcBef>
                <a:spcAft>
                  <a:spcPts val="0"/>
                </a:spcAft>
                <a:buNone/>
              </a:pPr>
              <a:r>
                <a:rPr b="0" lang="en-US" sz="1100">
                  <a:solidFill>
                    <a:srgbClr val="1B2430"/>
                  </a:solidFill>
                  <a:latin typeface="Calibri"/>
                  <a:ea typeface="Calibri"/>
                  <a:cs typeface="Calibri"/>
                  <a:sym typeface="Calibri"/>
                </a:rPr>
                <a:t>RandomizedSearchCV with 5-fold Stratified cross-validation, exploring 10 random combinations from the parameter grid. Preprocessing is securely wrapped in a Pipeline to ensure refitting inside every fold, eliminating data leakage.</a:t>
              </a:r>
              <a:endParaRPr b="0" sz="1100">
                <a:solidFill>
                  <a:srgbClr val="1B2430"/>
                </a:solidFill>
                <a:latin typeface="Calibri"/>
                <a:ea typeface="Calibri"/>
                <a:cs typeface="Calibri"/>
                <a:sym typeface="Calibri"/>
              </a:endParaRPr>
            </a:p>
            <a:p>
              <a:pPr indent="0" lvl="0" marL="0" rtl="0" algn="l">
                <a:spcBef>
                  <a:spcPts val="900"/>
                </a:spcBef>
                <a:spcAft>
                  <a:spcPts val="0"/>
                </a:spcAft>
                <a:buNone/>
              </a:pPr>
              <a:r>
                <a:rPr b="1" lang="en-US" sz="1300">
                  <a:solidFill>
                    <a:srgbClr val="0F2A5E"/>
                  </a:solidFill>
                  <a:latin typeface="Calibri"/>
                  <a:ea typeface="Calibri"/>
                  <a:cs typeface="Calibri"/>
                  <a:sym typeface="Calibri"/>
                </a:rPr>
                <a:t>Parameters Searched</a:t>
              </a:r>
              <a:endParaRPr b="1" sz="1300">
                <a:solidFill>
                  <a:srgbClr val="0F2A5E"/>
                </a:solidFill>
                <a:latin typeface="Calibri"/>
                <a:ea typeface="Calibri"/>
                <a:cs typeface="Calibri"/>
                <a:sym typeface="Calibri"/>
              </a:endParaRPr>
            </a:p>
            <a:p>
              <a:pPr indent="0" lvl="0" marL="0" rtl="0" algn="l">
                <a:spcBef>
                  <a:spcPts val="300"/>
                </a:spcBef>
                <a:spcAft>
                  <a:spcPts val="0"/>
                </a:spcAft>
                <a:buNone/>
              </a:pPr>
              <a:r>
                <a:rPr b="0" lang="en-US" sz="1100">
                  <a:solidFill>
                    <a:srgbClr val="1B2430"/>
                  </a:solidFill>
                  <a:latin typeface="Calibri"/>
                  <a:ea typeface="Calibri"/>
                  <a:cs typeface="Calibri"/>
                  <a:sym typeface="Calibri"/>
                </a:rPr>
                <a:t>n_estimators: </a:t>
              </a:r>
              <a:r>
                <a:rPr b="1" lang="en-US" sz="1100">
                  <a:solidFill>
                    <a:srgbClr val="2461C0"/>
                  </a:solidFill>
                  <a:highlight>
                    <a:srgbClr val="EAF1FC"/>
                  </a:highlight>
                  <a:latin typeface="Consolas"/>
                  <a:ea typeface="Consolas"/>
                  <a:cs typeface="Consolas"/>
                  <a:sym typeface="Consolas"/>
                </a:rPr>
                <a:t>[100, 150, 200]</a:t>
              </a:r>
              <a:br>
                <a:rPr b="0" lang="en-US" sz="1100">
                  <a:solidFill>
                    <a:srgbClr val="1B2430"/>
                  </a:solidFill>
                  <a:latin typeface="Calibri"/>
                  <a:ea typeface="Calibri"/>
                  <a:cs typeface="Calibri"/>
                  <a:sym typeface="Calibri"/>
                </a:rPr>
              </a:br>
              <a:r>
                <a:rPr b="0" lang="en-US" sz="1100">
                  <a:solidFill>
                    <a:srgbClr val="1B2430"/>
                  </a:solidFill>
                  <a:latin typeface="Calibri"/>
                  <a:ea typeface="Calibri"/>
                  <a:cs typeface="Calibri"/>
                  <a:sym typeface="Calibri"/>
                </a:rPr>
                <a:t>max_depth: </a:t>
              </a:r>
              <a:r>
                <a:rPr b="1" lang="en-US" sz="1100">
                  <a:solidFill>
                    <a:srgbClr val="2461C0"/>
                  </a:solidFill>
                  <a:highlight>
                    <a:srgbClr val="EAF1FC"/>
                  </a:highlight>
                  <a:latin typeface="Consolas"/>
                  <a:ea typeface="Consolas"/>
                  <a:cs typeface="Consolas"/>
                  <a:sym typeface="Consolas"/>
                </a:rPr>
                <a:t>[10, 15, None]</a:t>
              </a:r>
              <a:br>
                <a:rPr b="0" lang="en-US" sz="1100">
                  <a:solidFill>
                    <a:srgbClr val="1B2430"/>
                  </a:solidFill>
                  <a:latin typeface="Calibri"/>
                  <a:ea typeface="Calibri"/>
                  <a:cs typeface="Calibri"/>
                  <a:sym typeface="Calibri"/>
                </a:rPr>
              </a:br>
              <a:r>
                <a:rPr b="0" lang="en-US" sz="1100">
                  <a:solidFill>
                    <a:srgbClr val="1B2430"/>
                  </a:solidFill>
                  <a:latin typeface="Calibri"/>
                  <a:ea typeface="Calibri"/>
                  <a:cs typeface="Calibri"/>
                  <a:sym typeface="Calibri"/>
                </a:rPr>
                <a:t>min_samples_split: </a:t>
              </a:r>
              <a:r>
                <a:rPr b="1" lang="en-US" sz="1100">
                  <a:solidFill>
                    <a:srgbClr val="2461C0"/>
                  </a:solidFill>
                  <a:highlight>
                    <a:srgbClr val="EAF1FC"/>
                  </a:highlight>
                  <a:latin typeface="Consolas"/>
                  <a:ea typeface="Consolas"/>
                  <a:cs typeface="Consolas"/>
                  <a:sym typeface="Consolas"/>
                </a:rPr>
                <a:t>[2, 5, 10]</a:t>
              </a:r>
              <a:br>
                <a:rPr b="0" lang="en-US" sz="1100">
                  <a:solidFill>
                    <a:srgbClr val="1B2430"/>
                  </a:solidFill>
                  <a:latin typeface="Calibri"/>
                  <a:ea typeface="Calibri"/>
                  <a:cs typeface="Calibri"/>
                  <a:sym typeface="Calibri"/>
                </a:rPr>
              </a:br>
              <a:r>
                <a:rPr b="0" lang="en-US" sz="1100">
                  <a:solidFill>
                    <a:srgbClr val="1B2430"/>
                  </a:solidFill>
                  <a:latin typeface="Calibri"/>
                  <a:ea typeface="Calibri"/>
                  <a:cs typeface="Calibri"/>
                  <a:sym typeface="Calibri"/>
                </a:rPr>
                <a:t>min_samples_leaf: </a:t>
              </a:r>
              <a:r>
                <a:rPr b="1" lang="en-US" sz="1100">
                  <a:solidFill>
                    <a:srgbClr val="2461C0"/>
                  </a:solidFill>
                  <a:highlight>
                    <a:srgbClr val="EAF1FC"/>
                  </a:highlight>
                  <a:latin typeface="Consolas"/>
                  <a:ea typeface="Consolas"/>
                  <a:cs typeface="Consolas"/>
                  <a:sym typeface="Consolas"/>
                </a:rPr>
                <a:t>[1, 2, 4]</a:t>
              </a:r>
              <a:br>
                <a:rPr b="0" lang="en-US" sz="1100">
                  <a:solidFill>
                    <a:srgbClr val="1B2430"/>
                  </a:solidFill>
                  <a:latin typeface="Calibri"/>
                  <a:ea typeface="Calibri"/>
                  <a:cs typeface="Calibri"/>
                  <a:sym typeface="Calibri"/>
                </a:rPr>
              </a:br>
              <a:r>
                <a:rPr b="0" lang="en-US" sz="1100">
                  <a:solidFill>
                    <a:srgbClr val="1B2430"/>
                  </a:solidFill>
                  <a:latin typeface="Calibri"/>
                  <a:ea typeface="Calibri"/>
                  <a:cs typeface="Calibri"/>
                  <a:sym typeface="Calibri"/>
                </a:rPr>
                <a:t>class_weight: </a:t>
              </a:r>
              <a:r>
                <a:rPr b="1" lang="en-US" sz="1100">
                  <a:solidFill>
                    <a:srgbClr val="2461C0"/>
                  </a:solidFill>
                  <a:highlight>
                    <a:srgbClr val="EAF1FC"/>
                  </a:highlight>
                  <a:latin typeface="Consolas"/>
                  <a:ea typeface="Consolas"/>
                  <a:cs typeface="Consolas"/>
                  <a:sym typeface="Consolas"/>
                </a:rPr>
                <a:t>['balanced', None]</a:t>
              </a:r>
              <a:endParaRPr b="0" sz="1100">
                <a:solidFill>
                  <a:srgbClr val="1B2430"/>
                </a:solidFill>
                <a:latin typeface="Calibri"/>
                <a:ea typeface="Calibri"/>
                <a:cs typeface="Calibri"/>
                <a:sym typeface="Calibri"/>
              </a:endParaRPr>
            </a:p>
            <a:p>
              <a:pPr indent="0" lvl="0" marL="0" rtl="0" algn="l">
                <a:spcBef>
                  <a:spcPts val="900"/>
                </a:spcBef>
                <a:spcAft>
                  <a:spcPts val="0"/>
                </a:spcAft>
                <a:buNone/>
              </a:pPr>
              <a:r>
                <a:rPr b="1" lang="en-US" sz="1300">
                  <a:solidFill>
                    <a:srgbClr val="0F2A5E"/>
                  </a:solidFill>
                  <a:latin typeface="Calibri"/>
                  <a:ea typeface="Calibri"/>
                  <a:cs typeface="Calibri"/>
                  <a:sym typeface="Calibri"/>
                </a:rPr>
                <a:t>Multi-Stage Metrics</a:t>
              </a:r>
              <a:endParaRPr b="1" sz="1300">
                <a:solidFill>
                  <a:srgbClr val="0F2A5E"/>
                </a:solidFill>
                <a:latin typeface="Calibri"/>
                <a:ea typeface="Calibri"/>
                <a:cs typeface="Calibri"/>
                <a:sym typeface="Calibri"/>
              </a:endParaRPr>
            </a:p>
            <a:p>
              <a:pPr indent="0" lvl="0" marL="0" rtl="0" algn="l">
                <a:spcBef>
                  <a:spcPts val="300"/>
                </a:spcBef>
                <a:spcAft>
                  <a:spcPts val="900"/>
                </a:spcAft>
                <a:buNone/>
              </a:pPr>
              <a:r>
                <a:rPr b="0" lang="en-US" sz="1100">
                  <a:solidFill>
                    <a:srgbClr val="1B2430"/>
                  </a:solidFill>
                  <a:latin typeface="Calibri"/>
                  <a:ea typeface="Calibri"/>
                  <a:cs typeface="Calibri"/>
                  <a:sym typeface="Calibri"/>
                </a:rPr>
                <a:t>Optimized for F1-Score first to equally balance precision and recall. Cross-checked with F2-Score to weight recall 4x higher than precision, directly aligning with the core business objective of flagging delayed orders.</a:t>
              </a:r>
              <a:endParaRPr b="0" sz="1100">
                <a:solidFill>
                  <a:srgbClr val="1B2430"/>
                </a:solidFill>
                <a:latin typeface="Calibri"/>
                <a:ea typeface="Calibri"/>
                <a:cs typeface="Calibri"/>
                <a:sym typeface="Calibri"/>
              </a:endParaRPr>
            </a:p>
          </p:txBody>
        </p:sp>
      </p:grpSp>
      <p:grpSp>
        <p:nvGrpSpPr>
          <p:cNvPr id="421" name="Google Shape;421;p25"/>
          <p:cNvGrpSpPr/>
          <p:nvPr/>
        </p:nvGrpSpPr>
        <p:grpSpPr>
          <a:xfrm>
            <a:off x="6162675" y="1657350"/>
            <a:ext cx="5543700" cy="4067100"/>
            <a:chOff x="-9525" y="-9525"/>
            <a:chExt cx="5543700" cy="4067100"/>
          </a:xfrm>
        </p:grpSpPr>
        <p:pic>
          <p:nvPicPr>
            <p:cNvPr id="422" name="Google Shape;422;p25"/>
            <p:cNvPicPr preferRelativeResize="0"/>
            <p:nvPr/>
          </p:nvPicPr>
          <p:blipFill rotWithShape="1">
            <a:blip r:embed="rId5">
              <a:alphaModFix/>
            </a:blip>
            <a:srcRect b="0" l="0" r="0" t="0"/>
            <a:stretch/>
          </p:blipFill>
          <p:spPr>
            <a:xfrm>
              <a:off x="-9525" y="-9525"/>
              <a:ext cx="5543700" cy="4067100"/>
            </a:xfrm>
            <a:prstGeom prst="rect">
              <a:avLst/>
            </a:prstGeom>
            <a:noFill/>
            <a:ln>
              <a:noFill/>
            </a:ln>
          </p:spPr>
        </p:pic>
        <p:pic>
          <p:nvPicPr>
            <p:cNvPr id="423" name="Google Shape;423;p25"/>
            <p:cNvPicPr preferRelativeResize="0"/>
            <p:nvPr/>
          </p:nvPicPr>
          <p:blipFill rotWithShape="1">
            <a:blip r:embed="rId6">
              <a:alphaModFix/>
            </a:blip>
            <a:srcRect b="0" l="0" r="0" t="0"/>
            <a:stretch/>
          </p:blipFill>
          <p:spPr>
            <a:xfrm>
              <a:off x="0" y="0"/>
              <a:ext cx="5524500" cy="400200"/>
            </a:xfrm>
            <a:prstGeom prst="rect">
              <a:avLst/>
            </a:prstGeom>
            <a:noFill/>
            <a:ln>
              <a:noFill/>
            </a:ln>
          </p:spPr>
        </p:pic>
        <p:sp>
          <p:nvSpPr>
            <p:cNvPr id="424" name="Google Shape;424;p25"/>
            <p:cNvSpPr txBox="1"/>
            <p:nvPr/>
          </p:nvSpPr>
          <p:spPr>
            <a:xfrm>
              <a:off x="0" y="0"/>
              <a:ext cx="55245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50">
                  <a:solidFill>
                    <a:srgbClr val="FFFFFF"/>
                  </a:solidFill>
                  <a:latin typeface="Calibri"/>
                  <a:ea typeface="Calibri"/>
                  <a:cs typeface="Calibri"/>
                  <a:sym typeface="Calibri"/>
                </a:rPr>
                <a:t>SEARCH CONVERGENCE &amp; COMPARISON</a:t>
              </a:r>
              <a:endParaRPr b="1" sz="1250">
                <a:solidFill>
                  <a:srgbClr val="FFFFFF"/>
                </a:solidFill>
                <a:latin typeface="Calibri"/>
                <a:ea typeface="Calibri"/>
                <a:cs typeface="Calibri"/>
                <a:sym typeface="Calibri"/>
              </a:endParaRPr>
            </a:p>
          </p:txBody>
        </p:sp>
        <p:sp>
          <p:nvSpPr>
            <p:cNvPr id="425" name="Google Shape;425;p25"/>
            <p:cNvSpPr txBox="1"/>
            <p:nvPr/>
          </p:nvSpPr>
          <p:spPr>
            <a:xfrm>
              <a:off x="190500" y="590550"/>
              <a:ext cx="5143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2461C0"/>
                  </a:solidFill>
                  <a:latin typeface="Calibri"/>
                  <a:ea typeface="Calibri"/>
                  <a:cs typeface="Calibri"/>
                  <a:sym typeface="Calibri"/>
                </a:rPr>
                <a:t>★ Optimal Parameters Selected</a:t>
              </a:r>
              <a:endParaRPr b="1" sz="1300">
                <a:solidFill>
                  <a:srgbClr val="2461C0"/>
                </a:solidFill>
                <a:latin typeface="Calibri"/>
                <a:ea typeface="Calibri"/>
                <a:cs typeface="Calibri"/>
                <a:sym typeface="Calibri"/>
              </a:endParaRPr>
            </a:p>
            <a:p>
              <a:pPr indent="0" lvl="0" marL="0" rtl="0" algn="l">
                <a:spcBef>
                  <a:spcPts val="300"/>
                </a:spcBef>
                <a:spcAft>
                  <a:spcPts val="900"/>
                </a:spcAft>
                <a:buNone/>
              </a:pPr>
              <a:r>
                <a:rPr b="0" lang="en-US" sz="1100">
                  <a:solidFill>
                    <a:srgbClr val="1B2430"/>
                  </a:solidFill>
                  <a:latin typeface="Calibri"/>
                  <a:ea typeface="Calibri"/>
                  <a:cs typeface="Calibri"/>
                  <a:sym typeface="Calibri"/>
                </a:rPr>
                <a:t>Both F1 and F2 search spaces converged on the same optimal parameters: </a:t>
              </a:r>
              <a:r>
                <a:rPr b="1" lang="en-US" sz="1100">
                  <a:solidFill>
                    <a:srgbClr val="2461C0"/>
                  </a:solidFill>
                  <a:highlight>
                    <a:srgbClr val="EAF1FC"/>
                  </a:highlight>
                  <a:latin typeface="Consolas"/>
                  <a:ea typeface="Consolas"/>
                  <a:cs typeface="Consolas"/>
                  <a:sym typeface="Consolas"/>
                </a:rPr>
                <a:t>n_estimators=100</a:t>
              </a:r>
              <a:r>
                <a:rPr b="0" lang="en-US" sz="1100">
                  <a:solidFill>
                    <a:srgbClr val="1B2430"/>
                  </a:solidFill>
                  <a:latin typeface="Calibri"/>
                  <a:ea typeface="Calibri"/>
                  <a:cs typeface="Calibri"/>
                  <a:sym typeface="Calibri"/>
                </a:rPr>
                <a:t>, </a:t>
              </a:r>
              <a:r>
                <a:rPr b="1" lang="en-US" sz="1100">
                  <a:solidFill>
                    <a:srgbClr val="2461C0"/>
                  </a:solidFill>
                  <a:highlight>
                    <a:srgbClr val="EAF1FC"/>
                  </a:highlight>
                  <a:latin typeface="Consolas"/>
                  <a:ea typeface="Consolas"/>
                  <a:cs typeface="Consolas"/>
                  <a:sym typeface="Consolas"/>
                </a:rPr>
                <a:t>max_depth=15</a:t>
              </a:r>
              <a:r>
                <a:rPr b="0" lang="en-US" sz="1100">
                  <a:solidFill>
                    <a:srgbClr val="1B2430"/>
                  </a:solidFill>
                  <a:latin typeface="Calibri"/>
                  <a:ea typeface="Calibri"/>
                  <a:cs typeface="Calibri"/>
                  <a:sym typeface="Calibri"/>
                </a:rPr>
                <a:t>, </a:t>
              </a:r>
              <a:r>
                <a:rPr b="1" lang="en-US" sz="1100">
                  <a:solidFill>
                    <a:srgbClr val="2461C0"/>
                  </a:solidFill>
                  <a:highlight>
                    <a:srgbClr val="EAF1FC"/>
                  </a:highlight>
                  <a:latin typeface="Consolas"/>
                  <a:ea typeface="Consolas"/>
                  <a:cs typeface="Consolas"/>
                  <a:sym typeface="Consolas"/>
                </a:rPr>
                <a:t>min_samples_split=10</a:t>
              </a:r>
              <a:r>
                <a:rPr b="0" lang="en-US" sz="1100">
                  <a:solidFill>
                    <a:srgbClr val="1B2430"/>
                  </a:solidFill>
                  <a:latin typeface="Calibri"/>
                  <a:ea typeface="Calibri"/>
                  <a:cs typeface="Calibri"/>
                  <a:sym typeface="Calibri"/>
                </a:rPr>
                <a:t>, </a:t>
              </a:r>
              <a:r>
                <a:rPr b="1" lang="en-US" sz="1100">
                  <a:solidFill>
                    <a:srgbClr val="2461C0"/>
                  </a:solidFill>
                  <a:highlight>
                    <a:srgbClr val="EAF1FC"/>
                  </a:highlight>
                  <a:latin typeface="Consolas"/>
                  <a:ea typeface="Consolas"/>
                  <a:cs typeface="Consolas"/>
                  <a:sym typeface="Consolas"/>
                </a:rPr>
                <a:t>min_samples_leaf=4</a:t>
              </a:r>
              <a:r>
                <a:rPr b="0" lang="en-US" sz="1100">
                  <a:solidFill>
                    <a:srgbClr val="1B2430"/>
                  </a:solidFill>
                  <a:latin typeface="Calibri"/>
                  <a:ea typeface="Calibri"/>
                  <a:cs typeface="Calibri"/>
                  <a:sym typeface="Calibri"/>
                </a:rPr>
                <a:t>, and </a:t>
              </a:r>
              <a:r>
                <a:rPr b="1" lang="en-US" sz="1100">
                  <a:solidFill>
                    <a:srgbClr val="2461C0"/>
                  </a:solidFill>
                  <a:highlight>
                    <a:srgbClr val="EAF1FC"/>
                  </a:highlight>
                  <a:latin typeface="Consolas"/>
                  <a:ea typeface="Consolas"/>
                  <a:cs typeface="Consolas"/>
                  <a:sym typeface="Consolas"/>
                </a:rPr>
                <a:t>class_weight='balanced'</a:t>
              </a:r>
              <a:r>
                <a:rPr b="0" lang="en-US" sz="1100">
                  <a:solidFill>
                    <a:srgbClr val="1B2430"/>
                  </a:solidFill>
                  <a:latin typeface="Calibri"/>
                  <a:ea typeface="Calibri"/>
                  <a:cs typeface="Calibri"/>
                  <a:sym typeface="Calibri"/>
                </a:rPr>
                <a:t>.</a:t>
              </a:r>
              <a:endParaRPr b="0" sz="1100">
                <a:solidFill>
                  <a:srgbClr val="1B2430"/>
                </a:solidFill>
                <a:latin typeface="Calibri"/>
                <a:ea typeface="Calibri"/>
                <a:cs typeface="Calibri"/>
                <a:sym typeface="Calibri"/>
              </a:endParaRPr>
            </a:p>
          </p:txBody>
        </p:sp>
        <p:grpSp>
          <p:nvGrpSpPr>
            <p:cNvPr id="426" name="Google Shape;426;p25"/>
            <p:cNvGrpSpPr/>
            <p:nvPr/>
          </p:nvGrpSpPr>
          <p:grpSpPr>
            <a:xfrm>
              <a:off x="190500" y="1428750"/>
              <a:ext cx="5143500" cy="2047800"/>
              <a:chOff x="0" y="0"/>
              <a:chExt cx="5143500" cy="2047800"/>
            </a:xfrm>
          </p:grpSpPr>
          <p:sp>
            <p:nvSpPr>
              <p:cNvPr id="427" name="Google Shape;427;p25"/>
              <p:cNvSpPr/>
              <p:nvPr/>
            </p:nvSpPr>
            <p:spPr>
              <a:xfrm>
                <a:off x="0" y="0"/>
                <a:ext cx="5143500" cy="2047800"/>
              </a:xfrm>
              <a:prstGeom prst="roundRect">
                <a:avLst>
                  <a:gd fmla="val 2790" name="adj"/>
                </a:avLst>
              </a:prstGeom>
              <a:solidFill>
                <a:srgbClr val="FFFFFF"/>
              </a:solidFill>
              <a:ln cap="flat" cmpd="sng" w="9525">
                <a:solidFill>
                  <a:srgbClr val="D7E3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5"/>
              <p:cNvSpPr/>
              <p:nvPr/>
            </p:nvSpPr>
            <p:spPr>
              <a:xfrm>
                <a:off x="0" y="0"/>
                <a:ext cx="5143500" cy="362100"/>
              </a:xfrm>
              <a:prstGeom prst="roundRect">
                <a:avLst>
                  <a:gd fmla="val 15789" name="adj"/>
                </a:avLst>
              </a:prstGeom>
              <a:solidFill>
                <a:srgbClr val="0F2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25"/>
              <p:cNvSpPr/>
              <p:nvPr/>
            </p:nvSpPr>
            <p:spPr>
              <a:xfrm>
                <a:off x="0" y="219075"/>
                <a:ext cx="5143500" cy="142800"/>
              </a:xfrm>
              <a:prstGeom prst="rect">
                <a:avLst/>
              </a:prstGeom>
              <a:solidFill>
                <a:srgbClr val="0F2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5"/>
              <p:cNvSpPr txBox="1"/>
              <p:nvPr/>
            </p:nvSpPr>
            <p:spPr>
              <a:xfrm>
                <a:off x="142875" y="95250"/>
                <a:ext cx="1714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FFFFFF"/>
                    </a:solidFill>
                    <a:latin typeface="Calibri"/>
                    <a:ea typeface="Calibri"/>
                    <a:cs typeface="Calibri"/>
                    <a:sym typeface="Calibri"/>
                  </a:rPr>
                  <a:t>Performance Metric</a:t>
                </a:r>
                <a:endParaRPr b="1" sz="1150">
                  <a:solidFill>
                    <a:srgbClr val="FFFFFF"/>
                  </a:solidFill>
                  <a:latin typeface="Calibri"/>
                  <a:ea typeface="Calibri"/>
                  <a:cs typeface="Calibri"/>
                  <a:sym typeface="Calibri"/>
                </a:endParaRPr>
              </a:p>
            </p:txBody>
          </p:sp>
          <p:sp>
            <p:nvSpPr>
              <p:cNvPr id="431" name="Google Shape;431;p25"/>
              <p:cNvSpPr txBox="1"/>
              <p:nvPr/>
            </p:nvSpPr>
            <p:spPr>
              <a:xfrm>
                <a:off x="2000250" y="95250"/>
                <a:ext cx="14289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50">
                    <a:solidFill>
                      <a:srgbClr val="FFFFFF"/>
                    </a:solidFill>
                    <a:latin typeface="Calibri"/>
                    <a:ea typeface="Calibri"/>
                    <a:cs typeface="Calibri"/>
                    <a:sym typeface="Calibri"/>
                  </a:rPr>
                  <a:t>Baseline RF</a:t>
                </a:r>
                <a:endParaRPr b="1" sz="1150">
                  <a:solidFill>
                    <a:srgbClr val="FFFFFF"/>
                  </a:solidFill>
                  <a:latin typeface="Calibri"/>
                  <a:ea typeface="Calibri"/>
                  <a:cs typeface="Calibri"/>
                  <a:sym typeface="Calibri"/>
                </a:endParaRPr>
              </a:p>
            </p:txBody>
          </p:sp>
          <p:sp>
            <p:nvSpPr>
              <p:cNvPr id="432" name="Google Shape;432;p25"/>
              <p:cNvSpPr txBox="1"/>
              <p:nvPr/>
            </p:nvSpPr>
            <p:spPr>
              <a:xfrm>
                <a:off x="3571875" y="95250"/>
                <a:ext cx="14289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50">
                    <a:solidFill>
                      <a:srgbClr val="FFFFFF"/>
                    </a:solidFill>
                    <a:latin typeface="Calibri"/>
                    <a:ea typeface="Calibri"/>
                    <a:cs typeface="Calibri"/>
                    <a:sym typeface="Calibri"/>
                  </a:rPr>
                  <a:t>Tuned RF</a:t>
                </a:r>
                <a:endParaRPr b="1" sz="1150">
                  <a:solidFill>
                    <a:srgbClr val="FFFFFF"/>
                  </a:solidFill>
                  <a:latin typeface="Calibri"/>
                  <a:ea typeface="Calibri"/>
                  <a:cs typeface="Calibri"/>
                  <a:sym typeface="Calibri"/>
                </a:endParaRPr>
              </a:p>
            </p:txBody>
          </p:sp>
          <p:cxnSp>
            <p:nvCxnSpPr>
              <p:cNvPr id="433" name="Google Shape;433;p25"/>
              <p:cNvCxnSpPr/>
              <p:nvPr/>
            </p:nvCxnSpPr>
            <p:spPr>
              <a:xfrm>
                <a:off x="0" y="695325"/>
                <a:ext cx="5143500" cy="0"/>
              </a:xfrm>
              <a:prstGeom prst="straightConnector1">
                <a:avLst/>
              </a:prstGeom>
              <a:solidFill>
                <a:srgbClr val="FFFFFF"/>
              </a:solidFill>
              <a:ln cap="flat" cmpd="sng" w="9525">
                <a:solidFill>
                  <a:srgbClr val="EAF1FC"/>
                </a:solidFill>
                <a:prstDash val="solid"/>
                <a:round/>
                <a:headEnd len="sm" w="sm" type="none"/>
                <a:tailEnd len="sm" w="sm" type="none"/>
              </a:ln>
            </p:spPr>
          </p:cxnSp>
          <p:sp>
            <p:nvSpPr>
              <p:cNvPr id="434" name="Google Shape;434;p25"/>
              <p:cNvSpPr txBox="1"/>
              <p:nvPr/>
            </p:nvSpPr>
            <p:spPr>
              <a:xfrm>
                <a:off x="142875" y="457200"/>
                <a:ext cx="1714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A5E"/>
                    </a:solidFill>
                    <a:latin typeface="Calibri"/>
                    <a:ea typeface="Calibri"/>
                    <a:cs typeface="Calibri"/>
                    <a:sym typeface="Calibri"/>
                  </a:rPr>
                  <a:t>Accuracy</a:t>
                </a:r>
                <a:endParaRPr b="1" sz="1100">
                  <a:solidFill>
                    <a:srgbClr val="0F2A5E"/>
                  </a:solidFill>
                  <a:latin typeface="Calibri"/>
                  <a:ea typeface="Calibri"/>
                  <a:cs typeface="Calibri"/>
                  <a:sym typeface="Calibri"/>
                </a:endParaRPr>
              </a:p>
            </p:txBody>
          </p:sp>
          <p:sp>
            <p:nvSpPr>
              <p:cNvPr id="435" name="Google Shape;435;p25"/>
              <p:cNvSpPr txBox="1"/>
              <p:nvPr/>
            </p:nvSpPr>
            <p:spPr>
              <a:xfrm>
                <a:off x="2000250" y="45720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92.1%</a:t>
                </a:r>
                <a:endParaRPr b="0" sz="1100">
                  <a:solidFill>
                    <a:srgbClr val="1B2430"/>
                  </a:solidFill>
                  <a:latin typeface="Calibri"/>
                  <a:ea typeface="Calibri"/>
                  <a:cs typeface="Calibri"/>
                  <a:sym typeface="Calibri"/>
                </a:endParaRPr>
              </a:p>
            </p:txBody>
          </p:sp>
          <p:sp>
            <p:nvSpPr>
              <p:cNvPr id="436" name="Google Shape;436;p25"/>
              <p:cNvSpPr txBox="1"/>
              <p:nvPr/>
            </p:nvSpPr>
            <p:spPr>
              <a:xfrm>
                <a:off x="3571875" y="45720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2461C0"/>
                    </a:solidFill>
                    <a:latin typeface="Calibri"/>
                    <a:ea typeface="Calibri"/>
                    <a:cs typeface="Calibri"/>
                    <a:sym typeface="Calibri"/>
                  </a:rPr>
                  <a:t>83.7%</a:t>
                </a:r>
                <a:endParaRPr b="1" sz="1100">
                  <a:solidFill>
                    <a:srgbClr val="2461C0"/>
                  </a:solidFill>
                  <a:latin typeface="Calibri"/>
                  <a:ea typeface="Calibri"/>
                  <a:cs typeface="Calibri"/>
                  <a:sym typeface="Calibri"/>
                </a:endParaRPr>
              </a:p>
            </p:txBody>
          </p:sp>
          <p:cxnSp>
            <p:nvCxnSpPr>
              <p:cNvPr id="437" name="Google Shape;437;p25"/>
              <p:cNvCxnSpPr/>
              <p:nvPr/>
            </p:nvCxnSpPr>
            <p:spPr>
              <a:xfrm>
                <a:off x="0" y="1028700"/>
                <a:ext cx="5143500" cy="0"/>
              </a:xfrm>
              <a:prstGeom prst="straightConnector1">
                <a:avLst/>
              </a:prstGeom>
              <a:solidFill>
                <a:srgbClr val="FFFFFF"/>
              </a:solidFill>
              <a:ln cap="flat" cmpd="sng" w="9525">
                <a:solidFill>
                  <a:srgbClr val="EAF1FC"/>
                </a:solidFill>
                <a:prstDash val="solid"/>
                <a:round/>
                <a:headEnd len="sm" w="sm" type="none"/>
                <a:tailEnd len="sm" w="sm" type="none"/>
              </a:ln>
            </p:spPr>
          </p:cxnSp>
          <p:sp>
            <p:nvSpPr>
              <p:cNvPr id="438" name="Google Shape;438;p25"/>
              <p:cNvSpPr txBox="1"/>
              <p:nvPr/>
            </p:nvSpPr>
            <p:spPr>
              <a:xfrm>
                <a:off x="142875" y="790575"/>
                <a:ext cx="1714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A5E"/>
                    </a:solidFill>
                    <a:latin typeface="Calibri"/>
                    <a:ea typeface="Calibri"/>
                    <a:cs typeface="Calibri"/>
                    <a:sym typeface="Calibri"/>
                  </a:rPr>
                  <a:t>Precision</a:t>
                </a:r>
                <a:endParaRPr b="1" sz="1100">
                  <a:solidFill>
                    <a:srgbClr val="0F2A5E"/>
                  </a:solidFill>
                  <a:latin typeface="Calibri"/>
                  <a:ea typeface="Calibri"/>
                  <a:cs typeface="Calibri"/>
                  <a:sym typeface="Calibri"/>
                </a:endParaRPr>
              </a:p>
            </p:txBody>
          </p:sp>
          <p:sp>
            <p:nvSpPr>
              <p:cNvPr id="439" name="Google Shape;439;p25"/>
              <p:cNvSpPr txBox="1"/>
              <p:nvPr/>
            </p:nvSpPr>
            <p:spPr>
              <a:xfrm>
                <a:off x="2000250" y="79057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25.1%</a:t>
                </a:r>
                <a:endParaRPr b="0" sz="1100">
                  <a:solidFill>
                    <a:srgbClr val="1B2430"/>
                  </a:solidFill>
                  <a:latin typeface="Calibri"/>
                  <a:ea typeface="Calibri"/>
                  <a:cs typeface="Calibri"/>
                  <a:sym typeface="Calibri"/>
                </a:endParaRPr>
              </a:p>
            </p:txBody>
          </p:sp>
          <p:sp>
            <p:nvSpPr>
              <p:cNvPr id="440" name="Google Shape;440;p25"/>
              <p:cNvSpPr txBox="1"/>
              <p:nvPr/>
            </p:nvSpPr>
            <p:spPr>
              <a:xfrm>
                <a:off x="3571875" y="79057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19.4%</a:t>
                </a:r>
                <a:endParaRPr b="0" sz="1100">
                  <a:solidFill>
                    <a:srgbClr val="1B2430"/>
                  </a:solidFill>
                  <a:latin typeface="Calibri"/>
                  <a:ea typeface="Calibri"/>
                  <a:cs typeface="Calibri"/>
                  <a:sym typeface="Calibri"/>
                </a:endParaRPr>
              </a:p>
            </p:txBody>
          </p:sp>
          <p:cxnSp>
            <p:nvCxnSpPr>
              <p:cNvPr id="441" name="Google Shape;441;p25"/>
              <p:cNvCxnSpPr/>
              <p:nvPr/>
            </p:nvCxnSpPr>
            <p:spPr>
              <a:xfrm>
                <a:off x="0" y="1362075"/>
                <a:ext cx="5143500" cy="0"/>
              </a:xfrm>
              <a:prstGeom prst="straightConnector1">
                <a:avLst/>
              </a:prstGeom>
              <a:solidFill>
                <a:srgbClr val="FFFFFF"/>
              </a:solidFill>
              <a:ln cap="flat" cmpd="sng" w="9525">
                <a:solidFill>
                  <a:srgbClr val="EAF1FC"/>
                </a:solidFill>
                <a:prstDash val="solid"/>
                <a:round/>
                <a:headEnd len="sm" w="sm" type="none"/>
                <a:tailEnd len="sm" w="sm" type="none"/>
              </a:ln>
            </p:spPr>
          </p:cxnSp>
          <p:sp>
            <p:nvSpPr>
              <p:cNvPr id="442" name="Google Shape;442;p25"/>
              <p:cNvSpPr txBox="1"/>
              <p:nvPr/>
            </p:nvSpPr>
            <p:spPr>
              <a:xfrm>
                <a:off x="142875" y="1123950"/>
                <a:ext cx="1714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A5E"/>
                    </a:solidFill>
                    <a:latin typeface="Calibri"/>
                    <a:ea typeface="Calibri"/>
                    <a:cs typeface="Calibri"/>
                    <a:sym typeface="Calibri"/>
                  </a:rPr>
                  <a:t>Recall (Sensitivity)</a:t>
                </a:r>
                <a:endParaRPr b="1" sz="1100">
                  <a:solidFill>
                    <a:srgbClr val="0F2A5E"/>
                  </a:solidFill>
                  <a:latin typeface="Calibri"/>
                  <a:ea typeface="Calibri"/>
                  <a:cs typeface="Calibri"/>
                  <a:sym typeface="Calibri"/>
                </a:endParaRPr>
              </a:p>
            </p:txBody>
          </p:sp>
          <p:sp>
            <p:nvSpPr>
              <p:cNvPr id="443" name="Google Shape;443;p25"/>
              <p:cNvSpPr txBox="1"/>
              <p:nvPr/>
            </p:nvSpPr>
            <p:spPr>
              <a:xfrm>
                <a:off x="2000250" y="112395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11.7%</a:t>
                </a:r>
                <a:endParaRPr b="0" sz="1100">
                  <a:solidFill>
                    <a:srgbClr val="1B2430"/>
                  </a:solidFill>
                  <a:latin typeface="Calibri"/>
                  <a:ea typeface="Calibri"/>
                  <a:cs typeface="Calibri"/>
                  <a:sym typeface="Calibri"/>
                </a:endParaRPr>
              </a:p>
            </p:txBody>
          </p:sp>
          <p:sp>
            <p:nvSpPr>
              <p:cNvPr id="444" name="Google Shape;444;p25"/>
              <p:cNvSpPr txBox="1"/>
              <p:nvPr/>
            </p:nvSpPr>
            <p:spPr>
              <a:xfrm>
                <a:off x="3571875" y="112395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2461C0"/>
                    </a:solidFill>
                    <a:latin typeface="Calibri"/>
                    <a:ea typeface="Calibri"/>
                    <a:cs typeface="Calibri"/>
                    <a:sym typeface="Calibri"/>
                  </a:rPr>
                  <a:t>48.5%</a:t>
                </a:r>
                <a:endParaRPr b="1" sz="1100">
                  <a:solidFill>
                    <a:srgbClr val="2461C0"/>
                  </a:solidFill>
                  <a:latin typeface="Calibri"/>
                  <a:ea typeface="Calibri"/>
                  <a:cs typeface="Calibri"/>
                  <a:sym typeface="Calibri"/>
                </a:endParaRPr>
              </a:p>
            </p:txBody>
          </p:sp>
          <p:cxnSp>
            <p:nvCxnSpPr>
              <p:cNvPr id="445" name="Google Shape;445;p25"/>
              <p:cNvCxnSpPr/>
              <p:nvPr/>
            </p:nvCxnSpPr>
            <p:spPr>
              <a:xfrm>
                <a:off x="0" y="1695450"/>
                <a:ext cx="5143500" cy="0"/>
              </a:xfrm>
              <a:prstGeom prst="straightConnector1">
                <a:avLst/>
              </a:prstGeom>
              <a:solidFill>
                <a:srgbClr val="FFFFFF"/>
              </a:solidFill>
              <a:ln cap="flat" cmpd="sng" w="9525">
                <a:solidFill>
                  <a:srgbClr val="EAF1FC"/>
                </a:solidFill>
                <a:prstDash val="solid"/>
                <a:round/>
                <a:headEnd len="sm" w="sm" type="none"/>
                <a:tailEnd len="sm" w="sm" type="none"/>
              </a:ln>
            </p:spPr>
          </p:cxnSp>
          <p:sp>
            <p:nvSpPr>
              <p:cNvPr id="446" name="Google Shape;446;p25"/>
              <p:cNvSpPr txBox="1"/>
              <p:nvPr/>
            </p:nvSpPr>
            <p:spPr>
              <a:xfrm>
                <a:off x="142875" y="1457325"/>
                <a:ext cx="1714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A5E"/>
                    </a:solidFill>
                    <a:latin typeface="Calibri"/>
                    <a:ea typeface="Calibri"/>
                    <a:cs typeface="Calibri"/>
                    <a:sym typeface="Calibri"/>
                  </a:rPr>
                  <a:t>F1-Score</a:t>
                </a:r>
                <a:endParaRPr b="1" sz="1100">
                  <a:solidFill>
                    <a:srgbClr val="0F2A5E"/>
                  </a:solidFill>
                  <a:latin typeface="Calibri"/>
                  <a:ea typeface="Calibri"/>
                  <a:cs typeface="Calibri"/>
                  <a:sym typeface="Calibri"/>
                </a:endParaRPr>
              </a:p>
            </p:txBody>
          </p:sp>
          <p:sp>
            <p:nvSpPr>
              <p:cNvPr id="447" name="Google Shape;447;p25"/>
              <p:cNvSpPr txBox="1"/>
              <p:nvPr/>
            </p:nvSpPr>
            <p:spPr>
              <a:xfrm>
                <a:off x="2000250" y="145732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0.159</a:t>
                </a:r>
                <a:endParaRPr b="0" sz="1100">
                  <a:solidFill>
                    <a:srgbClr val="1B2430"/>
                  </a:solidFill>
                  <a:latin typeface="Calibri"/>
                  <a:ea typeface="Calibri"/>
                  <a:cs typeface="Calibri"/>
                  <a:sym typeface="Calibri"/>
                </a:endParaRPr>
              </a:p>
            </p:txBody>
          </p:sp>
          <p:sp>
            <p:nvSpPr>
              <p:cNvPr id="448" name="Google Shape;448;p25"/>
              <p:cNvSpPr txBox="1"/>
              <p:nvPr/>
            </p:nvSpPr>
            <p:spPr>
              <a:xfrm>
                <a:off x="3571875" y="145732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2461C0"/>
                    </a:solidFill>
                    <a:latin typeface="Calibri"/>
                    <a:ea typeface="Calibri"/>
                    <a:cs typeface="Calibri"/>
                    <a:sym typeface="Calibri"/>
                  </a:rPr>
                  <a:t>0.277</a:t>
                </a:r>
                <a:endParaRPr b="1" sz="1100">
                  <a:solidFill>
                    <a:srgbClr val="2461C0"/>
                  </a:solidFill>
                  <a:latin typeface="Calibri"/>
                  <a:ea typeface="Calibri"/>
                  <a:cs typeface="Calibri"/>
                  <a:sym typeface="Calibri"/>
                </a:endParaRPr>
              </a:p>
            </p:txBody>
          </p:sp>
          <p:sp>
            <p:nvSpPr>
              <p:cNvPr id="449" name="Google Shape;449;p25"/>
              <p:cNvSpPr txBox="1"/>
              <p:nvPr/>
            </p:nvSpPr>
            <p:spPr>
              <a:xfrm>
                <a:off x="142875" y="1790700"/>
                <a:ext cx="1714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A5E"/>
                    </a:solidFill>
                    <a:latin typeface="Calibri"/>
                    <a:ea typeface="Calibri"/>
                    <a:cs typeface="Calibri"/>
                    <a:sym typeface="Calibri"/>
                  </a:rPr>
                  <a:t>ROC-AUC</a:t>
                </a:r>
                <a:endParaRPr b="1" sz="1100">
                  <a:solidFill>
                    <a:srgbClr val="0F2A5E"/>
                  </a:solidFill>
                  <a:latin typeface="Calibri"/>
                  <a:ea typeface="Calibri"/>
                  <a:cs typeface="Calibri"/>
                  <a:sym typeface="Calibri"/>
                </a:endParaRPr>
              </a:p>
            </p:txBody>
          </p:sp>
          <p:sp>
            <p:nvSpPr>
              <p:cNvPr id="450" name="Google Shape;450;p25"/>
              <p:cNvSpPr txBox="1"/>
              <p:nvPr/>
            </p:nvSpPr>
            <p:spPr>
              <a:xfrm>
                <a:off x="2000250" y="179070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100">
                    <a:solidFill>
                      <a:srgbClr val="1B2430"/>
                    </a:solidFill>
                    <a:latin typeface="Calibri"/>
                    <a:ea typeface="Calibri"/>
                    <a:cs typeface="Calibri"/>
                    <a:sym typeface="Calibri"/>
                  </a:rPr>
                  <a:t>0.720</a:t>
                </a:r>
                <a:endParaRPr b="0" sz="1100">
                  <a:solidFill>
                    <a:srgbClr val="1B2430"/>
                  </a:solidFill>
                  <a:latin typeface="Calibri"/>
                  <a:ea typeface="Calibri"/>
                  <a:cs typeface="Calibri"/>
                  <a:sym typeface="Calibri"/>
                </a:endParaRPr>
              </a:p>
            </p:txBody>
          </p:sp>
          <p:sp>
            <p:nvSpPr>
              <p:cNvPr id="451" name="Google Shape;451;p25"/>
              <p:cNvSpPr txBox="1"/>
              <p:nvPr/>
            </p:nvSpPr>
            <p:spPr>
              <a:xfrm>
                <a:off x="3571875" y="179070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100">
                    <a:solidFill>
                      <a:srgbClr val="2461C0"/>
                    </a:solidFill>
                    <a:latin typeface="Calibri"/>
                    <a:ea typeface="Calibri"/>
                    <a:cs typeface="Calibri"/>
                    <a:sym typeface="Calibri"/>
                  </a:rPr>
                  <a:t>0.755</a:t>
                </a:r>
                <a:endParaRPr b="1" sz="1100">
                  <a:solidFill>
                    <a:srgbClr val="2461C0"/>
                  </a:solidFill>
                  <a:latin typeface="Calibri"/>
                  <a:ea typeface="Calibri"/>
                  <a:cs typeface="Calibri"/>
                  <a:sym typeface="Calibri"/>
                </a:endParaRPr>
              </a:p>
            </p:txBody>
          </p:sp>
        </p:grpSp>
      </p:grpSp>
      <p:sp>
        <p:nvSpPr>
          <p:cNvPr id="452" name="Google Shape;452;p25"/>
          <p:cNvSpPr txBox="1"/>
          <p:nvPr/>
        </p:nvSpPr>
        <p:spPr>
          <a:xfrm>
            <a:off x="502920" y="5857875"/>
            <a:ext cx="1115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US" sz="950">
                <a:solidFill>
                  <a:srgbClr val="5B6B82"/>
                </a:solidFill>
                <a:latin typeface="Calibri"/>
                <a:ea typeface="Calibri"/>
                <a:cs typeface="Calibri"/>
                <a:sym typeface="Calibri"/>
              </a:rPr>
              <a:t>Note: While global Accuracy dropped due to the class_weight balancing, Tuned Random Forest achieved a massive 4x boost in Recall (48.5% vs 11.7%), successfully flagging nearly half of all late deliveries.</a:t>
            </a:r>
            <a:endParaRPr b="0" i="1" sz="950">
              <a:solidFill>
                <a:srgbClr val="5B6B82"/>
              </a:solidFill>
              <a:latin typeface="Calibri"/>
              <a:ea typeface="Calibri"/>
              <a:cs typeface="Calibri"/>
              <a:sym typeface="Calibri"/>
            </a:endParaRPr>
          </a:p>
        </p:txBody>
      </p:sp>
      <p:sp>
        <p:nvSpPr>
          <p:cNvPr id="453" name="Google Shape;453;p25"/>
          <p:cNvSpPr txBox="1"/>
          <p:nvPr/>
        </p:nvSpPr>
        <p:spPr>
          <a:xfrm>
            <a:off x="502920" y="6510528"/>
            <a:ext cx="54864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950">
                <a:solidFill>
                  <a:srgbClr val="5B6B82"/>
                </a:solidFill>
                <a:latin typeface="Calibri"/>
                <a:ea typeface="Calibri"/>
                <a:cs typeface="Calibri"/>
                <a:sym typeface="Calibri"/>
              </a:rPr>
              <a:t>Random Forest Tuning &amp; Evaluation</a:t>
            </a:r>
            <a:endParaRPr b="0" sz="950">
              <a:solidFill>
                <a:srgbClr val="5B6B82"/>
              </a:solidFill>
              <a:latin typeface="Calibri"/>
              <a:ea typeface="Calibri"/>
              <a:cs typeface="Calibri"/>
              <a:sym typeface="Calibri"/>
            </a:endParaRPr>
          </a:p>
        </p:txBody>
      </p:sp>
      <p:sp>
        <p:nvSpPr>
          <p:cNvPr id="454" name="Google Shape;454;p25"/>
          <p:cNvSpPr/>
          <p:nvPr/>
        </p:nvSpPr>
        <p:spPr>
          <a:xfrm>
            <a:off x="10561320" y="320040"/>
            <a:ext cx="1280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6"/>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6"/>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462" name="Google Shape;462;p26"/>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SELECTED MODEL · HELD-OUT TEST SET</a:t>
            </a:r>
            <a:endParaRPr b="0" i="0" sz="1200" u="none" cap="none" strike="noStrike">
              <a:solidFill>
                <a:schemeClr val="dk1"/>
              </a:solidFill>
              <a:latin typeface="Calibri"/>
              <a:ea typeface="Calibri"/>
              <a:cs typeface="Calibri"/>
              <a:sym typeface="Calibri"/>
            </a:endParaRPr>
          </a:p>
        </p:txBody>
      </p:sp>
      <p:sp>
        <p:nvSpPr>
          <p:cNvPr id="463" name="Google Shape;463;p26"/>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Confusion Matrix</a:t>
            </a:r>
            <a:endParaRPr b="0" i="0" sz="3000" u="none" cap="none" strike="noStrike">
              <a:solidFill>
                <a:schemeClr val="dk1"/>
              </a:solidFill>
              <a:latin typeface="Calibri"/>
              <a:ea typeface="Calibri"/>
              <a:cs typeface="Calibri"/>
              <a:sym typeface="Calibri"/>
            </a:endParaRPr>
          </a:p>
        </p:txBody>
      </p:sp>
      <p:pic>
        <p:nvPicPr>
          <p:cNvPr descr="/home/claude/assets/01_Confusion_Matrix.png" id="464" name="Google Shape;464;p26"/>
          <p:cNvPicPr preferRelativeResize="0"/>
          <p:nvPr/>
        </p:nvPicPr>
        <p:blipFill rotWithShape="1">
          <a:blip r:embed="rId3">
            <a:alphaModFix/>
          </a:blip>
          <a:srcRect b="0" l="0" r="0" t="0"/>
          <a:stretch/>
        </p:blipFill>
        <p:spPr>
          <a:xfrm>
            <a:off x="502920" y="1783080"/>
            <a:ext cx="4572000" cy="3977640"/>
          </a:xfrm>
          <a:prstGeom prst="rect">
            <a:avLst/>
          </a:prstGeom>
          <a:noFill/>
          <a:ln>
            <a:noFill/>
          </a:ln>
        </p:spPr>
      </p:pic>
      <p:sp>
        <p:nvSpPr>
          <p:cNvPr id="465" name="Google Shape;465;p26"/>
          <p:cNvSpPr/>
          <p:nvPr/>
        </p:nvSpPr>
        <p:spPr>
          <a:xfrm>
            <a:off x="5394960" y="1783080"/>
            <a:ext cx="2971800" cy="1828800"/>
          </a:xfrm>
          <a:prstGeom prst="roundRect">
            <a:avLst>
              <a:gd fmla="val 40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6"/>
          <p:cNvSpPr/>
          <p:nvPr/>
        </p:nvSpPr>
        <p:spPr>
          <a:xfrm>
            <a:off x="5577840" y="1920240"/>
            <a:ext cx="2606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2200"/>
              <a:buFont typeface="Cambria"/>
              <a:buNone/>
            </a:pPr>
            <a:r>
              <a:rPr b="1" i="0" lang="en-US" sz="2200" u="none" cap="none" strike="noStrike">
                <a:solidFill>
                  <a:srgbClr val="0F2A5E"/>
                </a:solidFill>
                <a:latin typeface="Cambria"/>
                <a:ea typeface="Cambria"/>
                <a:cs typeface="Cambria"/>
                <a:sym typeface="Cambria"/>
              </a:rPr>
              <a:t>18,260</a:t>
            </a:r>
            <a:endParaRPr b="0" i="0" sz="2200" u="none" cap="none" strike="noStrike">
              <a:solidFill>
                <a:schemeClr val="dk1"/>
              </a:solidFill>
              <a:latin typeface="Calibri"/>
              <a:ea typeface="Calibri"/>
              <a:cs typeface="Calibri"/>
              <a:sym typeface="Calibri"/>
            </a:endParaRPr>
          </a:p>
        </p:txBody>
      </p:sp>
      <p:sp>
        <p:nvSpPr>
          <p:cNvPr id="467" name="Google Shape;467;p26"/>
          <p:cNvSpPr/>
          <p:nvPr/>
        </p:nvSpPr>
        <p:spPr>
          <a:xfrm>
            <a:off x="5577840" y="2441448"/>
            <a:ext cx="2606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150"/>
              <a:buFont typeface="Calibri"/>
              <a:buNone/>
            </a:pPr>
            <a:r>
              <a:rPr b="1" i="0" lang="en-US" sz="1150" u="none" cap="none" strike="noStrike">
                <a:solidFill>
                  <a:srgbClr val="0F2A5E"/>
                </a:solidFill>
                <a:latin typeface="Calibri"/>
                <a:ea typeface="Calibri"/>
                <a:cs typeface="Calibri"/>
                <a:sym typeface="Calibri"/>
              </a:rPr>
              <a:t>True Negatives</a:t>
            </a:r>
            <a:endParaRPr b="0" i="0" sz="1150" u="none" cap="none" strike="noStrike">
              <a:solidFill>
                <a:schemeClr val="dk1"/>
              </a:solidFill>
              <a:latin typeface="Calibri"/>
              <a:ea typeface="Calibri"/>
              <a:cs typeface="Calibri"/>
              <a:sym typeface="Calibri"/>
            </a:endParaRPr>
          </a:p>
        </p:txBody>
      </p:sp>
      <p:sp>
        <p:nvSpPr>
          <p:cNvPr id="468" name="Google Shape;468;p26"/>
          <p:cNvSpPr/>
          <p:nvPr/>
        </p:nvSpPr>
        <p:spPr>
          <a:xfrm>
            <a:off x="5577840" y="2770632"/>
            <a:ext cx="26060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On-time, correctly predicted on-time</a:t>
            </a:r>
            <a:endParaRPr b="0" i="0" sz="1000" u="none" cap="none" strike="noStrike">
              <a:solidFill>
                <a:schemeClr val="dk1"/>
              </a:solidFill>
              <a:latin typeface="Calibri"/>
              <a:ea typeface="Calibri"/>
              <a:cs typeface="Calibri"/>
              <a:sym typeface="Calibri"/>
            </a:endParaRPr>
          </a:p>
        </p:txBody>
      </p:sp>
      <p:sp>
        <p:nvSpPr>
          <p:cNvPr id="469" name="Google Shape;469;p26"/>
          <p:cNvSpPr/>
          <p:nvPr/>
        </p:nvSpPr>
        <p:spPr>
          <a:xfrm>
            <a:off x="8595360" y="1783080"/>
            <a:ext cx="2971800" cy="1828800"/>
          </a:xfrm>
          <a:prstGeom prst="roundRect">
            <a:avLst>
              <a:gd fmla="val 40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6"/>
          <p:cNvSpPr/>
          <p:nvPr/>
        </p:nvSpPr>
        <p:spPr>
          <a:xfrm>
            <a:off x="8778240" y="1920240"/>
            <a:ext cx="2606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8DEF"/>
              </a:buClr>
              <a:buSzPts val="2200"/>
              <a:buFont typeface="Cambria"/>
              <a:buNone/>
            </a:pPr>
            <a:r>
              <a:rPr b="1" i="0" lang="en-US" sz="2200" u="none" cap="none" strike="noStrike">
                <a:solidFill>
                  <a:srgbClr val="5B8DEF"/>
                </a:solidFill>
                <a:latin typeface="Cambria"/>
                <a:ea typeface="Cambria"/>
                <a:cs typeface="Cambria"/>
                <a:sym typeface="Cambria"/>
              </a:rPr>
              <a:t>2,944</a:t>
            </a:r>
            <a:endParaRPr b="0" i="0" sz="2200" u="none" cap="none" strike="noStrike">
              <a:solidFill>
                <a:schemeClr val="dk1"/>
              </a:solidFill>
              <a:latin typeface="Calibri"/>
              <a:ea typeface="Calibri"/>
              <a:cs typeface="Calibri"/>
              <a:sym typeface="Calibri"/>
            </a:endParaRPr>
          </a:p>
        </p:txBody>
      </p:sp>
      <p:sp>
        <p:nvSpPr>
          <p:cNvPr id="471" name="Google Shape;471;p26"/>
          <p:cNvSpPr/>
          <p:nvPr/>
        </p:nvSpPr>
        <p:spPr>
          <a:xfrm>
            <a:off x="8778240" y="2441448"/>
            <a:ext cx="2606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150"/>
              <a:buFont typeface="Calibri"/>
              <a:buNone/>
            </a:pPr>
            <a:r>
              <a:rPr b="1" i="0" lang="en-US" sz="1150" u="none" cap="none" strike="noStrike">
                <a:solidFill>
                  <a:srgbClr val="0F2A5E"/>
                </a:solidFill>
                <a:latin typeface="Calibri"/>
                <a:ea typeface="Calibri"/>
                <a:cs typeface="Calibri"/>
                <a:sym typeface="Calibri"/>
              </a:rPr>
              <a:t>False Positives</a:t>
            </a:r>
            <a:endParaRPr b="0" i="0" sz="1150" u="none" cap="none" strike="noStrike">
              <a:solidFill>
                <a:schemeClr val="dk1"/>
              </a:solidFill>
              <a:latin typeface="Calibri"/>
              <a:ea typeface="Calibri"/>
              <a:cs typeface="Calibri"/>
              <a:sym typeface="Calibri"/>
            </a:endParaRPr>
          </a:p>
        </p:txBody>
      </p:sp>
      <p:sp>
        <p:nvSpPr>
          <p:cNvPr id="472" name="Google Shape;472;p26"/>
          <p:cNvSpPr/>
          <p:nvPr/>
        </p:nvSpPr>
        <p:spPr>
          <a:xfrm>
            <a:off x="8778240" y="2770632"/>
            <a:ext cx="26060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On-time orders flagged as late</a:t>
            </a:r>
            <a:endParaRPr b="0" i="0" sz="1000" u="none" cap="none" strike="noStrike">
              <a:solidFill>
                <a:schemeClr val="dk1"/>
              </a:solidFill>
              <a:latin typeface="Calibri"/>
              <a:ea typeface="Calibri"/>
              <a:cs typeface="Calibri"/>
              <a:sym typeface="Calibri"/>
            </a:endParaRPr>
          </a:p>
        </p:txBody>
      </p:sp>
      <p:sp>
        <p:nvSpPr>
          <p:cNvPr id="473" name="Google Shape;473;p26"/>
          <p:cNvSpPr/>
          <p:nvPr/>
        </p:nvSpPr>
        <p:spPr>
          <a:xfrm>
            <a:off x="5394960" y="3794760"/>
            <a:ext cx="2971800" cy="1828800"/>
          </a:xfrm>
          <a:prstGeom prst="roundRect">
            <a:avLst>
              <a:gd fmla="val 40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6"/>
          <p:cNvSpPr/>
          <p:nvPr/>
        </p:nvSpPr>
        <p:spPr>
          <a:xfrm>
            <a:off x="5577840" y="3931920"/>
            <a:ext cx="2606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2200"/>
              <a:buFont typeface="Cambria"/>
              <a:buNone/>
            </a:pPr>
            <a:r>
              <a:rPr b="1" i="0" lang="en-US" sz="2200" u="none" cap="none" strike="noStrike">
                <a:solidFill>
                  <a:srgbClr val="2461C0"/>
                </a:solidFill>
                <a:latin typeface="Cambria"/>
                <a:ea typeface="Cambria"/>
                <a:cs typeface="Cambria"/>
                <a:sym typeface="Cambria"/>
              </a:rPr>
              <a:t>751</a:t>
            </a:r>
            <a:endParaRPr b="0" i="0" sz="2200" u="none" cap="none" strike="noStrike">
              <a:solidFill>
                <a:schemeClr val="dk1"/>
              </a:solidFill>
              <a:latin typeface="Calibri"/>
              <a:ea typeface="Calibri"/>
              <a:cs typeface="Calibri"/>
              <a:sym typeface="Calibri"/>
            </a:endParaRPr>
          </a:p>
        </p:txBody>
      </p:sp>
      <p:sp>
        <p:nvSpPr>
          <p:cNvPr id="475" name="Google Shape;475;p26"/>
          <p:cNvSpPr/>
          <p:nvPr/>
        </p:nvSpPr>
        <p:spPr>
          <a:xfrm>
            <a:off x="5577840" y="4453128"/>
            <a:ext cx="2606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150"/>
              <a:buFont typeface="Calibri"/>
              <a:buNone/>
            </a:pPr>
            <a:r>
              <a:rPr b="1" i="0" lang="en-US" sz="1150" u="none" cap="none" strike="noStrike">
                <a:solidFill>
                  <a:srgbClr val="0F2A5E"/>
                </a:solidFill>
                <a:latin typeface="Calibri"/>
                <a:ea typeface="Calibri"/>
                <a:cs typeface="Calibri"/>
                <a:sym typeface="Calibri"/>
              </a:rPr>
              <a:t>False Negatives</a:t>
            </a:r>
            <a:endParaRPr b="0" i="0" sz="1150" u="none" cap="none" strike="noStrike">
              <a:solidFill>
                <a:schemeClr val="dk1"/>
              </a:solidFill>
              <a:latin typeface="Calibri"/>
              <a:ea typeface="Calibri"/>
              <a:cs typeface="Calibri"/>
              <a:sym typeface="Calibri"/>
            </a:endParaRPr>
          </a:p>
        </p:txBody>
      </p:sp>
      <p:sp>
        <p:nvSpPr>
          <p:cNvPr id="476" name="Google Shape;476;p26"/>
          <p:cNvSpPr/>
          <p:nvPr/>
        </p:nvSpPr>
        <p:spPr>
          <a:xfrm>
            <a:off x="5577840" y="4782312"/>
            <a:ext cx="26060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Late orders the model missed</a:t>
            </a:r>
            <a:endParaRPr b="0" i="0" sz="1000" u="none" cap="none" strike="noStrike">
              <a:solidFill>
                <a:schemeClr val="dk1"/>
              </a:solidFill>
              <a:latin typeface="Calibri"/>
              <a:ea typeface="Calibri"/>
              <a:cs typeface="Calibri"/>
              <a:sym typeface="Calibri"/>
            </a:endParaRPr>
          </a:p>
        </p:txBody>
      </p:sp>
      <p:sp>
        <p:nvSpPr>
          <p:cNvPr id="477" name="Google Shape;477;p26"/>
          <p:cNvSpPr/>
          <p:nvPr/>
        </p:nvSpPr>
        <p:spPr>
          <a:xfrm>
            <a:off x="8595360" y="3794760"/>
            <a:ext cx="2971800" cy="1828800"/>
          </a:xfrm>
          <a:prstGeom prst="roundRect">
            <a:avLst>
              <a:gd fmla="val 4000"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6"/>
          <p:cNvSpPr/>
          <p:nvPr/>
        </p:nvSpPr>
        <p:spPr>
          <a:xfrm>
            <a:off x="8778240" y="3931920"/>
            <a:ext cx="2606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2200"/>
              <a:buFont typeface="Cambria"/>
              <a:buNone/>
            </a:pPr>
            <a:r>
              <a:rPr b="1" i="0" lang="en-US" sz="2200" u="none" cap="none" strike="noStrike">
                <a:solidFill>
                  <a:srgbClr val="0F2A5E"/>
                </a:solidFill>
                <a:latin typeface="Cambria"/>
                <a:ea typeface="Cambria"/>
                <a:cs typeface="Cambria"/>
                <a:sym typeface="Cambria"/>
              </a:rPr>
              <a:t>708</a:t>
            </a:r>
            <a:endParaRPr b="0" i="0" sz="2200" u="none" cap="none" strike="noStrike">
              <a:solidFill>
                <a:schemeClr val="dk1"/>
              </a:solidFill>
              <a:latin typeface="Calibri"/>
              <a:ea typeface="Calibri"/>
              <a:cs typeface="Calibri"/>
              <a:sym typeface="Calibri"/>
            </a:endParaRPr>
          </a:p>
        </p:txBody>
      </p:sp>
      <p:sp>
        <p:nvSpPr>
          <p:cNvPr id="479" name="Google Shape;479;p26"/>
          <p:cNvSpPr/>
          <p:nvPr/>
        </p:nvSpPr>
        <p:spPr>
          <a:xfrm>
            <a:off x="8778240" y="4453128"/>
            <a:ext cx="2606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150"/>
              <a:buFont typeface="Calibri"/>
              <a:buNone/>
            </a:pPr>
            <a:r>
              <a:rPr b="1" i="0" lang="en-US" sz="1150" u="none" cap="none" strike="noStrike">
                <a:solidFill>
                  <a:srgbClr val="0F2A5E"/>
                </a:solidFill>
                <a:latin typeface="Calibri"/>
                <a:ea typeface="Calibri"/>
                <a:cs typeface="Calibri"/>
                <a:sym typeface="Calibri"/>
              </a:rPr>
              <a:t>True Positives</a:t>
            </a:r>
            <a:endParaRPr b="0" i="0" sz="1150" u="none" cap="none" strike="noStrike">
              <a:solidFill>
                <a:schemeClr val="dk1"/>
              </a:solidFill>
              <a:latin typeface="Calibri"/>
              <a:ea typeface="Calibri"/>
              <a:cs typeface="Calibri"/>
              <a:sym typeface="Calibri"/>
            </a:endParaRPr>
          </a:p>
        </p:txBody>
      </p:sp>
      <p:sp>
        <p:nvSpPr>
          <p:cNvPr id="480" name="Google Shape;480;p26"/>
          <p:cNvSpPr/>
          <p:nvPr/>
        </p:nvSpPr>
        <p:spPr>
          <a:xfrm>
            <a:off x="8778240" y="4782312"/>
            <a:ext cx="260604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00"/>
              <a:buFont typeface="Calibri"/>
              <a:buNone/>
            </a:pPr>
            <a:r>
              <a:rPr b="0" i="0" lang="en-US" sz="1000" u="none" cap="none" strike="noStrike">
                <a:solidFill>
                  <a:srgbClr val="5B6B82"/>
                </a:solidFill>
                <a:latin typeface="Calibri"/>
                <a:ea typeface="Calibri"/>
                <a:cs typeface="Calibri"/>
                <a:sym typeface="Calibri"/>
              </a:rPr>
              <a:t>Late orders correctly caught</a:t>
            </a:r>
            <a:endParaRPr b="0" i="0" sz="1000" u="none" cap="none" strike="noStrike">
              <a:solidFill>
                <a:schemeClr val="dk1"/>
              </a:solidFill>
              <a:latin typeface="Calibri"/>
              <a:ea typeface="Calibri"/>
              <a:cs typeface="Calibri"/>
              <a:sym typeface="Calibri"/>
            </a:endParaRPr>
          </a:p>
        </p:txBody>
      </p:sp>
      <p:sp>
        <p:nvSpPr>
          <p:cNvPr id="481" name="Google Shape;481;p26"/>
          <p:cNvSpPr/>
          <p:nvPr/>
        </p:nvSpPr>
        <p:spPr>
          <a:xfrm>
            <a:off x="5394960" y="5623560"/>
            <a:ext cx="62636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50"/>
              <a:buFont typeface="Calibri"/>
              <a:buNone/>
            </a:pPr>
            <a:r>
              <a:rPr b="0" i="1" lang="en-US" sz="1150" u="none" cap="none" strike="noStrike">
                <a:solidFill>
                  <a:srgbClr val="1B2430"/>
                </a:solidFill>
                <a:latin typeface="Calibri"/>
                <a:ea typeface="Calibri"/>
                <a:cs typeface="Calibri"/>
                <a:sym typeface="Calibri"/>
              </a:rPr>
              <a:t>On the test set: ~83.7% accuracy, 19.4% precision, 48.5% recall, 27.7% F1. Focus for the business: the 751 False Negatives are late deliveries the model didn't flag in advance.</a:t>
            </a:r>
            <a:endParaRPr b="0" i="0" sz="1150" u="none" cap="none" strike="noStrike">
              <a:solidFill>
                <a:schemeClr val="dk1"/>
              </a:solidFill>
              <a:latin typeface="Calibri"/>
              <a:ea typeface="Calibri"/>
              <a:cs typeface="Calibri"/>
              <a:sym typeface="Calibri"/>
            </a:endParaRPr>
          </a:p>
        </p:txBody>
      </p:sp>
      <p:sp>
        <p:nvSpPr>
          <p:cNvPr id="482" name="Google Shape;482;p26"/>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Confusion Matrix</a:t>
            </a:r>
            <a:endParaRPr b="0" i="0" sz="900" u="none" cap="none" strike="noStrike">
              <a:solidFill>
                <a:schemeClr val="dk1"/>
              </a:solidFill>
              <a:latin typeface="Calibri"/>
              <a:ea typeface="Calibri"/>
              <a:cs typeface="Calibri"/>
              <a:sym typeface="Calibri"/>
            </a:endParaRPr>
          </a:p>
        </p:txBody>
      </p:sp>
      <p:sp>
        <p:nvSpPr>
          <p:cNvPr id="483" name="Google Shape;483;p26"/>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7"/>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7"/>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491" name="Google Shape;491;p27"/>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SELECTED MODEL · HELD-OUT TEST SET</a:t>
            </a:r>
            <a:endParaRPr b="0" i="0" sz="1200" u="none" cap="none" strike="noStrike">
              <a:solidFill>
                <a:schemeClr val="dk1"/>
              </a:solidFill>
              <a:latin typeface="Calibri"/>
              <a:ea typeface="Calibri"/>
              <a:cs typeface="Calibri"/>
              <a:sym typeface="Calibri"/>
            </a:endParaRPr>
          </a:p>
        </p:txBody>
      </p:sp>
      <p:sp>
        <p:nvSpPr>
          <p:cNvPr id="492" name="Google Shape;492;p27"/>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ROC Curve</a:t>
            </a:r>
            <a:endParaRPr b="0" i="0" sz="3000" u="none" cap="none" strike="noStrike">
              <a:solidFill>
                <a:schemeClr val="dk1"/>
              </a:solidFill>
              <a:latin typeface="Calibri"/>
              <a:ea typeface="Calibri"/>
              <a:cs typeface="Calibri"/>
              <a:sym typeface="Calibri"/>
            </a:endParaRPr>
          </a:p>
        </p:txBody>
      </p:sp>
      <p:pic>
        <p:nvPicPr>
          <p:cNvPr descr="/home/claude/assets/02_ROC_Curve.png" id="493" name="Google Shape;493;p27"/>
          <p:cNvPicPr preferRelativeResize="0"/>
          <p:nvPr/>
        </p:nvPicPr>
        <p:blipFill rotWithShape="1">
          <a:blip r:embed="rId3">
            <a:alphaModFix/>
          </a:blip>
          <a:srcRect b="0" l="0" r="0" t="0"/>
          <a:stretch/>
        </p:blipFill>
        <p:spPr>
          <a:xfrm>
            <a:off x="3657600" y="1600200"/>
            <a:ext cx="6126480" cy="4480560"/>
          </a:xfrm>
          <a:prstGeom prst="rect">
            <a:avLst/>
          </a:prstGeom>
          <a:noFill/>
          <a:ln>
            <a:noFill/>
          </a:ln>
        </p:spPr>
      </p:pic>
      <p:sp>
        <p:nvSpPr>
          <p:cNvPr id="494" name="Google Shape;494;p27"/>
          <p:cNvSpPr/>
          <p:nvPr/>
        </p:nvSpPr>
        <p:spPr>
          <a:xfrm>
            <a:off x="502920" y="2377440"/>
            <a:ext cx="26517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461C0"/>
              </a:buClr>
              <a:buSzPts val="3000"/>
              <a:buFont typeface="Cambria"/>
              <a:buNone/>
            </a:pPr>
            <a:r>
              <a:rPr b="1" i="0" lang="en-US" sz="3000" u="none" cap="none" strike="noStrike">
                <a:solidFill>
                  <a:srgbClr val="2461C0"/>
                </a:solidFill>
                <a:latin typeface="Cambria"/>
                <a:ea typeface="Cambria"/>
                <a:cs typeface="Cambria"/>
                <a:sym typeface="Cambria"/>
              </a:rPr>
              <a:t>0.750</a:t>
            </a:r>
            <a:endParaRPr b="0" i="0" sz="3000" u="none" cap="none" strike="noStrike">
              <a:solidFill>
                <a:schemeClr val="dk1"/>
              </a:solidFill>
              <a:latin typeface="Calibri"/>
              <a:ea typeface="Calibri"/>
              <a:cs typeface="Calibri"/>
              <a:sym typeface="Calibri"/>
            </a:endParaRPr>
          </a:p>
        </p:txBody>
      </p:sp>
      <p:sp>
        <p:nvSpPr>
          <p:cNvPr id="495" name="Google Shape;495;p27"/>
          <p:cNvSpPr/>
          <p:nvPr/>
        </p:nvSpPr>
        <p:spPr>
          <a:xfrm>
            <a:off x="502920" y="2944368"/>
            <a:ext cx="2651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82"/>
              </a:buClr>
              <a:buSzPts val="1050"/>
              <a:buFont typeface="Calibri"/>
              <a:buNone/>
            </a:pPr>
            <a:r>
              <a:rPr b="0" i="0" lang="en-US" sz="1050" u="none" cap="none" strike="noStrike">
                <a:solidFill>
                  <a:srgbClr val="5B6B82"/>
                </a:solidFill>
                <a:latin typeface="Calibri"/>
                <a:ea typeface="Calibri"/>
                <a:cs typeface="Calibri"/>
                <a:sym typeface="Calibri"/>
              </a:rPr>
              <a:t>ROC-AUC score</a:t>
            </a:r>
            <a:endParaRPr b="0" i="0" sz="1050" u="none" cap="none" strike="noStrike">
              <a:solidFill>
                <a:schemeClr val="dk1"/>
              </a:solidFill>
              <a:latin typeface="Calibri"/>
              <a:ea typeface="Calibri"/>
              <a:cs typeface="Calibri"/>
              <a:sym typeface="Calibri"/>
            </a:endParaRPr>
          </a:p>
        </p:txBody>
      </p:sp>
      <p:cxnSp>
        <p:nvCxnSpPr>
          <p:cNvPr id="496" name="Google Shape;496;p27"/>
          <p:cNvCxnSpPr/>
          <p:nvPr/>
        </p:nvCxnSpPr>
        <p:spPr>
          <a:xfrm>
            <a:off x="822960" y="3108960"/>
            <a:ext cx="2011680" cy="0"/>
          </a:xfrm>
          <a:prstGeom prst="straightConnector1">
            <a:avLst/>
          </a:prstGeom>
          <a:noFill/>
          <a:ln cap="flat" cmpd="sng" w="12700">
            <a:solidFill>
              <a:srgbClr val="D7E3F6"/>
            </a:solidFill>
            <a:prstDash val="solid"/>
            <a:round/>
            <a:headEnd len="sm" w="sm" type="none"/>
            <a:tailEnd len="sm" w="sm" type="none"/>
          </a:ln>
        </p:spPr>
      </p:cxnSp>
      <p:sp>
        <p:nvSpPr>
          <p:cNvPr id="497" name="Google Shape;497;p27"/>
          <p:cNvSpPr/>
          <p:nvPr/>
        </p:nvSpPr>
        <p:spPr>
          <a:xfrm>
            <a:off x="502920" y="3383280"/>
            <a:ext cx="3017520" cy="2743200"/>
          </a:xfrm>
          <a:prstGeom prst="rect">
            <a:avLst/>
          </a:prstGeom>
          <a:noFill/>
          <a:ln>
            <a:noFill/>
          </a:ln>
        </p:spPr>
        <p:txBody>
          <a:bodyPr anchorCtr="0" anchor="t" bIns="45700" lIns="91425" spcFirstLastPara="1" rIns="91425" wrap="square" tIns="45700">
            <a:noAutofit/>
          </a:bodyPr>
          <a:lstStyle/>
          <a:p>
            <a:pPr indent="-228600" lvl="0" marL="228600" marR="0" rtl="0" algn="l">
              <a:spcBef>
                <a:spcPts val="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Well above the 0.5 random-classifier baseline (dashed line), showing real ability to separate late from on-time orders.</a:t>
            </a:r>
            <a:endParaRPr b="0" i="0" sz="1250" u="none" cap="none" strike="noStrike">
              <a:solidFill>
                <a:schemeClr val="dk1"/>
              </a:solidFill>
              <a:latin typeface="Calibri"/>
              <a:ea typeface="Calibri"/>
              <a:cs typeface="Calibri"/>
              <a:sym typeface="Calibri"/>
            </a:endParaRPr>
          </a:p>
          <a:p>
            <a:pPr indent="-228600" lvl="0" marL="228600" marR="0" rtl="0" algn="l">
              <a:spcBef>
                <a:spcPts val="1400"/>
              </a:spcBef>
              <a:spcAft>
                <a:spcPts val="0"/>
              </a:spcAft>
              <a:buClr>
                <a:srgbClr val="1B2430"/>
              </a:buClr>
              <a:buSzPts val="1250"/>
              <a:buFont typeface="Calibri"/>
              <a:buChar char="▪"/>
            </a:pPr>
            <a:r>
              <a:rPr b="0" i="0" lang="en-US" sz="1250" u="none" cap="none" strike="noStrike">
                <a:solidFill>
                  <a:srgbClr val="1B2430"/>
                </a:solidFill>
                <a:latin typeface="Calibri"/>
                <a:ea typeface="Calibri"/>
                <a:cs typeface="Calibri"/>
                <a:sym typeface="Calibri"/>
              </a:rPr>
              <a:t>The curve rises steeply at low false-positive rates — the model ranks many true late orders highly with few false alarms.</a:t>
            </a:r>
            <a:endParaRPr b="0" i="0" sz="1250" u="none" cap="none" strike="noStrike">
              <a:solidFill>
                <a:schemeClr val="dk1"/>
              </a:solidFill>
              <a:latin typeface="Calibri"/>
              <a:ea typeface="Calibri"/>
              <a:cs typeface="Calibri"/>
              <a:sym typeface="Calibri"/>
            </a:endParaRPr>
          </a:p>
        </p:txBody>
      </p:sp>
      <p:sp>
        <p:nvSpPr>
          <p:cNvPr id="498" name="Google Shape;498;p27"/>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ROC Curve</a:t>
            </a:r>
            <a:endParaRPr b="0" i="0" sz="900" u="none" cap="none" strike="noStrike">
              <a:solidFill>
                <a:schemeClr val="dk1"/>
              </a:solidFill>
              <a:latin typeface="Calibri"/>
              <a:ea typeface="Calibri"/>
              <a:cs typeface="Calibri"/>
              <a:sym typeface="Calibri"/>
            </a:endParaRPr>
          </a:p>
        </p:txBody>
      </p:sp>
      <p:sp>
        <p:nvSpPr>
          <p:cNvPr id="499" name="Google Shape;499;p27"/>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8"/>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8"/>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a:t>
            </a:r>
            <a:r>
              <a:rPr b="1" lang="en-US" sz="1000">
                <a:solidFill>
                  <a:srgbClr val="0F2A5E"/>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507" name="Google Shape;507;p28"/>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WHAT DRIVES THE PREDICTION</a:t>
            </a:r>
            <a:endParaRPr b="0" i="0" sz="1200" u="none" cap="none" strike="noStrike">
              <a:solidFill>
                <a:schemeClr val="dk1"/>
              </a:solidFill>
              <a:latin typeface="Calibri"/>
              <a:ea typeface="Calibri"/>
              <a:cs typeface="Calibri"/>
              <a:sym typeface="Calibri"/>
            </a:endParaRPr>
          </a:p>
        </p:txBody>
      </p:sp>
      <p:sp>
        <p:nvSpPr>
          <p:cNvPr id="508" name="Google Shape;508;p28"/>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Feature Importance</a:t>
            </a:r>
            <a:endParaRPr b="0" i="0" sz="3000" u="none" cap="none" strike="noStrike">
              <a:solidFill>
                <a:schemeClr val="dk1"/>
              </a:solidFill>
              <a:latin typeface="Calibri"/>
              <a:ea typeface="Calibri"/>
              <a:cs typeface="Calibri"/>
              <a:sym typeface="Calibri"/>
            </a:endParaRPr>
          </a:p>
        </p:txBody>
      </p:sp>
      <p:pic>
        <p:nvPicPr>
          <p:cNvPr descr="/home/claude/assets/03_Top_15_Feature_Importances.png" id="509" name="Google Shape;509;p28"/>
          <p:cNvPicPr preferRelativeResize="0"/>
          <p:nvPr/>
        </p:nvPicPr>
        <p:blipFill rotWithShape="1">
          <a:blip r:embed="rId3">
            <a:alphaModFix/>
          </a:blip>
          <a:srcRect b="0" l="0" r="0" t="0"/>
          <a:stretch/>
        </p:blipFill>
        <p:spPr>
          <a:xfrm>
            <a:off x="502920" y="1737360"/>
            <a:ext cx="7315200" cy="4572000"/>
          </a:xfrm>
          <a:prstGeom prst="rect">
            <a:avLst/>
          </a:prstGeom>
          <a:noFill/>
          <a:ln>
            <a:noFill/>
          </a:ln>
        </p:spPr>
      </p:pic>
      <p:sp>
        <p:nvSpPr>
          <p:cNvPr id="510" name="Google Shape;510;p28"/>
          <p:cNvSpPr/>
          <p:nvPr/>
        </p:nvSpPr>
        <p:spPr>
          <a:xfrm>
            <a:off x="8046720" y="1783080"/>
            <a:ext cx="3611880" cy="4480560"/>
          </a:xfrm>
          <a:prstGeom prst="roundRect">
            <a:avLst>
              <a:gd fmla="val 2532"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8"/>
          <p:cNvSpPr/>
          <p:nvPr/>
        </p:nvSpPr>
        <p:spPr>
          <a:xfrm>
            <a:off x="8275320" y="192024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500"/>
              <a:buFont typeface="Cambria"/>
              <a:buNone/>
            </a:pPr>
            <a:r>
              <a:rPr b="1" i="0" lang="en-US" sz="1500" u="none" cap="none" strike="noStrike">
                <a:solidFill>
                  <a:srgbClr val="0F2A5E"/>
                </a:solidFill>
                <a:latin typeface="Cambria"/>
                <a:ea typeface="Cambria"/>
                <a:cs typeface="Cambria"/>
                <a:sym typeface="Cambria"/>
              </a:rPr>
              <a:t>Top drivers</a:t>
            </a:r>
            <a:endParaRPr b="0" i="0" sz="1500" u="none" cap="none" strike="noStrike">
              <a:solidFill>
                <a:schemeClr val="dk1"/>
              </a:solidFill>
              <a:latin typeface="Calibri"/>
              <a:ea typeface="Calibri"/>
              <a:cs typeface="Calibri"/>
              <a:sym typeface="Calibri"/>
            </a:endParaRPr>
          </a:p>
        </p:txBody>
      </p:sp>
      <p:sp>
        <p:nvSpPr>
          <p:cNvPr id="512" name="Google Shape;512;p28"/>
          <p:cNvSpPr/>
          <p:nvPr/>
        </p:nvSpPr>
        <p:spPr>
          <a:xfrm>
            <a:off x="8275320" y="2423160"/>
            <a:ext cx="228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expected_days</a:t>
            </a:r>
            <a:endParaRPr b="0" i="0" sz="1250" u="none" cap="none" strike="noStrike">
              <a:solidFill>
                <a:schemeClr val="dk1"/>
              </a:solidFill>
              <a:latin typeface="Calibri"/>
              <a:ea typeface="Calibri"/>
              <a:cs typeface="Calibri"/>
              <a:sym typeface="Calibri"/>
            </a:endParaRPr>
          </a:p>
        </p:txBody>
      </p:sp>
      <p:sp>
        <p:nvSpPr>
          <p:cNvPr id="513" name="Google Shape;513;p28"/>
          <p:cNvSpPr/>
          <p:nvPr/>
        </p:nvSpPr>
        <p:spPr>
          <a:xfrm>
            <a:off x="10424160" y="2423160"/>
            <a:ext cx="105156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0.208</a:t>
            </a:r>
            <a:endParaRPr b="0" i="0" sz="1250" u="none" cap="none" strike="noStrike">
              <a:solidFill>
                <a:schemeClr val="dk1"/>
              </a:solidFill>
              <a:latin typeface="Calibri"/>
              <a:ea typeface="Calibri"/>
              <a:cs typeface="Calibri"/>
              <a:sym typeface="Calibri"/>
            </a:endParaRPr>
          </a:p>
        </p:txBody>
      </p:sp>
      <p:sp>
        <p:nvSpPr>
          <p:cNvPr id="514" name="Google Shape;514;p28"/>
          <p:cNvSpPr/>
          <p:nvPr/>
        </p:nvSpPr>
        <p:spPr>
          <a:xfrm>
            <a:off x="8275320" y="2990088"/>
            <a:ext cx="228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order_month</a:t>
            </a:r>
            <a:endParaRPr b="0" i="0" sz="1250" u="none" cap="none" strike="noStrike">
              <a:solidFill>
                <a:schemeClr val="dk1"/>
              </a:solidFill>
              <a:latin typeface="Calibri"/>
              <a:ea typeface="Calibri"/>
              <a:cs typeface="Calibri"/>
              <a:sym typeface="Calibri"/>
            </a:endParaRPr>
          </a:p>
        </p:txBody>
      </p:sp>
      <p:sp>
        <p:nvSpPr>
          <p:cNvPr id="515" name="Google Shape;515;p28"/>
          <p:cNvSpPr/>
          <p:nvPr/>
        </p:nvSpPr>
        <p:spPr>
          <a:xfrm>
            <a:off x="10424160" y="2990088"/>
            <a:ext cx="105156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0.205</a:t>
            </a:r>
            <a:endParaRPr b="0" i="0" sz="1250" u="none" cap="none" strike="noStrike">
              <a:solidFill>
                <a:schemeClr val="dk1"/>
              </a:solidFill>
              <a:latin typeface="Calibri"/>
              <a:ea typeface="Calibri"/>
              <a:cs typeface="Calibri"/>
              <a:sym typeface="Calibri"/>
            </a:endParaRPr>
          </a:p>
        </p:txBody>
      </p:sp>
      <p:sp>
        <p:nvSpPr>
          <p:cNvPr id="516" name="Google Shape;516;p28"/>
          <p:cNvSpPr/>
          <p:nvPr/>
        </p:nvSpPr>
        <p:spPr>
          <a:xfrm>
            <a:off x="8275320" y="3557016"/>
            <a:ext cx="228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area</a:t>
            </a:r>
            <a:endParaRPr b="0" i="0" sz="1250" u="none" cap="none" strike="noStrike">
              <a:solidFill>
                <a:schemeClr val="dk1"/>
              </a:solidFill>
              <a:latin typeface="Calibri"/>
              <a:ea typeface="Calibri"/>
              <a:cs typeface="Calibri"/>
              <a:sym typeface="Calibri"/>
            </a:endParaRPr>
          </a:p>
        </p:txBody>
      </p:sp>
      <p:sp>
        <p:nvSpPr>
          <p:cNvPr id="517" name="Google Shape;517;p28"/>
          <p:cNvSpPr/>
          <p:nvPr/>
        </p:nvSpPr>
        <p:spPr>
          <a:xfrm>
            <a:off x="10424160" y="3557016"/>
            <a:ext cx="105156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0.191</a:t>
            </a:r>
            <a:endParaRPr b="0" i="0" sz="1250" u="none" cap="none" strike="noStrike">
              <a:solidFill>
                <a:schemeClr val="dk1"/>
              </a:solidFill>
              <a:latin typeface="Calibri"/>
              <a:ea typeface="Calibri"/>
              <a:cs typeface="Calibri"/>
              <a:sym typeface="Calibri"/>
            </a:endParaRPr>
          </a:p>
        </p:txBody>
      </p:sp>
      <p:sp>
        <p:nvSpPr>
          <p:cNvPr id="518" name="Google Shape;518;p28"/>
          <p:cNvSpPr/>
          <p:nvPr/>
        </p:nvSpPr>
        <p:spPr>
          <a:xfrm>
            <a:off x="8275320" y="4123944"/>
            <a:ext cx="228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category</a:t>
            </a:r>
            <a:endParaRPr b="0" i="0" sz="1250" u="none" cap="none" strike="noStrike">
              <a:solidFill>
                <a:schemeClr val="dk1"/>
              </a:solidFill>
              <a:latin typeface="Calibri"/>
              <a:ea typeface="Calibri"/>
              <a:cs typeface="Calibri"/>
              <a:sym typeface="Calibri"/>
            </a:endParaRPr>
          </a:p>
        </p:txBody>
      </p:sp>
      <p:sp>
        <p:nvSpPr>
          <p:cNvPr id="519" name="Google Shape;519;p28"/>
          <p:cNvSpPr/>
          <p:nvPr/>
        </p:nvSpPr>
        <p:spPr>
          <a:xfrm>
            <a:off x="10424160" y="4123944"/>
            <a:ext cx="105156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0.143</a:t>
            </a:r>
            <a:endParaRPr b="0" i="0" sz="1250" u="none" cap="none" strike="noStrike">
              <a:solidFill>
                <a:schemeClr val="dk1"/>
              </a:solidFill>
              <a:latin typeface="Calibri"/>
              <a:ea typeface="Calibri"/>
              <a:cs typeface="Calibri"/>
              <a:sym typeface="Calibri"/>
            </a:endParaRPr>
          </a:p>
        </p:txBody>
      </p:sp>
      <p:sp>
        <p:nvSpPr>
          <p:cNvPr id="520" name="Google Shape;520;p28"/>
          <p:cNvSpPr/>
          <p:nvPr/>
        </p:nvSpPr>
        <p:spPr>
          <a:xfrm>
            <a:off x="8275320" y="4690872"/>
            <a:ext cx="228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order_hour</a:t>
            </a:r>
            <a:endParaRPr b="0" i="0" sz="1250" u="none" cap="none" strike="noStrike">
              <a:solidFill>
                <a:schemeClr val="dk1"/>
              </a:solidFill>
              <a:latin typeface="Calibri"/>
              <a:ea typeface="Calibri"/>
              <a:cs typeface="Calibri"/>
              <a:sym typeface="Calibri"/>
            </a:endParaRPr>
          </a:p>
        </p:txBody>
      </p:sp>
      <p:sp>
        <p:nvSpPr>
          <p:cNvPr id="521" name="Google Shape;521;p28"/>
          <p:cNvSpPr/>
          <p:nvPr/>
        </p:nvSpPr>
        <p:spPr>
          <a:xfrm>
            <a:off x="10424160" y="4690872"/>
            <a:ext cx="105156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461C0"/>
              </a:buClr>
              <a:buSzPts val="1250"/>
              <a:buFont typeface="Calibri"/>
              <a:buNone/>
            </a:pPr>
            <a:r>
              <a:rPr b="1" i="0" lang="en-US" sz="1250" u="none" cap="none" strike="noStrike">
                <a:solidFill>
                  <a:srgbClr val="2461C0"/>
                </a:solidFill>
                <a:latin typeface="Calibri"/>
                <a:ea typeface="Calibri"/>
                <a:cs typeface="Calibri"/>
                <a:sym typeface="Calibri"/>
              </a:rPr>
              <a:t>0.126</a:t>
            </a:r>
            <a:endParaRPr b="0" i="0" sz="1250" u="none" cap="none" strike="noStrike">
              <a:solidFill>
                <a:schemeClr val="dk1"/>
              </a:solidFill>
              <a:latin typeface="Calibri"/>
              <a:ea typeface="Calibri"/>
              <a:cs typeface="Calibri"/>
              <a:sym typeface="Calibri"/>
            </a:endParaRPr>
          </a:p>
        </p:txBody>
      </p:sp>
      <p:sp>
        <p:nvSpPr>
          <p:cNvPr id="522" name="Google Shape;522;p28"/>
          <p:cNvSpPr/>
          <p:nvPr/>
        </p:nvSpPr>
        <p:spPr>
          <a:xfrm>
            <a:off x="8275320" y="5349240"/>
            <a:ext cx="3200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1050"/>
              <a:buFont typeface="Calibri"/>
              <a:buNone/>
            </a:pPr>
            <a:r>
              <a:rPr b="0" i="1" lang="en-US" sz="1050" u="none" cap="none" strike="noStrike">
                <a:solidFill>
                  <a:srgbClr val="5B6B82"/>
                </a:solidFill>
                <a:latin typeface="Calibri"/>
                <a:ea typeface="Calibri"/>
                <a:cs typeface="Calibri"/>
                <a:sym typeface="Calibri"/>
              </a:rPr>
              <a:t>These 5 features account for the large majority of the model's importance; courier, weather, and season features each contribute a smaller, more even share.</a:t>
            </a:r>
            <a:endParaRPr b="0" i="0" sz="1050" u="none" cap="none" strike="noStrike">
              <a:solidFill>
                <a:schemeClr val="dk1"/>
              </a:solidFill>
              <a:latin typeface="Calibri"/>
              <a:ea typeface="Calibri"/>
              <a:cs typeface="Calibri"/>
              <a:sym typeface="Calibri"/>
            </a:endParaRPr>
          </a:p>
        </p:txBody>
      </p:sp>
      <p:sp>
        <p:nvSpPr>
          <p:cNvPr id="523" name="Google Shape;523;p28"/>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Feature Importance</a:t>
            </a:r>
            <a:endParaRPr b="0" i="0" sz="900" u="none" cap="none" strike="noStrike">
              <a:solidFill>
                <a:schemeClr val="dk1"/>
              </a:solidFill>
              <a:latin typeface="Calibri"/>
              <a:ea typeface="Calibri"/>
              <a:cs typeface="Calibri"/>
              <a:sym typeface="Calibri"/>
            </a:endParaRPr>
          </a:p>
        </p:txBody>
      </p:sp>
      <p:sp>
        <p:nvSpPr>
          <p:cNvPr id="524" name="Google Shape;524;p28"/>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9"/>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9"/>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5</a:t>
            </a:r>
            <a:endParaRPr b="0" i="0" sz="1000" u="none" cap="none" strike="noStrike">
              <a:solidFill>
                <a:schemeClr val="dk1"/>
              </a:solidFill>
              <a:latin typeface="Calibri"/>
              <a:ea typeface="Calibri"/>
              <a:cs typeface="Calibri"/>
              <a:sym typeface="Calibri"/>
            </a:endParaRPr>
          </a:p>
        </p:txBody>
      </p:sp>
      <p:sp>
        <p:nvSpPr>
          <p:cNvPr id="532" name="Google Shape;532;p29"/>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FROM MODEL TO DECISIONS</a:t>
            </a:r>
            <a:endParaRPr b="0" i="0" sz="1200" u="none" cap="none" strike="noStrike">
              <a:solidFill>
                <a:schemeClr val="dk1"/>
              </a:solidFill>
              <a:latin typeface="Calibri"/>
              <a:ea typeface="Calibri"/>
              <a:cs typeface="Calibri"/>
              <a:sym typeface="Calibri"/>
            </a:endParaRPr>
          </a:p>
        </p:txBody>
      </p:sp>
      <p:sp>
        <p:nvSpPr>
          <p:cNvPr id="533" name="Google Shape;533;p29"/>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Business Insights &amp; Recommendations</a:t>
            </a:r>
            <a:endParaRPr b="0" i="0" sz="3000" u="none" cap="none" strike="noStrike">
              <a:solidFill>
                <a:schemeClr val="dk1"/>
              </a:solidFill>
              <a:latin typeface="Calibri"/>
              <a:ea typeface="Calibri"/>
              <a:cs typeface="Calibri"/>
              <a:sym typeface="Calibri"/>
            </a:endParaRPr>
          </a:p>
        </p:txBody>
      </p:sp>
      <p:sp>
        <p:nvSpPr>
          <p:cNvPr id="534" name="Google Shape;534;p29"/>
          <p:cNvSpPr/>
          <p:nvPr/>
        </p:nvSpPr>
        <p:spPr>
          <a:xfrm>
            <a:off x="502920"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9"/>
          <p:cNvSpPr/>
          <p:nvPr/>
        </p:nvSpPr>
        <p:spPr>
          <a:xfrm>
            <a:off x="502920"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9"/>
          <p:cNvSpPr/>
          <p:nvPr/>
        </p:nvSpPr>
        <p:spPr>
          <a:xfrm>
            <a:off x="731520"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9"/>
          <p:cNvSpPr/>
          <p:nvPr/>
        </p:nvSpPr>
        <p:spPr>
          <a:xfrm>
            <a:off x="731520"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38" name="Google Shape;538;p29"/>
          <p:cNvSpPr/>
          <p:nvPr/>
        </p:nvSpPr>
        <p:spPr>
          <a:xfrm>
            <a:off x="1280160"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Early Delay Detection</a:t>
            </a:r>
            <a:endParaRPr b="0" i="0" sz="1450" u="none" cap="none" strike="noStrike">
              <a:solidFill>
                <a:schemeClr val="dk1"/>
              </a:solidFill>
              <a:latin typeface="Calibri"/>
              <a:ea typeface="Calibri"/>
              <a:cs typeface="Calibri"/>
              <a:sym typeface="Calibri"/>
            </a:endParaRPr>
          </a:p>
        </p:txBody>
      </p:sp>
      <p:sp>
        <p:nvSpPr>
          <p:cNvPr id="539" name="Google Shape;539;p29"/>
          <p:cNvSpPr/>
          <p:nvPr/>
        </p:nvSpPr>
        <p:spPr>
          <a:xfrm>
            <a:off x="758952"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540" name="Google Shape;540;p29"/>
          <p:cNvSpPr/>
          <p:nvPr/>
        </p:nvSpPr>
        <p:spPr>
          <a:xfrm>
            <a:off x="758952"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The model predicts whether an order is likely to be delivered late.</a:t>
            </a:r>
            <a:endParaRPr b="0" i="0" sz="1200" u="none" cap="none" strike="noStrike">
              <a:solidFill>
                <a:schemeClr val="dk1"/>
              </a:solidFill>
              <a:latin typeface="Calibri"/>
              <a:ea typeface="Calibri"/>
              <a:cs typeface="Calibri"/>
              <a:sym typeface="Calibri"/>
            </a:endParaRPr>
          </a:p>
        </p:txBody>
      </p:sp>
      <p:cxnSp>
        <p:nvCxnSpPr>
          <p:cNvPr id="541" name="Google Shape;541;p29"/>
          <p:cNvCxnSpPr/>
          <p:nvPr/>
        </p:nvCxnSpPr>
        <p:spPr>
          <a:xfrm>
            <a:off x="758952"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542" name="Google Shape;542;p29"/>
          <p:cNvSpPr/>
          <p:nvPr/>
        </p:nvSpPr>
        <p:spPr>
          <a:xfrm>
            <a:off x="758952"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543" name="Google Shape;543;p29"/>
          <p:cNvSpPr/>
          <p:nvPr/>
        </p:nvSpPr>
        <p:spPr>
          <a:xfrm>
            <a:off x="758952"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Use predictions to identify potentially delayed orders early.</a:t>
            </a:r>
            <a:endParaRPr b="0" i="0" sz="1200" u="none" cap="none" strike="noStrike">
              <a:solidFill>
                <a:schemeClr val="dk1"/>
              </a:solidFill>
              <a:latin typeface="Calibri"/>
              <a:ea typeface="Calibri"/>
              <a:cs typeface="Calibri"/>
              <a:sym typeface="Calibri"/>
            </a:endParaRPr>
          </a:p>
        </p:txBody>
      </p:sp>
      <p:sp>
        <p:nvSpPr>
          <p:cNvPr id="544" name="Google Shape;544;p29"/>
          <p:cNvSpPr/>
          <p:nvPr/>
        </p:nvSpPr>
        <p:spPr>
          <a:xfrm>
            <a:off x="4288536"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288536"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9"/>
          <p:cNvSpPr/>
          <p:nvPr/>
        </p:nvSpPr>
        <p:spPr>
          <a:xfrm>
            <a:off x="4517136"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9"/>
          <p:cNvSpPr/>
          <p:nvPr/>
        </p:nvSpPr>
        <p:spPr>
          <a:xfrm>
            <a:off x="4517136"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48" name="Google Shape;548;p29"/>
          <p:cNvSpPr/>
          <p:nvPr/>
        </p:nvSpPr>
        <p:spPr>
          <a:xfrm>
            <a:off x="5065776"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Expected Delivery Time</a:t>
            </a:r>
            <a:endParaRPr b="0" i="0" sz="1450" u="none" cap="none" strike="noStrike">
              <a:solidFill>
                <a:schemeClr val="dk1"/>
              </a:solidFill>
              <a:latin typeface="Calibri"/>
              <a:ea typeface="Calibri"/>
              <a:cs typeface="Calibri"/>
              <a:sym typeface="Calibri"/>
            </a:endParaRPr>
          </a:p>
        </p:txBody>
      </p:sp>
      <p:sp>
        <p:nvSpPr>
          <p:cNvPr id="549" name="Google Shape;549;p29"/>
          <p:cNvSpPr/>
          <p:nvPr/>
        </p:nvSpPr>
        <p:spPr>
          <a:xfrm>
            <a:off x="4544568"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550" name="Google Shape;550;p29"/>
          <p:cNvSpPr/>
          <p:nvPr/>
        </p:nvSpPr>
        <p:spPr>
          <a:xfrm>
            <a:off x="4544568"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Expected Days is the most important feature, with </a:t>
            </a:r>
            <a:r>
              <a:rPr b="1" i="0" lang="en-US" sz="1300" u="none" cap="none" strike="noStrike">
                <a:solidFill>
                  <a:srgbClr val="2461C0"/>
                </a:solidFill>
                <a:latin typeface="Calibri"/>
                <a:ea typeface="Calibri"/>
                <a:cs typeface="Calibri"/>
                <a:sym typeface="Calibri"/>
              </a:rPr>
              <a:t>20.8%</a:t>
            </a:r>
            <a:r>
              <a:rPr b="0" i="0" lang="en-US" sz="1200" u="none" cap="none" strike="noStrike">
                <a:solidFill>
                  <a:srgbClr val="1B2430"/>
                </a:solidFill>
                <a:latin typeface="Calibri"/>
                <a:ea typeface="Calibri"/>
                <a:cs typeface="Calibri"/>
                <a:sym typeface="Calibri"/>
              </a:rPr>
              <a:t> importance.</a:t>
            </a:r>
            <a:endParaRPr b="0" i="0" sz="1200" u="none" cap="none" strike="noStrike">
              <a:solidFill>
                <a:schemeClr val="dk1"/>
              </a:solidFill>
              <a:latin typeface="Calibri"/>
              <a:ea typeface="Calibri"/>
              <a:cs typeface="Calibri"/>
              <a:sym typeface="Calibri"/>
            </a:endParaRPr>
          </a:p>
        </p:txBody>
      </p:sp>
      <p:cxnSp>
        <p:nvCxnSpPr>
          <p:cNvPr id="551" name="Google Shape;551;p29"/>
          <p:cNvCxnSpPr/>
          <p:nvPr/>
        </p:nvCxnSpPr>
        <p:spPr>
          <a:xfrm>
            <a:off x="4544568"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552" name="Google Shape;552;p29"/>
          <p:cNvSpPr/>
          <p:nvPr/>
        </p:nvSpPr>
        <p:spPr>
          <a:xfrm>
            <a:off x="4544568"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553" name="Google Shape;553;p29"/>
          <p:cNvSpPr/>
          <p:nvPr/>
        </p:nvSpPr>
        <p:spPr>
          <a:xfrm>
            <a:off x="4544568"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Improve estimated delivery times using historical delivery patterns.</a:t>
            </a:r>
            <a:endParaRPr b="0" i="0" sz="1200" u="none" cap="none" strike="noStrike">
              <a:solidFill>
                <a:schemeClr val="dk1"/>
              </a:solidFill>
              <a:latin typeface="Calibri"/>
              <a:ea typeface="Calibri"/>
              <a:cs typeface="Calibri"/>
              <a:sym typeface="Calibri"/>
            </a:endParaRPr>
          </a:p>
        </p:txBody>
      </p:sp>
      <p:sp>
        <p:nvSpPr>
          <p:cNvPr id="554" name="Google Shape;554;p29"/>
          <p:cNvSpPr/>
          <p:nvPr/>
        </p:nvSpPr>
        <p:spPr>
          <a:xfrm>
            <a:off x="8074152"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8074152"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8302752"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8302752"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58" name="Google Shape;558;p29"/>
          <p:cNvSpPr/>
          <p:nvPr/>
        </p:nvSpPr>
        <p:spPr>
          <a:xfrm>
            <a:off x="8851392"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Monthly Patterns</a:t>
            </a:r>
            <a:endParaRPr b="0" i="0" sz="1450" u="none" cap="none" strike="noStrike">
              <a:solidFill>
                <a:schemeClr val="dk1"/>
              </a:solidFill>
              <a:latin typeface="Calibri"/>
              <a:ea typeface="Calibri"/>
              <a:cs typeface="Calibri"/>
              <a:sym typeface="Calibri"/>
            </a:endParaRPr>
          </a:p>
        </p:txBody>
      </p:sp>
      <p:sp>
        <p:nvSpPr>
          <p:cNvPr id="559" name="Google Shape;559;p29"/>
          <p:cNvSpPr/>
          <p:nvPr/>
        </p:nvSpPr>
        <p:spPr>
          <a:xfrm>
            <a:off x="8330184"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560" name="Google Shape;560;p29"/>
          <p:cNvSpPr/>
          <p:nvPr/>
        </p:nvSpPr>
        <p:spPr>
          <a:xfrm>
            <a:off x="8330184"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Order Month is one of the strongest predictors, with </a:t>
            </a:r>
            <a:r>
              <a:rPr b="1" i="0" lang="en-US" sz="1300" u="none" cap="none" strike="noStrike">
                <a:solidFill>
                  <a:srgbClr val="2461C0"/>
                </a:solidFill>
                <a:latin typeface="Calibri"/>
                <a:ea typeface="Calibri"/>
                <a:cs typeface="Calibri"/>
                <a:sym typeface="Calibri"/>
              </a:rPr>
              <a:t>20.5%</a:t>
            </a:r>
            <a:r>
              <a:rPr b="0" i="0" lang="en-US" sz="1200" u="none" cap="none" strike="noStrike">
                <a:solidFill>
                  <a:srgbClr val="1B2430"/>
                </a:solidFill>
                <a:latin typeface="Calibri"/>
                <a:ea typeface="Calibri"/>
                <a:cs typeface="Calibri"/>
                <a:sym typeface="Calibri"/>
              </a:rPr>
              <a:t> importance.</a:t>
            </a:r>
            <a:endParaRPr b="0" i="0" sz="1200" u="none" cap="none" strike="noStrike">
              <a:solidFill>
                <a:schemeClr val="dk1"/>
              </a:solidFill>
              <a:latin typeface="Calibri"/>
              <a:ea typeface="Calibri"/>
              <a:cs typeface="Calibri"/>
              <a:sym typeface="Calibri"/>
            </a:endParaRPr>
          </a:p>
        </p:txBody>
      </p:sp>
      <p:cxnSp>
        <p:nvCxnSpPr>
          <p:cNvPr id="561" name="Google Shape;561;p29"/>
          <p:cNvCxnSpPr/>
          <p:nvPr/>
        </p:nvCxnSpPr>
        <p:spPr>
          <a:xfrm>
            <a:off x="8330184"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562" name="Google Shape;562;p29"/>
          <p:cNvSpPr/>
          <p:nvPr/>
        </p:nvSpPr>
        <p:spPr>
          <a:xfrm>
            <a:off x="8330184"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563" name="Google Shape;563;p29"/>
          <p:cNvSpPr/>
          <p:nvPr/>
        </p:nvSpPr>
        <p:spPr>
          <a:xfrm>
            <a:off x="8330184"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Prepare additional logistics capacity during higher-risk periods.</a:t>
            </a:r>
            <a:endParaRPr b="0" i="0" sz="1200" u="none" cap="none" strike="noStrike">
              <a:solidFill>
                <a:schemeClr val="dk1"/>
              </a:solidFill>
              <a:latin typeface="Calibri"/>
              <a:ea typeface="Calibri"/>
              <a:cs typeface="Calibri"/>
              <a:sym typeface="Calibri"/>
            </a:endParaRPr>
          </a:p>
        </p:txBody>
      </p:sp>
      <p:sp>
        <p:nvSpPr>
          <p:cNvPr id="564" name="Google Shape;564;p29"/>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Business Insights &amp; Recommendations</a:t>
            </a:r>
            <a:endParaRPr b="0" i="0" sz="900" u="none" cap="none" strike="noStrike">
              <a:solidFill>
                <a:schemeClr val="dk1"/>
              </a:solidFill>
              <a:latin typeface="Calibri"/>
              <a:ea typeface="Calibri"/>
              <a:cs typeface="Calibri"/>
              <a:sym typeface="Calibri"/>
            </a:endParaRPr>
          </a:p>
        </p:txBody>
      </p:sp>
      <p:sp>
        <p:nvSpPr>
          <p:cNvPr id="565" name="Google Shape;565;p29"/>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0"/>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0"/>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5</a:t>
            </a:r>
            <a:endParaRPr b="0" i="0" sz="1000" u="none" cap="none" strike="noStrike">
              <a:solidFill>
                <a:schemeClr val="dk1"/>
              </a:solidFill>
              <a:latin typeface="Calibri"/>
              <a:ea typeface="Calibri"/>
              <a:cs typeface="Calibri"/>
              <a:sym typeface="Calibri"/>
            </a:endParaRPr>
          </a:p>
        </p:txBody>
      </p:sp>
      <p:sp>
        <p:nvSpPr>
          <p:cNvPr id="573" name="Google Shape;573;p30"/>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FROM MODEL TO DECISIONS</a:t>
            </a:r>
            <a:endParaRPr b="0" i="0" sz="1200" u="none" cap="none" strike="noStrike">
              <a:solidFill>
                <a:schemeClr val="dk1"/>
              </a:solidFill>
              <a:latin typeface="Calibri"/>
              <a:ea typeface="Calibri"/>
              <a:cs typeface="Calibri"/>
              <a:sym typeface="Calibri"/>
            </a:endParaRPr>
          </a:p>
        </p:txBody>
      </p:sp>
      <p:sp>
        <p:nvSpPr>
          <p:cNvPr id="574" name="Google Shape;574;p30"/>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Business Insights &amp; Recommendations</a:t>
            </a:r>
            <a:endParaRPr b="0" i="0" sz="3000" u="none" cap="none" strike="noStrike">
              <a:solidFill>
                <a:schemeClr val="dk1"/>
              </a:solidFill>
              <a:latin typeface="Calibri"/>
              <a:ea typeface="Calibri"/>
              <a:cs typeface="Calibri"/>
              <a:sym typeface="Calibri"/>
            </a:endParaRPr>
          </a:p>
        </p:txBody>
      </p:sp>
      <p:sp>
        <p:nvSpPr>
          <p:cNvPr id="575" name="Google Shape;575;p30"/>
          <p:cNvSpPr/>
          <p:nvPr/>
        </p:nvSpPr>
        <p:spPr>
          <a:xfrm>
            <a:off x="502920"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0"/>
          <p:cNvSpPr/>
          <p:nvPr/>
        </p:nvSpPr>
        <p:spPr>
          <a:xfrm>
            <a:off x="502920"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p:nvPr/>
        </p:nvSpPr>
        <p:spPr>
          <a:xfrm>
            <a:off x="731520"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0"/>
          <p:cNvSpPr/>
          <p:nvPr/>
        </p:nvSpPr>
        <p:spPr>
          <a:xfrm>
            <a:off x="731520"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79" name="Google Shape;579;p30"/>
          <p:cNvSpPr/>
          <p:nvPr/>
        </p:nvSpPr>
        <p:spPr>
          <a:xfrm>
            <a:off x="1280160"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Geographic Risk</a:t>
            </a:r>
            <a:endParaRPr b="0" i="0" sz="1450" u="none" cap="none" strike="noStrike">
              <a:solidFill>
                <a:schemeClr val="dk1"/>
              </a:solidFill>
              <a:latin typeface="Calibri"/>
              <a:ea typeface="Calibri"/>
              <a:cs typeface="Calibri"/>
              <a:sym typeface="Calibri"/>
            </a:endParaRPr>
          </a:p>
        </p:txBody>
      </p:sp>
      <p:sp>
        <p:nvSpPr>
          <p:cNvPr id="580" name="Google Shape;580;p30"/>
          <p:cNvSpPr/>
          <p:nvPr/>
        </p:nvSpPr>
        <p:spPr>
          <a:xfrm>
            <a:off x="758952"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581" name="Google Shape;581;p30"/>
          <p:cNvSpPr/>
          <p:nvPr/>
        </p:nvSpPr>
        <p:spPr>
          <a:xfrm>
            <a:off x="758952"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Area has a strong influence on delay predictions, with </a:t>
            </a:r>
            <a:r>
              <a:rPr b="1" i="0" lang="en-US" sz="1300" u="none" cap="none" strike="noStrike">
                <a:solidFill>
                  <a:srgbClr val="2461C0"/>
                </a:solidFill>
                <a:latin typeface="Calibri"/>
                <a:ea typeface="Calibri"/>
                <a:cs typeface="Calibri"/>
                <a:sym typeface="Calibri"/>
              </a:rPr>
              <a:t>19.1%</a:t>
            </a:r>
            <a:r>
              <a:rPr b="0" i="0" lang="en-US" sz="1200" u="none" cap="none" strike="noStrike">
                <a:solidFill>
                  <a:srgbClr val="1B2430"/>
                </a:solidFill>
                <a:latin typeface="Calibri"/>
                <a:ea typeface="Calibri"/>
                <a:cs typeface="Calibri"/>
                <a:sym typeface="Calibri"/>
              </a:rPr>
              <a:t> importance.</a:t>
            </a:r>
            <a:endParaRPr b="0" i="0" sz="1200" u="none" cap="none" strike="noStrike">
              <a:solidFill>
                <a:schemeClr val="dk1"/>
              </a:solidFill>
              <a:latin typeface="Calibri"/>
              <a:ea typeface="Calibri"/>
              <a:cs typeface="Calibri"/>
              <a:sym typeface="Calibri"/>
            </a:endParaRPr>
          </a:p>
        </p:txBody>
      </p:sp>
      <p:cxnSp>
        <p:nvCxnSpPr>
          <p:cNvPr id="582" name="Google Shape;582;p30"/>
          <p:cNvCxnSpPr/>
          <p:nvPr/>
        </p:nvCxnSpPr>
        <p:spPr>
          <a:xfrm>
            <a:off x="758952"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583" name="Google Shape;583;p30"/>
          <p:cNvSpPr/>
          <p:nvPr/>
        </p:nvSpPr>
        <p:spPr>
          <a:xfrm>
            <a:off x="758952"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584" name="Google Shape;584;p30"/>
          <p:cNvSpPr/>
          <p:nvPr/>
        </p:nvSpPr>
        <p:spPr>
          <a:xfrm>
            <a:off x="758952"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Optimize delivery planning and resources across different areas.</a:t>
            </a:r>
            <a:endParaRPr b="0" i="0" sz="1200" u="none" cap="none" strike="noStrike">
              <a:solidFill>
                <a:schemeClr val="dk1"/>
              </a:solidFill>
              <a:latin typeface="Calibri"/>
              <a:ea typeface="Calibri"/>
              <a:cs typeface="Calibri"/>
              <a:sym typeface="Calibri"/>
            </a:endParaRPr>
          </a:p>
        </p:txBody>
      </p:sp>
      <p:sp>
        <p:nvSpPr>
          <p:cNvPr id="585" name="Google Shape;585;p30"/>
          <p:cNvSpPr/>
          <p:nvPr/>
        </p:nvSpPr>
        <p:spPr>
          <a:xfrm>
            <a:off x="4288536"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0"/>
          <p:cNvSpPr/>
          <p:nvPr/>
        </p:nvSpPr>
        <p:spPr>
          <a:xfrm>
            <a:off x="4288536"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0"/>
          <p:cNvSpPr/>
          <p:nvPr/>
        </p:nvSpPr>
        <p:spPr>
          <a:xfrm>
            <a:off x="4517136"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0"/>
          <p:cNvSpPr/>
          <p:nvPr/>
        </p:nvSpPr>
        <p:spPr>
          <a:xfrm>
            <a:off x="4517136"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89" name="Google Shape;589;p30"/>
          <p:cNvSpPr/>
          <p:nvPr/>
        </p:nvSpPr>
        <p:spPr>
          <a:xfrm>
            <a:off x="5065776"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Weather Impact</a:t>
            </a:r>
            <a:endParaRPr b="0" i="0" sz="1450" u="none" cap="none" strike="noStrike">
              <a:solidFill>
                <a:schemeClr val="dk1"/>
              </a:solidFill>
              <a:latin typeface="Calibri"/>
              <a:ea typeface="Calibri"/>
              <a:cs typeface="Calibri"/>
              <a:sym typeface="Calibri"/>
            </a:endParaRPr>
          </a:p>
        </p:txBody>
      </p:sp>
      <p:sp>
        <p:nvSpPr>
          <p:cNvPr id="590" name="Google Shape;590;p30"/>
          <p:cNvSpPr/>
          <p:nvPr/>
        </p:nvSpPr>
        <p:spPr>
          <a:xfrm>
            <a:off x="4544568"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591" name="Google Shape;591;p30"/>
          <p:cNvSpPr/>
          <p:nvPr/>
        </p:nvSpPr>
        <p:spPr>
          <a:xfrm>
            <a:off x="4544568"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Weather is included as a prediction feature, but its importance in the current model is limited.</a:t>
            </a:r>
            <a:endParaRPr b="0" i="0" sz="1200" u="none" cap="none" strike="noStrike">
              <a:solidFill>
                <a:schemeClr val="dk1"/>
              </a:solidFill>
              <a:latin typeface="Calibri"/>
              <a:ea typeface="Calibri"/>
              <a:cs typeface="Calibri"/>
              <a:sym typeface="Calibri"/>
            </a:endParaRPr>
          </a:p>
        </p:txBody>
      </p:sp>
      <p:cxnSp>
        <p:nvCxnSpPr>
          <p:cNvPr id="592" name="Google Shape;592;p30"/>
          <p:cNvCxnSpPr/>
          <p:nvPr/>
        </p:nvCxnSpPr>
        <p:spPr>
          <a:xfrm>
            <a:off x="4544568"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593" name="Google Shape;593;p30"/>
          <p:cNvSpPr/>
          <p:nvPr/>
        </p:nvSpPr>
        <p:spPr>
          <a:xfrm>
            <a:off x="4544568"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594" name="Google Shape;594;p30"/>
          <p:cNvSpPr/>
          <p:nvPr/>
        </p:nvSpPr>
        <p:spPr>
          <a:xfrm>
            <a:off x="4544568"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Evaluate weather impact further using more detailed and reliable weather data.</a:t>
            </a:r>
            <a:endParaRPr b="0" i="0" sz="1200" u="none" cap="none" strike="noStrike">
              <a:solidFill>
                <a:schemeClr val="dk1"/>
              </a:solidFill>
              <a:latin typeface="Calibri"/>
              <a:ea typeface="Calibri"/>
              <a:cs typeface="Calibri"/>
              <a:sym typeface="Calibri"/>
            </a:endParaRPr>
          </a:p>
        </p:txBody>
      </p:sp>
      <p:sp>
        <p:nvSpPr>
          <p:cNvPr id="595" name="Google Shape;595;p30"/>
          <p:cNvSpPr/>
          <p:nvPr/>
        </p:nvSpPr>
        <p:spPr>
          <a:xfrm>
            <a:off x="8074152" y="1874520"/>
            <a:ext cx="3584448" cy="4160520"/>
          </a:xfrm>
          <a:prstGeom prst="roundRect">
            <a:avLst>
              <a:gd fmla="val 2551"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0"/>
          <p:cNvSpPr/>
          <p:nvPr/>
        </p:nvSpPr>
        <p:spPr>
          <a:xfrm>
            <a:off x="8074152" y="1874520"/>
            <a:ext cx="3584448" cy="777240"/>
          </a:xfrm>
          <a:prstGeom prst="roundRect">
            <a:avLst>
              <a:gd fmla="val 11765"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0"/>
          <p:cNvSpPr/>
          <p:nvPr/>
        </p:nvSpPr>
        <p:spPr>
          <a:xfrm>
            <a:off x="8302752" y="2057400"/>
            <a:ext cx="411480" cy="411480"/>
          </a:xfrm>
          <a:prstGeom prst="ellipse">
            <a:avLst/>
          </a:prstGeom>
          <a:solidFill>
            <a:srgbClr val="2461C0"/>
          </a:solidFill>
          <a:ln cap="flat" cmpd="sng" w="12700">
            <a:solidFill>
              <a:srgbClr val="5B8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0"/>
          <p:cNvSpPr/>
          <p:nvPr/>
        </p:nvSpPr>
        <p:spPr>
          <a:xfrm>
            <a:off x="8302752" y="2057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99" name="Google Shape;599;p30"/>
          <p:cNvSpPr/>
          <p:nvPr/>
        </p:nvSpPr>
        <p:spPr>
          <a:xfrm>
            <a:off x="8851392" y="1874520"/>
            <a:ext cx="2624328"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Model Performance</a:t>
            </a:r>
            <a:endParaRPr b="0" i="0" sz="1450" u="none" cap="none" strike="noStrike">
              <a:solidFill>
                <a:schemeClr val="dk1"/>
              </a:solidFill>
              <a:latin typeface="Calibri"/>
              <a:ea typeface="Calibri"/>
              <a:cs typeface="Calibri"/>
              <a:sym typeface="Calibri"/>
            </a:endParaRPr>
          </a:p>
        </p:txBody>
      </p:sp>
      <p:sp>
        <p:nvSpPr>
          <p:cNvPr id="600" name="Google Shape;600;p30"/>
          <p:cNvSpPr/>
          <p:nvPr/>
        </p:nvSpPr>
        <p:spPr>
          <a:xfrm>
            <a:off x="8330184" y="2834640"/>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INSIGHT</a:t>
            </a:r>
            <a:endParaRPr b="0" i="0" sz="1000" u="none" cap="none" strike="noStrike">
              <a:solidFill>
                <a:schemeClr val="dk1"/>
              </a:solidFill>
              <a:latin typeface="Calibri"/>
              <a:ea typeface="Calibri"/>
              <a:cs typeface="Calibri"/>
              <a:sym typeface="Calibri"/>
            </a:endParaRPr>
          </a:p>
        </p:txBody>
      </p:sp>
      <p:sp>
        <p:nvSpPr>
          <p:cNvPr id="601" name="Google Shape;601;p30"/>
          <p:cNvSpPr/>
          <p:nvPr/>
        </p:nvSpPr>
        <p:spPr>
          <a:xfrm>
            <a:off x="8330184" y="3136392"/>
            <a:ext cx="3072384"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00"/>
              <a:buFont typeface="Calibri"/>
              <a:buNone/>
            </a:pPr>
            <a:r>
              <a:rPr b="0" i="0" lang="en-US" sz="1200" u="none" cap="none" strike="noStrike">
                <a:solidFill>
                  <a:srgbClr val="1B2430"/>
                </a:solidFill>
                <a:latin typeface="Calibri"/>
                <a:ea typeface="Calibri"/>
                <a:cs typeface="Calibri"/>
                <a:sym typeface="Calibri"/>
              </a:rPr>
              <a:t>Random Forest achieved a </a:t>
            </a:r>
            <a:r>
              <a:rPr b="1" i="0" lang="en-US" sz="1300" u="none" cap="none" strike="noStrike">
                <a:solidFill>
                  <a:srgbClr val="2461C0"/>
                </a:solidFill>
                <a:latin typeface="Calibri"/>
                <a:ea typeface="Calibri"/>
                <a:cs typeface="Calibri"/>
                <a:sym typeface="Calibri"/>
              </a:rPr>
              <a:t>ROC-AUC of 0.750</a:t>
            </a:r>
            <a:r>
              <a:rPr b="0" i="0" lang="en-US" sz="1200" u="none" cap="none" strike="noStrike">
                <a:solidFill>
                  <a:srgbClr val="1B2430"/>
                </a:solidFill>
                <a:latin typeface="Calibri"/>
                <a:ea typeface="Calibri"/>
                <a:cs typeface="Calibri"/>
                <a:sym typeface="Calibri"/>
              </a:rPr>
              <a:t>, showing good ability to distinguish late and on-time orders.</a:t>
            </a:r>
            <a:endParaRPr b="0" i="0" sz="1200" u="none" cap="none" strike="noStrike">
              <a:solidFill>
                <a:schemeClr val="dk1"/>
              </a:solidFill>
              <a:latin typeface="Calibri"/>
              <a:ea typeface="Calibri"/>
              <a:cs typeface="Calibri"/>
              <a:sym typeface="Calibri"/>
            </a:endParaRPr>
          </a:p>
        </p:txBody>
      </p:sp>
      <p:cxnSp>
        <p:nvCxnSpPr>
          <p:cNvPr id="602" name="Google Shape;602;p30"/>
          <p:cNvCxnSpPr/>
          <p:nvPr/>
        </p:nvCxnSpPr>
        <p:spPr>
          <a:xfrm>
            <a:off x="8330184" y="4617720"/>
            <a:ext cx="3072384" cy="0"/>
          </a:xfrm>
          <a:prstGeom prst="straightConnector1">
            <a:avLst/>
          </a:prstGeom>
          <a:noFill/>
          <a:ln cap="flat" cmpd="sng" w="12700">
            <a:solidFill>
              <a:srgbClr val="D7E3F6"/>
            </a:solidFill>
            <a:prstDash val="solid"/>
            <a:round/>
            <a:headEnd len="sm" w="sm" type="none"/>
            <a:tailEnd len="sm" w="sm" type="none"/>
          </a:ln>
        </p:spPr>
      </p:cxnSp>
      <p:sp>
        <p:nvSpPr>
          <p:cNvPr id="603" name="Google Shape;603;p30"/>
          <p:cNvSpPr/>
          <p:nvPr/>
        </p:nvSpPr>
        <p:spPr>
          <a:xfrm>
            <a:off x="8330184" y="4727448"/>
            <a:ext cx="307238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000"/>
              <a:buFont typeface="Calibri"/>
              <a:buNone/>
            </a:pPr>
            <a:r>
              <a:rPr b="1" i="0" lang="en-US" sz="1000" u="none" cap="none" strike="noStrike">
                <a:solidFill>
                  <a:srgbClr val="2461C0"/>
                </a:solidFill>
                <a:latin typeface="Calibri"/>
                <a:ea typeface="Calibri"/>
                <a:cs typeface="Calibri"/>
                <a:sym typeface="Calibri"/>
              </a:rPr>
              <a:t>RECOMMENDATION</a:t>
            </a:r>
            <a:endParaRPr b="0" i="0" sz="1000" u="none" cap="none" strike="noStrike">
              <a:solidFill>
                <a:schemeClr val="dk1"/>
              </a:solidFill>
              <a:latin typeface="Calibri"/>
              <a:ea typeface="Calibri"/>
              <a:cs typeface="Calibri"/>
              <a:sym typeface="Calibri"/>
            </a:endParaRPr>
          </a:p>
        </p:txBody>
      </p:sp>
      <p:sp>
        <p:nvSpPr>
          <p:cNvPr id="604" name="Google Shape;604;p30"/>
          <p:cNvSpPr/>
          <p:nvPr/>
        </p:nvSpPr>
        <p:spPr>
          <a:xfrm>
            <a:off x="8330184" y="5029200"/>
            <a:ext cx="3072384"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6B82"/>
              </a:buClr>
              <a:buSzPts val="1200"/>
              <a:buFont typeface="Calibri"/>
              <a:buNone/>
            </a:pPr>
            <a:r>
              <a:rPr b="0" i="1" lang="en-US" sz="1200" u="none" cap="none" strike="noStrike">
                <a:solidFill>
                  <a:srgbClr val="5B6B82"/>
                </a:solidFill>
                <a:latin typeface="Calibri"/>
                <a:ea typeface="Calibri"/>
                <a:cs typeface="Calibri"/>
                <a:sym typeface="Calibri"/>
              </a:rPr>
              <a:t>Use the model as a decision-support tool for delivery planning.</a:t>
            </a:r>
            <a:endParaRPr b="0" i="0" sz="1200" u="none" cap="none" strike="noStrike">
              <a:solidFill>
                <a:schemeClr val="dk1"/>
              </a:solidFill>
              <a:latin typeface="Calibri"/>
              <a:ea typeface="Calibri"/>
              <a:cs typeface="Calibri"/>
              <a:sym typeface="Calibri"/>
            </a:endParaRPr>
          </a:p>
        </p:txBody>
      </p:sp>
      <p:sp>
        <p:nvSpPr>
          <p:cNvPr id="605" name="Google Shape;605;p30"/>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Business Insights &amp; Recommendations</a:t>
            </a:r>
            <a:endParaRPr b="0" i="0" sz="900" u="none" cap="none" strike="noStrike">
              <a:solidFill>
                <a:schemeClr val="dk1"/>
              </a:solidFill>
              <a:latin typeface="Calibri"/>
              <a:ea typeface="Calibri"/>
              <a:cs typeface="Calibri"/>
              <a:sym typeface="Calibri"/>
            </a:endParaRPr>
          </a:p>
        </p:txBody>
      </p:sp>
      <p:sp>
        <p:nvSpPr>
          <p:cNvPr id="606" name="Google Shape;606;p30"/>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1"/>
          <p:cNvSpPr/>
          <p:nvPr/>
        </p:nvSpPr>
        <p:spPr>
          <a:xfrm>
            <a:off x="10561320" y="320040"/>
            <a:ext cx="1280160" cy="365760"/>
          </a:xfrm>
          <a:prstGeom prst="roundRect">
            <a:avLst>
              <a:gd fmla="val 20000" name="adj"/>
            </a:avLst>
          </a:prstGeom>
          <a:solidFill>
            <a:srgbClr val="EAF1FC"/>
          </a:solidFill>
          <a:ln cap="flat" cmpd="sng" w="952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1"/>
          <p:cNvSpPr/>
          <p:nvPr/>
        </p:nvSpPr>
        <p:spPr>
          <a:xfrm>
            <a:off x="10561320" y="32004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2A5E"/>
              </a:buClr>
              <a:buSzPts val="1000"/>
              <a:buFont typeface="Calibri"/>
              <a:buNone/>
            </a:pPr>
            <a:r>
              <a:rPr b="1" i="0" lang="en-US" sz="1000" u="none" cap="none" strike="noStrike">
                <a:solidFill>
                  <a:srgbClr val="0F2A5E"/>
                </a:solidFill>
                <a:latin typeface="Calibri"/>
                <a:ea typeface="Calibri"/>
                <a:cs typeface="Calibri"/>
                <a:sym typeface="Calibri"/>
              </a:rPr>
              <a:t>PRESENTER 5</a:t>
            </a:r>
            <a:endParaRPr b="0" i="0" sz="1000" u="none" cap="none" strike="noStrike">
              <a:solidFill>
                <a:schemeClr val="dk1"/>
              </a:solidFill>
              <a:latin typeface="Calibri"/>
              <a:ea typeface="Calibri"/>
              <a:cs typeface="Calibri"/>
              <a:sym typeface="Calibri"/>
            </a:endParaRPr>
          </a:p>
        </p:txBody>
      </p:sp>
      <p:sp>
        <p:nvSpPr>
          <p:cNvPr id="614" name="Google Shape;614;p31"/>
          <p:cNvSpPr/>
          <p:nvPr/>
        </p:nvSpPr>
        <p:spPr>
          <a:xfrm>
            <a:off x="5029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200"/>
              <a:buFont typeface="Calibri"/>
              <a:buNone/>
            </a:pPr>
            <a:r>
              <a:rPr b="1" i="0" lang="en-US" sz="1200" u="none" cap="none" strike="noStrike">
                <a:solidFill>
                  <a:srgbClr val="2461C0"/>
                </a:solidFill>
                <a:latin typeface="Calibri"/>
                <a:ea typeface="Calibri"/>
                <a:cs typeface="Calibri"/>
                <a:sym typeface="Calibri"/>
              </a:rPr>
              <a:t>WRAPPING UP</a:t>
            </a:r>
            <a:endParaRPr b="0" i="0" sz="1200" u="none" cap="none" strike="noStrike">
              <a:solidFill>
                <a:schemeClr val="dk1"/>
              </a:solidFill>
              <a:latin typeface="Calibri"/>
              <a:ea typeface="Calibri"/>
              <a:cs typeface="Calibri"/>
              <a:sym typeface="Calibri"/>
            </a:endParaRPr>
          </a:p>
        </p:txBody>
      </p:sp>
      <p:sp>
        <p:nvSpPr>
          <p:cNvPr id="615" name="Google Shape;615;p31"/>
          <p:cNvSpPr/>
          <p:nvPr/>
        </p:nvSpPr>
        <p:spPr>
          <a:xfrm>
            <a:off x="502920" y="658368"/>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3000"/>
              <a:buFont typeface="Cambria"/>
              <a:buNone/>
            </a:pPr>
            <a:r>
              <a:rPr b="1" i="0" lang="en-US" sz="3000" u="none" cap="none" strike="noStrike">
                <a:solidFill>
                  <a:srgbClr val="0F2A5E"/>
                </a:solidFill>
                <a:latin typeface="Cambria"/>
                <a:ea typeface="Cambria"/>
                <a:cs typeface="Cambria"/>
                <a:sym typeface="Cambria"/>
              </a:rPr>
              <a:t>Conclusion &amp; Final Output</a:t>
            </a:r>
            <a:endParaRPr b="0" i="0" sz="3000" u="none" cap="none" strike="noStrike">
              <a:solidFill>
                <a:schemeClr val="dk1"/>
              </a:solidFill>
              <a:latin typeface="Calibri"/>
              <a:ea typeface="Calibri"/>
              <a:cs typeface="Calibri"/>
              <a:sym typeface="Calibri"/>
            </a:endParaRPr>
          </a:p>
        </p:txBody>
      </p:sp>
      <p:sp>
        <p:nvSpPr>
          <p:cNvPr id="616" name="Google Shape;616;p31"/>
          <p:cNvSpPr/>
          <p:nvPr/>
        </p:nvSpPr>
        <p:spPr>
          <a:xfrm>
            <a:off x="502920" y="1828800"/>
            <a:ext cx="5349240" cy="1600200"/>
          </a:xfrm>
          <a:prstGeom prst="roundRect">
            <a:avLst>
              <a:gd fmla="val 514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1"/>
          <p:cNvSpPr/>
          <p:nvPr/>
        </p:nvSpPr>
        <p:spPr>
          <a:xfrm>
            <a:off x="758952" y="1993392"/>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00"/>
              <a:buFont typeface="Calibri"/>
              <a:buNone/>
            </a:pPr>
            <a:r>
              <a:rPr b="1" i="0" lang="en-US" sz="1400" u="none" cap="none" strike="noStrike">
                <a:solidFill>
                  <a:srgbClr val="0F2A5E"/>
                </a:solidFill>
                <a:latin typeface="Calibri"/>
                <a:ea typeface="Calibri"/>
                <a:cs typeface="Calibri"/>
                <a:sym typeface="Calibri"/>
              </a:rPr>
              <a:t>Project Achievement</a:t>
            </a:r>
            <a:endParaRPr b="0" i="0" sz="1400" u="none" cap="none" strike="noStrike">
              <a:solidFill>
                <a:schemeClr val="dk1"/>
              </a:solidFill>
              <a:latin typeface="Calibri"/>
              <a:ea typeface="Calibri"/>
              <a:cs typeface="Calibri"/>
              <a:sym typeface="Calibri"/>
            </a:endParaRPr>
          </a:p>
        </p:txBody>
      </p:sp>
      <p:sp>
        <p:nvSpPr>
          <p:cNvPr id="618" name="Google Shape;618;p31"/>
          <p:cNvSpPr/>
          <p:nvPr/>
        </p:nvSpPr>
        <p:spPr>
          <a:xfrm>
            <a:off x="758952" y="2395728"/>
            <a:ext cx="4846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Built a Machine Learning system to predict delivery delays before they occur.</a:t>
            </a:r>
            <a:endParaRPr b="0" i="0" sz="1250" u="none" cap="none" strike="noStrike">
              <a:solidFill>
                <a:schemeClr val="dk1"/>
              </a:solidFill>
              <a:latin typeface="Calibri"/>
              <a:ea typeface="Calibri"/>
              <a:cs typeface="Calibri"/>
              <a:sym typeface="Calibri"/>
            </a:endParaRPr>
          </a:p>
        </p:txBody>
      </p:sp>
      <p:sp>
        <p:nvSpPr>
          <p:cNvPr id="619" name="Google Shape;619;p31"/>
          <p:cNvSpPr/>
          <p:nvPr/>
        </p:nvSpPr>
        <p:spPr>
          <a:xfrm>
            <a:off x="6126480" y="1828800"/>
            <a:ext cx="5349240" cy="1600200"/>
          </a:xfrm>
          <a:prstGeom prst="roundRect">
            <a:avLst>
              <a:gd fmla="val 5143" name="adj"/>
            </a:avLst>
          </a:prstGeom>
          <a:solidFill>
            <a:srgbClr val="EAF1FC"/>
          </a:solidFill>
          <a:ln cap="flat" cmpd="sng" w="12700">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1"/>
          <p:cNvSpPr/>
          <p:nvPr/>
        </p:nvSpPr>
        <p:spPr>
          <a:xfrm>
            <a:off x="6382512" y="1993392"/>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A5E"/>
              </a:buClr>
              <a:buSzPts val="1400"/>
              <a:buFont typeface="Calibri"/>
              <a:buNone/>
            </a:pPr>
            <a:r>
              <a:rPr b="1" i="0" lang="en-US" sz="1400" u="none" cap="none" strike="noStrike">
                <a:solidFill>
                  <a:srgbClr val="0F2A5E"/>
                </a:solidFill>
                <a:latin typeface="Calibri"/>
                <a:ea typeface="Calibri"/>
                <a:cs typeface="Calibri"/>
                <a:sym typeface="Calibri"/>
              </a:rPr>
              <a:t>Model Comparison</a:t>
            </a:r>
            <a:endParaRPr b="0" i="0" sz="1400" u="none" cap="none" strike="noStrike">
              <a:solidFill>
                <a:schemeClr val="dk1"/>
              </a:solidFill>
              <a:latin typeface="Calibri"/>
              <a:ea typeface="Calibri"/>
              <a:cs typeface="Calibri"/>
              <a:sym typeface="Calibri"/>
            </a:endParaRPr>
          </a:p>
        </p:txBody>
      </p:sp>
      <p:sp>
        <p:nvSpPr>
          <p:cNvPr id="621" name="Google Shape;621;p31"/>
          <p:cNvSpPr/>
          <p:nvPr/>
        </p:nvSpPr>
        <p:spPr>
          <a:xfrm>
            <a:off x="6382512" y="2395728"/>
            <a:ext cx="48463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430"/>
              </a:buClr>
              <a:buSzPts val="1250"/>
              <a:buFont typeface="Calibri"/>
              <a:buNone/>
            </a:pPr>
            <a:r>
              <a:rPr b="0" i="0" lang="en-US" sz="1250" u="none" cap="none" strike="noStrike">
                <a:solidFill>
                  <a:srgbClr val="1B2430"/>
                </a:solidFill>
                <a:latin typeface="Calibri"/>
                <a:ea typeface="Calibri"/>
                <a:cs typeface="Calibri"/>
                <a:sym typeface="Calibri"/>
              </a:rPr>
              <a:t>Compared </a:t>
            </a:r>
            <a:r>
              <a:rPr b="1" i="0" lang="en-US" sz="1250" u="none" cap="none" strike="noStrike">
                <a:solidFill>
                  <a:srgbClr val="2461C0"/>
                </a:solidFill>
                <a:latin typeface="Calibri"/>
                <a:ea typeface="Calibri"/>
                <a:cs typeface="Calibri"/>
                <a:sym typeface="Calibri"/>
              </a:rPr>
              <a:t>7</a:t>
            </a:r>
            <a:r>
              <a:rPr b="0" i="0" lang="en-US" sz="1250" u="none" cap="none" strike="noStrike">
                <a:solidFill>
                  <a:srgbClr val="1B2430"/>
                </a:solidFill>
                <a:latin typeface="Calibri"/>
                <a:ea typeface="Calibri"/>
                <a:cs typeface="Calibri"/>
                <a:sym typeface="Calibri"/>
              </a:rPr>
              <a:t> classification models using: Accuracy, Precision, Recall, F1-Score &amp; ROC-AUC.</a:t>
            </a:r>
            <a:endParaRPr b="0" i="0" sz="1250" u="none" cap="none" strike="noStrike">
              <a:solidFill>
                <a:schemeClr val="dk1"/>
              </a:solidFill>
              <a:latin typeface="Calibri"/>
              <a:ea typeface="Calibri"/>
              <a:cs typeface="Calibri"/>
              <a:sym typeface="Calibri"/>
            </a:endParaRPr>
          </a:p>
        </p:txBody>
      </p:sp>
      <p:sp>
        <p:nvSpPr>
          <p:cNvPr id="622" name="Google Shape;622;p31"/>
          <p:cNvSpPr/>
          <p:nvPr/>
        </p:nvSpPr>
        <p:spPr>
          <a:xfrm>
            <a:off x="502920" y="3611880"/>
            <a:ext cx="5349240" cy="2286000"/>
          </a:xfrm>
          <a:prstGeom prst="roundRect">
            <a:avLst>
              <a:gd fmla="val 4000" name="adj"/>
            </a:avLst>
          </a:prstGeom>
          <a:solidFill>
            <a:srgbClr val="0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1"/>
          <p:cNvSpPr/>
          <p:nvPr/>
        </p:nvSpPr>
        <p:spPr>
          <a:xfrm>
            <a:off x="777240" y="3794760"/>
            <a:ext cx="4754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8DEF"/>
              </a:buClr>
              <a:buSzPts val="1100"/>
              <a:buFont typeface="Calibri"/>
              <a:buNone/>
            </a:pPr>
            <a:r>
              <a:rPr b="1" i="0" lang="en-US" sz="1100" u="none" cap="none" strike="noStrike">
                <a:solidFill>
                  <a:srgbClr val="5B8DEF"/>
                </a:solidFill>
                <a:latin typeface="Calibri"/>
                <a:ea typeface="Calibri"/>
                <a:cs typeface="Calibri"/>
                <a:sym typeface="Calibri"/>
              </a:rPr>
              <a:t>FINAL MODEL</a:t>
            </a:r>
            <a:endParaRPr b="0" i="0" sz="1100" u="none" cap="none" strike="noStrike">
              <a:solidFill>
                <a:schemeClr val="dk1"/>
              </a:solidFill>
              <a:latin typeface="Calibri"/>
              <a:ea typeface="Calibri"/>
              <a:cs typeface="Calibri"/>
              <a:sym typeface="Calibri"/>
            </a:endParaRPr>
          </a:p>
        </p:txBody>
      </p:sp>
      <p:sp>
        <p:nvSpPr>
          <p:cNvPr id="624" name="Google Shape;624;p31"/>
          <p:cNvSpPr/>
          <p:nvPr/>
        </p:nvSpPr>
        <p:spPr>
          <a:xfrm>
            <a:off x="777240" y="4114800"/>
            <a:ext cx="47548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Random Forest</a:t>
            </a:r>
            <a:endParaRPr b="0" i="0" sz="2800" u="none" cap="none" strike="noStrike">
              <a:solidFill>
                <a:schemeClr val="dk1"/>
              </a:solidFill>
              <a:latin typeface="Calibri"/>
              <a:ea typeface="Calibri"/>
              <a:cs typeface="Calibri"/>
              <a:sym typeface="Calibri"/>
            </a:endParaRPr>
          </a:p>
        </p:txBody>
      </p:sp>
      <p:sp>
        <p:nvSpPr>
          <p:cNvPr id="625" name="Google Shape;625;p31"/>
          <p:cNvSpPr/>
          <p:nvPr/>
        </p:nvSpPr>
        <p:spPr>
          <a:xfrm>
            <a:off x="777240" y="4846320"/>
            <a:ext cx="3017520" cy="731520"/>
          </a:xfrm>
          <a:prstGeom prst="roundRect">
            <a:avLst>
              <a:gd fmla="val 10000" name="adj"/>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1"/>
          <p:cNvSpPr/>
          <p:nvPr/>
        </p:nvSpPr>
        <p:spPr>
          <a:xfrm>
            <a:off x="777240" y="4846320"/>
            <a:ext cx="3017520" cy="7315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800">
                <a:solidFill>
                  <a:schemeClr val="lt1"/>
                </a:solidFill>
              </a:rPr>
              <a:t>Accuracy=83.7</a:t>
            </a:r>
            <a:endParaRPr i="0" sz="2400" u="none" cap="none" strike="noStrike">
              <a:solidFill>
                <a:schemeClr val="lt1"/>
              </a:solidFill>
            </a:endParaRPr>
          </a:p>
        </p:txBody>
      </p:sp>
      <p:sp>
        <p:nvSpPr>
          <p:cNvPr id="627" name="Google Shape;627;p31"/>
          <p:cNvSpPr/>
          <p:nvPr/>
        </p:nvSpPr>
        <p:spPr>
          <a:xfrm>
            <a:off x="6126480" y="3611880"/>
            <a:ext cx="5532120" cy="2286000"/>
          </a:xfrm>
          <a:prstGeom prst="roundRect">
            <a:avLst>
              <a:gd fmla="val 4000" name="adj"/>
            </a:avLst>
          </a:prstGeom>
          <a:solidFill>
            <a:srgbClr val="FFFFFF"/>
          </a:solidFill>
          <a:ln cap="flat" cmpd="sng" w="15875">
            <a:solidFill>
              <a:srgbClr val="D7E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1"/>
          <p:cNvSpPr/>
          <p:nvPr/>
        </p:nvSpPr>
        <p:spPr>
          <a:xfrm>
            <a:off x="6400800" y="3767328"/>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61C0"/>
              </a:buClr>
              <a:buSzPts val="1100"/>
              <a:buFont typeface="Calibri"/>
              <a:buNone/>
            </a:pPr>
            <a:r>
              <a:rPr b="1" i="0" lang="en-US" sz="1100" u="none" cap="none" strike="noStrike">
                <a:solidFill>
                  <a:srgbClr val="2461C0"/>
                </a:solidFill>
                <a:latin typeface="Calibri"/>
                <a:ea typeface="Calibri"/>
                <a:cs typeface="Calibri"/>
                <a:sym typeface="Calibri"/>
              </a:rPr>
              <a:t>FINAL OUTPUTS</a:t>
            </a:r>
            <a:endParaRPr b="0" i="0" sz="1100" u="none" cap="none" strike="noStrike">
              <a:solidFill>
                <a:schemeClr val="dk1"/>
              </a:solidFill>
              <a:latin typeface="Calibri"/>
              <a:ea typeface="Calibri"/>
              <a:cs typeface="Calibri"/>
              <a:sym typeface="Calibri"/>
            </a:endParaRPr>
          </a:p>
        </p:txBody>
      </p:sp>
      <p:sp>
        <p:nvSpPr>
          <p:cNvPr id="629" name="Google Shape;629;p31"/>
          <p:cNvSpPr/>
          <p:nvPr/>
        </p:nvSpPr>
        <p:spPr>
          <a:xfrm>
            <a:off x="6400800" y="414223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1"/>
          <p:cNvSpPr/>
          <p:nvPr/>
        </p:nvSpPr>
        <p:spPr>
          <a:xfrm>
            <a:off x="6400800" y="412394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31" name="Google Shape;631;p31"/>
          <p:cNvSpPr/>
          <p:nvPr/>
        </p:nvSpPr>
        <p:spPr>
          <a:xfrm>
            <a:off x="6656832" y="406908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Model Comparison</a:t>
            </a:r>
            <a:endParaRPr b="0" i="0" sz="1100" u="none" cap="none" strike="noStrike">
              <a:solidFill>
                <a:schemeClr val="dk1"/>
              </a:solidFill>
              <a:latin typeface="Calibri"/>
              <a:ea typeface="Calibri"/>
              <a:cs typeface="Calibri"/>
              <a:sym typeface="Calibri"/>
            </a:endParaRPr>
          </a:p>
        </p:txBody>
      </p:sp>
      <p:sp>
        <p:nvSpPr>
          <p:cNvPr id="632" name="Google Shape;632;p31"/>
          <p:cNvSpPr/>
          <p:nvPr/>
        </p:nvSpPr>
        <p:spPr>
          <a:xfrm>
            <a:off x="9006840" y="414223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1"/>
          <p:cNvSpPr/>
          <p:nvPr/>
        </p:nvSpPr>
        <p:spPr>
          <a:xfrm>
            <a:off x="9006840" y="412394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34" name="Google Shape;634;p31"/>
          <p:cNvSpPr/>
          <p:nvPr/>
        </p:nvSpPr>
        <p:spPr>
          <a:xfrm>
            <a:off x="9262872" y="406908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Confusion Matrix</a:t>
            </a:r>
            <a:endParaRPr b="0" i="0" sz="1100" u="none" cap="none" strike="noStrike">
              <a:solidFill>
                <a:schemeClr val="dk1"/>
              </a:solidFill>
              <a:latin typeface="Calibri"/>
              <a:ea typeface="Calibri"/>
              <a:cs typeface="Calibri"/>
              <a:sym typeface="Calibri"/>
            </a:endParaRPr>
          </a:p>
        </p:txBody>
      </p:sp>
      <p:sp>
        <p:nvSpPr>
          <p:cNvPr id="635" name="Google Shape;635;p31"/>
          <p:cNvSpPr/>
          <p:nvPr/>
        </p:nvSpPr>
        <p:spPr>
          <a:xfrm>
            <a:off x="6400800" y="469087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1"/>
          <p:cNvSpPr/>
          <p:nvPr/>
        </p:nvSpPr>
        <p:spPr>
          <a:xfrm>
            <a:off x="6400800" y="467258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37" name="Google Shape;637;p31"/>
          <p:cNvSpPr/>
          <p:nvPr/>
        </p:nvSpPr>
        <p:spPr>
          <a:xfrm>
            <a:off x="6656832" y="461772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ROC Curve</a:t>
            </a:r>
            <a:endParaRPr b="0" i="0" sz="1100" u="none" cap="none" strike="noStrike">
              <a:solidFill>
                <a:schemeClr val="dk1"/>
              </a:solidFill>
              <a:latin typeface="Calibri"/>
              <a:ea typeface="Calibri"/>
              <a:cs typeface="Calibri"/>
              <a:sym typeface="Calibri"/>
            </a:endParaRPr>
          </a:p>
        </p:txBody>
      </p:sp>
      <p:sp>
        <p:nvSpPr>
          <p:cNvPr id="638" name="Google Shape;638;p31"/>
          <p:cNvSpPr/>
          <p:nvPr/>
        </p:nvSpPr>
        <p:spPr>
          <a:xfrm>
            <a:off x="9006840" y="469087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1"/>
          <p:cNvSpPr/>
          <p:nvPr/>
        </p:nvSpPr>
        <p:spPr>
          <a:xfrm>
            <a:off x="9006840" y="467258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40" name="Google Shape;640;p31"/>
          <p:cNvSpPr/>
          <p:nvPr/>
        </p:nvSpPr>
        <p:spPr>
          <a:xfrm>
            <a:off x="9262872" y="461772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Feature Importance</a:t>
            </a:r>
            <a:endParaRPr b="0" i="0" sz="1100" u="none" cap="none" strike="noStrike">
              <a:solidFill>
                <a:schemeClr val="dk1"/>
              </a:solidFill>
              <a:latin typeface="Calibri"/>
              <a:ea typeface="Calibri"/>
              <a:cs typeface="Calibri"/>
              <a:sym typeface="Calibri"/>
            </a:endParaRPr>
          </a:p>
        </p:txBody>
      </p:sp>
      <p:sp>
        <p:nvSpPr>
          <p:cNvPr id="641" name="Google Shape;641;p31"/>
          <p:cNvSpPr/>
          <p:nvPr/>
        </p:nvSpPr>
        <p:spPr>
          <a:xfrm>
            <a:off x="6400800" y="523951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1"/>
          <p:cNvSpPr/>
          <p:nvPr/>
        </p:nvSpPr>
        <p:spPr>
          <a:xfrm>
            <a:off x="6400800" y="522122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43" name="Google Shape;643;p31"/>
          <p:cNvSpPr/>
          <p:nvPr/>
        </p:nvSpPr>
        <p:spPr>
          <a:xfrm>
            <a:off x="6656832" y="516636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Business Insights &amp; Recommendations</a:t>
            </a:r>
            <a:endParaRPr b="0" i="0" sz="1100" u="none" cap="none" strike="noStrike">
              <a:solidFill>
                <a:schemeClr val="dk1"/>
              </a:solidFill>
              <a:latin typeface="Calibri"/>
              <a:ea typeface="Calibri"/>
              <a:cs typeface="Calibri"/>
              <a:sym typeface="Calibri"/>
            </a:endParaRPr>
          </a:p>
        </p:txBody>
      </p:sp>
      <p:sp>
        <p:nvSpPr>
          <p:cNvPr id="644" name="Google Shape;644;p31"/>
          <p:cNvSpPr/>
          <p:nvPr/>
        </p:nvSpPr>
        <p:spPr>
          <a:xfrm>
            <a:off x="9006840" y="5239512"/>
            <a:ext cx="182880" cy="182880"/>
          </a:xfrm>
          <a:prstGeom prst="ellipse">
            <a:avLst/>
          </a:prstGeom>
          <a:solidFill>
            <a:srgbClr val="2461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1"/>
          <p:cNvSpPr/>
          <p:nvPr/>
        </p:nvSpPr>
        <p:spPr>
          <a:xfrm>
            <a:off x="9006840" y="5221224"/>
            <a:ext cx="1828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646" name="Google Shape;646;p31"/>
          <p:cNvSpPr/>
          <p:nvPr/>
        </p:nvSpPr>
        <p:spPr>
          <a:xfrm>
            <a:off x="9262872" y="516636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430"/>
              </a:buClr>
              <a:buSzPts val="1100"/>
              <a:buFont typeface="Calibri"/>
              <a:buNone/>
            </a:pPr>
            <a:r>
              <a:rPr b="0" i="0" lang="en-US" sz="1100" u="none" cap="none" strike="noStrike">
                <a:solidFill>
                  <a:srgbClr val="1B2430"/>
                </a:solidFill>
                <a:latin typeface="Calibri"/>
                <a:ea typeface="Calibri"/>
                <a:cs typeface="Calibri"/>
                <a:sym typeface="Calibri"/>
              </a:rPr>
              <a:t>Final .pkl Model</a:t>
            </a:r>
            <a:endParaRPr b="0" i="0" sz="1100" u="none" cap="none" strike="noStrike">
              <a:solidFill>
                <a:schemeClr val="dk1"/>
              </a:solidFill>
              <a:latin typeface="Calibri"/>
              <a:ea typeface="Calibri"/>
              <a:cs typeface="Calibri"/>
              <a:sym typeface="Calibri"/>
            </a:endParaRPr>
          </a:p>
        </p:txBody>
      </p:sp>
      <p:sp>
        <p:nvSpPr>
          <p:cNvPr id="647" name="Google Shape;647;p31"/>
          <p:cNvSpPr/>
          <p:nvPr/>
        </p:nvSpPr>
        <p:spPr>
          <a:xfrm>
            <a:off x="502920" y="651052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Conclusion &amp; Final Output</a:t>
            </a:r>
            <a:endParaRPr b="0" i="0" sz="900" u="none" cap="none" strike="noStrike">
              <a:solidFill>
                <a:schemeClr val="dk1"/>
              </a:solidFill>
              <a:latin typeface="Calibri"/>
              <a:ea typeface="Calibri"/>
              <a:cs typeface="Calibri"/>
              <a:sym typeface="Calibri"/>
            </a:endParaRPr>
          </a:p>
        </p:txBody>
      </p:sp>
      <p:sp>
        <p:nvSpPr>
          <p:cNvPr id="648" name="Google Shape;648;p31"/>
          <p:cNvSpPr/>
          <p:nvPr/>
        </p:nvSpPr>
        <p:spPr>
          <a:xfrm>
            <a:off x="116586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82"/>
              </a:buClr>
              <a:buSzPts val="900"/>
              <a:buFont typeface="Calibri"/>
              <a:buNone/>
            </a:pPr>
            <a:r>
              <a:rPr b="0" i="0" lang="en-US" sz="900" u="none" cap="none" strike="noStrike">
                <a:solidFill>
                  <a:srgbClr val="5B6B82"/>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A5E"/>
        </a:solidFill>
      </p:bgPr>
    </p:bg>
    <p:spTree>
      <p:nvGrpSpPr>
        <p:cNvPr id="653" name="Shape 653"/>
        <p:cNvGrpSpPr/>
        <p:nvPr/>
      </p:nvGrpSpPr>
      <p:grpSpPr>
        <a:xfrm>
          <a:off x="0" y="0"/>
          <a:ext cx="0" cy="0"/>
          <a:chOff x="0" y="0"/>
          <a:chExt cx="0" cy="0"/>
        </a:xfrm>
      </p:grpSpPr>
      <p:sp>
        <p:nvSpPr>
          <p:cNvPr id="654" name="Google Shape;654;p32"/>
          <p:cNvSpPr/>
          <p:nvPr/>
        </p:nvSpPr>
        <p:spPr>
          <a:xfrm>
            <a:off x="-1645920" y="4389120"/>
            <a:ext cx="5029200" cy="5029200"/>
          </a:xfrm>
          <a:prstGeom prst="ellipse">
            <a:avLst/>
          </a:prstGeom>
          <a:solidFill>
            <a:srgbClr val="1633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2"/>
          <p:cNvSpPr/>
          <p:nvPr/>
        </p:nvSpPr>
        <p:spPr>
          <a:xfrm>
            <a:off x="822960" y="914400"/>
            <a:ext cx="5486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8DEF"/>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656" name="Google Shape;656;p32"/>
          <p:cNvSpPr/>
          <p:nvPr/>
        </p:nvSpPr>
        <p:spPr>
          <a:xfrm>
            <a:off x="2900089" y="1504256"/>
            <a:ext cx="6391800" cy="347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lang="en-US" sz="9600">
                <a:solidFill>
                  <a:srgbClr val="FFFFFF"/>
                </a:solidFill>
                <a:latin typeface="Cambria"/>
                <a:ea typeface="Cambria"/>
                <a:cs typeface="Cambria"/>
                <a:sym typeface="Cambria"/>
              </a:rPr>
              <a:t>Thank you</a:t>
            </a:r>
            <a:endParaRPr b="0" i="0" sz="9600" u="none" cap="none" strike="noStrike">
              <a:solidFill>
                <a:schemeClr val="dk1"/>
              </a:solidFill>
              <a:latin typeface="Calibri"/>
              <a:ea typeface="Calibri"/>
              <a:cs typeface="Calibri"/>
              <a:sym typeface="Calibri"/>
            </a:endParaRPr>
          </a:p>
        </p:txBody>
      </p:sp>
      <p:sp>
        <p:nvSpPr>
          <p:cNvPr id="657" name="Google Shape;657;p32"/>
          <p:cNvSpPr/>
          <p:nvPr/>
        </p:nvSpPr>
        <p:spPr>
          <a:xfrm>
            <a:off x="502920" y="6510528"/>
            <a:ext cx="5486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5D4"/>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658" name="Google Shape;658;p32"/>
          <p:cNvSpPr/>
          <p:nvPr/>
        </p:nvSpPr>
        <p:spPr>
          <a:xfrm>
            <a:off x="11658600" y="6510528"/>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5D4"/>
              </a:buClr>
              <a:buSzPts val="900"/>
              <a:buFont typeface="Calibri"/>
              <a:buNone/>
            </a:pPr>
            <a:r>
              <a:rPr b="0" i="0" lang="en-US" sz="900" u="none" cap="none" strike="noStrike">
                <a:solidFill>
                  <a:srgbClr val="8FA5D4"/>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